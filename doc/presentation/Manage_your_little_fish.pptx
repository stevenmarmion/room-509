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7908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 are Steven, Mael and Jules. Our Task 1 project is 'Manage your little fish', a gamified web application where each user raises a virtual aquarium. Over the next ~15 minutes we'll cover what the app is, the problem it addresses, its features, our proposed architecture and data model, a wireframe, and the technologies we plan to use.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concept plainly: it's a pet-style game, like a Tamagotchi, but in the browser and social. Each player has an aquarium of little fish. The four pillars on the left — raise, feed, earn, and play with others — drive the whole experience. The tank on the right is the heart of the UI we'll show later.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as engagement design, not a life-or-death issue. Three common gaps: no daily hook, no stakes, and no social layer. Our design tackles all three: the per-minute life loss creates a gentle daily obligation, losing a fish creates real stakes, and friends/trading/public aquariums add the social pull. This is the 'why' behind every feature that follows.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clockwise from the top-left: players click fish and play challenges to earn coins; coins also tick up passively each minute; coins buy food in the shop; food feeds the fish and restores life. The center reminds us the whole point is keeping fish alive. This tight loop is what makes the game habit-forming. Note: the per-minute coin and life updates are handled server-side by a scheduler.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use case diagram. Three actors with inheritance: a Visitor can only search and view other users' fish and browse public aquariums. A registered User inherits those and adds the full game: manage fish with filtering, feed, click for coins, shop, daily challenges, friends and trading, profile settings, and coin balance. The Admin inherits everything a User can do and additionally reaches the admin panel to manage all users' data. We have a full, detailed draw.io version in our docs folder.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features are split by access level, mirroring the README. Anonymous visitors get a read-only social preview. Registration grants a 200-coin starter bonus, a first fish and a free minimal aquarium. Logged-in users unlock the full loop — CRUD on fish, clicking and feeding, shop, challenges, coins, friends and trading, and a profile page with avatar, light/dark theme and notification preferences. Admins keep all of that plus an admin panel over every user's data. Highlight the middle column — that's the bulk of the 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solution is a single layered Spring Boot monolith, containerised with Docker Compose. The browser loads the Bootstrap front-end — served by Spring itself from static resources — and talks to the backend over HTTP/JSON on port 8080. Inside the app, requests flow through Controller, Service and Repository layers; the Service layer also hosts @Scheduled tasks for the per-minute life loss and coin gain. The Repository layer reaches PostgreSQL over JDBC, in a second container with a persistent volume. We chose a monolith because it's the best simplicity/effort fit for a three-person project, and same-origin serving avoids CORS entirely.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data model. The User is central: it owns exactly one Aquarium, which in turn contains many Fish (composition). A User also has notification preferences, friendships, trades, completed daily challenges, and purchases from the shop. ShopItem is abstract with Food and AquariumUpgrade subtypes. A Trade links two users and the fish exchanged. Enums like Role, Theme and statuses round it out. This maps cleanly onto JPA entities. We keep the per-minute life loss as a field (lifePoints + lastFedAt) updated by the scheduler.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low-fidelity wireframe shows the main aquarium screen. A top navigation bar with the live coin balance and profile avatar. The large tank is the centrepiece: fish swim with small life bars above them, and clicking a fish earns coins. The right sidebar surfaces the secondary loops — daily challenges, the shop, friends and trade requests, and profile/theme. We'll build this with Bootstrap components; the fish and updates are driven by JavaScript fetch calls to the REST API.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straight from our README. Backend: Spring Boot on Java 17 or 21, built with Maven, exposing a REST API and running the scheduled jobs. Data: PostgreSQL as our relational database. Deployment: Docker with Compose so the whole system — app plus database — starts with a single command, identical on every machine. Front-end: plain HTML, CSS and JavaScript styled with Bootstrap for a responsive, quick-to-build UI. All of these are well-documented and beginner-friendly, which matters for a three-person team learning as we go.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we've shown the concept, the engagement problem it solves, the feature set via the use case diagram, our monolithic architecture, data model and wireframe, and the technology stack. Thank the audience and open for questions. Likely questions: why a monolith over microservices (team size, simplicity), how the per-minute updates scale (a single scheduled job, batched updates), and how trading prevents abuse (server-side validation and friendship checks).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0.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2.png"/><Relationship Id="rId7" Type="http://schemas.openxmlformats.org/officeDocument/2006/relationships/image" Target="../media/image5.png"/><Relationship Id="rId12"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4.png"/><Relationship Id="rId5" Type="http://schemas.openxmlformats.org/officeDocument/2006/relationships/image" Target="../media/image27.png"/><Relationship Id="rId10" Type="http://schemas.openxmlformats.org/officeDocument/2006/relationships/image" Target="../media/image15.png"/><Relationship Id="rId4" Type="http://schemas.openxmlformats.org/officeDocument/2006/relationships/image" Target="../media/image1.png"/><Relationship Id="rId9"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6.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25.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36"/>
        </a:solidFill>
        <a:effectLst/>
      </p:bgPr>
    </p:bg>
    <p:spTree>
      <p:nvGrpSpPr>
        <p:cNvPr id="1" name=""/>
        <p:cNvGrpSpPr/>
        <p:nvPr/>
      </p:nvGrpSpPr>
      <p:grpSpPr>
        <a:xfrm>
          <a:off x="0" y="0"/>
          <a:ext cx="0" cy="0"/>
          <a:chOff x="0" y="0"/>
          <a:chExt cx="0" cy="0"/>
        </a:xfrm>
      </p:grpSpPr>
      <p:sp>
        <p:nvSpPr>
          <p:cNvPr id="2" name="Shape 0"/>
          <p:cNvSpPr/>
          <p:nvPr/>
        </p:nvSpPr>
        <p:spPr>
          <a:xfrm>
            <a:off x="914400" y="5852160"/>
            <a:ext cx="457200" cy="457200"/>
          </a:xfrm>
          <a:prstGeom prst="ellipse">
            <a:avLst/>
          </a:prstGeom>
          <a:solidFill>
            <a:srgbClr val="FFFFFF">
              <a:alpha val="12000"/>
            </a:srgbClr>
          </a:solidFill>
          <a:ln/>
        </p:spPr>
        <p:txBody>
          <a:bodyPr/>
          <a:lstStyle/>
          <a:p>
            <a:endParaRPr lang="fr-FR"/>
          </a:p>
        </p:txBody>
      </p:sp>
      <p:sp>
        <p:nvSpPr>
          <p:cNvPr id="3" name="Shape 1"/>
          <p:cNvSpPr/>
          <p:nvPr/>
        </p:nvSpPr>
        <p:spPr>
          <a:xfrm>
            <a:off x="1828800" y="4937760"/>
            <a:ext cx="256032" cy="256032"/>
          </a:xfrm>
          <a:prstGeom prst="ellipse">
            <a:avLst/>
          </a:prstGeom>
          <a:solidFill>
            <a:srgbClr val="FFFFFF">
              <a:alpha val="12000"/>
            </a:srgbClr>
          </a:solidFill>
          <a:ln/>
        </p:spPr>
        <p:txBody>
          <a:bodyPr/>
          <a:lstStyle/>
          <a:p>
            <a:endParaRPr lang="fr-FR"/>
          </a:p>
        </p:txBody>
      </p:sp>
      <p:sp>
        <p:nvSpPr>
          <p:cNvPr id="4" name="Shape 2"/>
          <p:cNvSpPr/>
          <p:nvPr/>
        </p:nvSpPr>
        <p:spPr>
          <a:xfrm>
            <a:off x="10789920" y="1097280"/>
            <a:ext cx="548640" cy="548640"/>
          </a:xfrm>
          <a:prstGeom prst="ellipse">
            <a:avLst/>
          </a:prstGeom>
          <a:solidFill>
            <a:srgbClr val="FFFFFF">
              <a:alpha val="12000"/>
            </a:srgbClr>
          </a:solidFill>
          <a:ln/>
        </p:spPr>
        <p:txBody>
          <a:bodyPr/>
          <a:lstStyle/>
          <a:p>
            <a:endParaRPr lang="fr-FR"/>
          </a:p>
        </p:txBody>
      </p:sp>
      <p:sp>
        <p:nvSpPr>
          <p:cNvPr id="5" name="Shape 3"/>
          <p:cNvSpPr/>
          <p:nvPr/>
        </p:nvSpPr>
        <p:spPr>
          <a:xfrm>
            <a:off x="11338560" y="2194560"/>
            <a:ext cx="292608" cy="292608"/>
          </a:xfrm>
          <a:prstGeom prst="ellipse">
            <a:avLst/>
          </a:prstGeom>
          <a:solidFill>
            <a:srgbClr val="FFFFFF">
              <a:alpha val="12000"/>
            </a:srgbClr>
          </a:solidFill>
          <a:ln/>
        </p:spPr>
        <p:txBody>
          <a:bodyPr/>
          <a:lstStyle/>
          <a:p>
            <a:endParaRPr lang="fr-FR"/>
          </a:p>
        </p:txBody>
      </p:sp>
      <p:sp>
        <p:nvSpPr>
          <p:cNvPr id="6" name="Shape 4"/>
          <p:cNvSpPr/>
          <p:nvPr/>
        </p:nvSpPr>
        <p:spPr>
          <a:xfrm>
            <a:off x="548640" y="1828800"/>
            <a:ext cx="310896" cy="310896"/>
          </a:xfrm>
          <a:prstGeom prst="ellipse">
            <a:avLst/>
          </a:prstGeom>
          <a:solidFill>
            <a:srgbClr val="FFFFFF">
              <a:alpha val="12000"/>
            </a:srgbClr>
          </a:solidFill>
          <a:ln/>
        </p:spPr>
        <p:txBody>
          <a:bodyPr/>
          <a:lstStyle/>
          <a:p>
            <a:endParaRPr lang="fr-FR"/>
          </a:p>
        </p:txBody>
      </p:sp>
      <p:sp>
        <p:nvSpPr>
          <p:cNvPr id="7" name="Shape 5"/>
          <p:cNvSpPr/>
          <p:nvPr/>
        </p:nvSpPr>
        <p:spPr>
          <a:xfrm>
            <a:off x="11521440" y="5669280"/>
            <a:ext cx="411480" cy="411480"/>
          </a:xfrm>
          <a:prstGeom prst="ellipse">
            <a:avLst/>
          </a:prstGeom>
          <a:solidFill>
            <a:srgbClr val="FFFFFF">
              <a:alpha val="12000"/>
            </a:srgbClr>
          </a:solidFill>
          <a:ln/>
        </p:spPr>
        <p:txBody>
          <a:bodyPr/>
          <a:lstStyle/>
          <a:p>
            <a:endParaRPr lang="fr-FR"/>
          </a:p>
        </p:txBody>
      </p:sp>
      <p:sp>
        <p:nvSpPr>
          <p:cNvPr id="8" name="Shape 6"/>
          <p:cNvSpPr/>
          <p:nvPr/>
        </p:nvSpPr>
        <p:spPr>
          <a:xfrm>
            <a:off x="6309360" y="6309360"/>
            <a:ext cx="201168" cy="201168"/>
          </a:xfrm>
          <a:prstGeom prst="ellipse">
            <a:avLst/>
          </a:prstGeom>
          <a:solidFill>
            <a:srgbClr val="FFFFFF">
              <a:alpha val="12000"/>
            </a:srgbClr>
          </a:solidFill>
          <a:ln/>
        </p:spPr>
        <p:txBody>
          <a:bodyPr/>
          <a:lstStyle/>
          <a:p>
            <a:endParaRPr lang="fr-FR"/>
          </a:p>
        </p:txBody>
      </p:sp>
      <p:sp>
        <p:nvSpPr>
          <p:cNvPr id="9" name="Shape 7"/>
          <p:cNvSpPr/>
          <p:nvPr/>
        </p:nvSpPr>
        <p:spPr>
          <a:xfrm>
            <a:off x="0" y="5806440"/>
            <a:ext cx="12191695" cy="1051560"/>
          </a:xfrm>
          <a:prstGeom prst="rect">
            <a:avLst/>
          </a:prstGeom>
          <a:solidFill>
            <a:srgbClr val="028090">
              <a:alpha val="45000"/>
            </a:srgbClr>
          </a:solidFill>
          <a:ln/>
        </p:spPr>
        <p:txBody>
          <a:bodyPr/>
          <a:lstStyle/>
          <a:p>
            <a:endParaRPr lang="fr-FR"/>
          </a:p>
        </p:txBody>
      </p:sp>
      <p:sp>
        <p:nvSpPr>
          <p:cNvPr id="10" name="Shape 8"/>
          <p:cNvSpPr/>
          <p:nvPr/>
        </p:nvSpPr>
        <p:spPr>
          <a:xfrm>
            <a:off x="5074920" y="1051560"/>
            <a:ext cx="2057400" cy="2057400"/>
          </a:xfrm>
          <a:prstGeom prst="ellipse">
            <a:avLst/>
          </a:prstGeom>
          <a:solidFill>
            <a:srgbClr val="028090"/>
          </a:solidFill>
          <a:ln/>
        </p:spPr>
        <p:txBody>
          <a:bodyPr/>
          <a:lstStyle/>
          <a:p>
            <a:endParaRPr lang="fr-FR"/>
          </a:p>
        </p:txBody>
      </p:sp>
      <p:pic>
        <p:nvPicPr>
          <p:cNvPr id="11" name="Image 0" descr="preencoded.png"/>
          <p:cNvPicPr>
            <a:picLocks noChangeAspect="1"/>
          </p:cNvPicPr>
          <p:nvPr/>
        </p:nvPicPr>
        <p:blipFill>
          <a:blip r:embed="rId3"/>
          <a:stretch>
            <a:fillRect/>
          </a:stretch>
        </p:blipFill>
        <p:spPr>
          <a:xfrm>
            <a:off x="5532120" y="1554480"/>
            <a:ext cx="1143000" cy="1051560"/>
          </a:xfrm>
          <a:prstGeom prst="rect">
            <a:avLst/>
          </a:prstGeom>
        </p:spPr>
      </p:pic>
      <p:sp>
        <p:nvSpPr>
          <p:cNvPr id="12" name="Text 9"/>
          <p:cNvSpPr/>
          <p:nvPr/>
        </p:nvSpPr>
        <p:spPr>
          <a:xfrm>
            <a:off x="457200" y="3246120"/>
            <a:ext cx="11247120" cy="822960"/>
          </a:xfrm>
          <a:prstGeom prst="rect">
            <a:avLst/>
          </a:prstGeom>
          <a:noFill/>
          <a:ln/>
        </p:spPr>
        <p:txBody>
          <a:bodyPr wrap="square" lIns="0" tIns="0" rIns="0" bIns="0" rtlCol="0" anchor="ctr"/>
          <a:lstStyle/>
          <a:p>
            <a:pPr marL="0" indent="0" algn="ctr">
              <a:buNone/>
            </a:pPr>
            <a:r>
              <a:rPr lang="en-US" sz="4600" b="1" kern="0" spc="100" dirty="0">
                <a:solidFill>
                  <a:srgbClr val="FFFFFF"/>
                </a:solidFill>
                <a:latin typeface="Cambria" pitchFamily="34" charset="0"/>
                <a:ea typeface="Cambria" pitchFamily="34" charset="-122"/>
                <a:cs typeface="Cambria" pitchFamily="34" charset="-120"/>
              </a:rPr>
              <a:t>MANAGE YOUR LITTLE FISH</a:t>
            </a:r>
            <a:endParaRPr lang="en-US" sz="4600" dirty="0"/>
          </a:p>
        </p:txBody>
      </p:sp>
      <p:sp>
        <p:nvSpPr>
          <p:cNvPr id="13" name="Text 10"/>
          <p:cNvSpPr/>
          <p:nvPr/>
        </p:nvSpPr>
        <p:spPr>
          <a:xfrm>
            <a:off x="1371600" y="4114800"/>
            <a:ext cx="9418320" cy="457200"/>
          </a:xfrm>
          <a:prstGeom prst="rect">
            <a:avLst/>
          </a:prstGeom>
          <a:noFill/>
          <a:ln/>
        </p:spPr>
        <p:txBody>
          <a:bodyPr wrap="square" rtlCol="0" anchor="ctr"/>
          <a:lstStyle/>
          <a:p>
            <a:pPr marL="0" indent="0" algn="ctr">
              <a:buNone/>
            </a:pPr>
            <a:r>
              <a:rPr lang="en-US" sz="1800" i="1" dirty="0">
                <a:solidFill>
                  <a:srgbClr val="CDEFF0"/>
                </a:solidFill>
                <a:latin typeface="Calibri" pitchFamily="34" charset="0"/>
                <a:ea typeface="Calibri" pitchFamily="34" charset="-122"/>
                <a:cs typeface="Calibri" pitchFamily="34" charset="-120"/>
              </a:rPr>
              <a:t>A gamified web app to raise, feed and grow your own aquarium</a:t>
            </a:r>
            <a:endParaRPr lang="en-US" sz="1800" dirty="0"/>
          </a:p>
        </p:txBody>
      </p:sp>
      <p:sp>
        <p:nvSpPr>
          <p:cNvPr id="15" name="Text 12"/>
          <p:cNvSpPr/>
          <p:nvPr/>
        </p:nvSpPr>
        <p:spPr>
          <a:xfrm>
            <a:off x="457200" y="6053328"/>
            <a:ext cx="1124712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Steven MARMION   ·   Mael PAQUIER   ·   Jules MIAUD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02809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713232" y="621792"/>
            <a:ext cx="347472" cy="347472"/>
          </a:xfrm>
          <a:prstGeom prst="rect">
            <a:avLst/>
          </a:prstGeom>
        </p:spPr>
      </p:pic>
      <p:sp>
        <p:nvSpPr>
          <p:cNvPr id="4" name="Text 1"/>
          <p:cNvSpPr/>
          <p:nvPr/>
        </p:nvSpPr>
        <p:spPr>
          <a:xfrm>
            <a:off x="1417320" y="457200"/>
            <a:ext cx="8229600" cy="256032"/>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INTRODUCTION</a:t>
            </a:r>
            <a:endParaRPr lang="en-US" sz="1200" dirty="0"/>
          </a:p>
        </p:txBody>
      </p:sp>
      <p:sp>
        <p:nvSpPr>
          <p:cNvPr id="5" name="Text 2"/>
          <p:cNvSpPr/>
          <p:nvPr/>
        </p:nvSpPr>
        <p:spPr>
          <a:xfrm>
            <a:off x="1389888" y="676656"/>
            <a:ext cx="10241280" cy="566928"/>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What is the application?</a:t>
            </a:r>
            <a:endParaRPr lang="en-US" sz="3000" dirty="0"/>
          </a:p>
        </p:txBody>
      </p:sp>
      <p:sp>
        <p:nvSpPr>
          <p:cNvPr id="6" name="Text 3"/>
          <p:cNvSpPr/>
          <p:nvPr/>
        </p:nvSpPr>
        <p:spPr>
          <a:xfrm>
            <a:off x="548640" y="1554480"/>
            <a:ext cx="6492240" cy="822960"/>
          </a:xfrm>
          <a:prstGeom prst="rect">
            <a:avLst/>
          </a:prstGeom>
          <a:noFill/>
          <a:ln/>
        </p:spPr>
        <p:txBody>
          <a:bodyPr wrap="square" rtlCol="0" anchor="t"/>
          <a:lstStyle/>
          <a:p>
            <a:pPr marL="0" indent="0">
              <a:lnSpc>
                <a:spcPct val="110000"/>
              </a:lnSpc>
              <a:buNone/>
            </a:pPr>
            <a:r>
              <a:rPr lang="en-US" sz="1700" b="1" dirty="0">
                <a:solidFill>
                  <a:srgbClr val="0B3C49"/>
                </a:solidFill>
                <a:latin typeface="Calibri" pitchFamily="34" charset="0"/>
                <a:ea typeface="Calibri" pitchFamily="34" charset="-122"/>
                <a:cs typeface="Calibri" pitchFamily="34" charset="-120"/>
              </a:rPr>
              <a:t>Manage your little fish </a:t>
            </a:r>
            <a:r>
              <a:rPr lang="en-US" sz="1700" dirty="0">
                <a:solidFill>
                  <a:srgbClr val="0B3C49"/>
                </a:solidFill>
                <a:latin typeface="Calibri" pitchFamily="34" charset="0"/>
                <a:ea typeface="Calibri" pitchFamily="34" charset="-122"/>
                <a:cs typeface="Calibri" pitchFamily="34" charset="-120"/>
              </a:rPr>
              <a:t>is a casual web game where every player owns a living aquarium.</a:t>
            </a:r>
            <a:endParaRPr lang="en-US" sz="1700" dirty="0"/>
          </a:p>
        </p:txBody>
      </p:sp>
      <p:sp>
        <p:nvSpPr>
          <p:cNvPr id="7" name="Shape 4"/>
          <p:cNvSpPr/>
          <p:nvPr/>
        </p:nvSpPr>
        <p:spPr>
          <a:xfrm>
            <a:off x="548640" y="2514600"/>
            <a:ext cx="6492240" cy="822960"/>
          </a:xfrm>
          <a:prstGeom prst="roundRect">
            <a:avLst>
              <a:gd name="adj" fmla="val 8889"/>
            </a:avLst>
          </a:prstGeom>
          <a:solidFill>
            <a:srgbClr val="EAF6F6"/>
          </a:solidFill>
          <a:ln w="12700">
            <a:solidFill>
              <a:srgbClr val="DCEFEF"/>
            </a:solidFill>
            <a:prstDash val="solid"/>
          </a:ln>
          <a:effectLst>
            <a:outerShdw blurRad="88900" dist="38100" dir="5400000" algn="bl" rotWithShape="0">
              <a:srgbClr val="0A2E36">
                <a:alpha val="16000"/>
              </a:srgbClr>
            </a:outerShdw>
          </a:effectLst>
        </p:spPr>
        <p:txBody>
          <a:bodyPr/>
          <a:lstStyle/>
          <a:p>
            <a:endParaRPr lang="fr-FR"/>
          </a:p>
        </p:txBody>
      </p:sp>
      <p:sp>
        <p:nvSpPr>
          <p:cNvPr id="8" name="Shape 5"/>
          <p:cNvSpPr/>
          <p:nvPr/>
        </p:nvSpPr>
        <p:spPr>
          <a:xfrm>
            <a:off x="713232" y="2642616"/>
            <a:ext cx="566928" cy="566928"/>
          </a:xfrm>
          <a:prstGeom prst="ellipse">
            <a:avLst/>
          </a:prstGeom>
          <a:solidFill>
            <a:srgbClr val="028090"/>
          </a:solidFill>
          <a:ln/>
        </p:spPr>
        <p:txBody>
          <a:bodyPr/>
          <a:lstStyle/>
          <a:p>
            <a:endParaRPr lang="fr-FR"/>
          </a:p>
        </p:txBody>
      </p:sp>
      <p:pic>
        <p:nvPicPr>
          <p:cNvPr id="9" name="Image 1" descr="preencoded.png"/>
          <p:cNvPicPr>
            <a:picLocks noChangeAspect="1"/>
          </p:cNvPicPr>
          <p:nvPr/>
        </p:nvPicPr>
        <p:blipFill>
          <a:blip r:embed="rId3"/>
          <a:stretch>
            <a:fillRect/>
          </a:stretch>
        </p:blipFill>
        <p:spPr>
          <a:xfrm>
            <a:off x="866303" y="2795687"/>
            <a:ext cx="260787" cy="260787"/>
          </a:xfrm>
          <a:prstGeom prst="rect">
            <a:avLst/>
          </a:prstGeom>
        </p:spPr>
      </p:pic>
      <p:sp>
        <p:nvSpPr>
          <p:cNvPr id="10" name="Text 6"/>
          <p:cNvSpPr/>
          <p:nvPr/>
        </p:nvSpPr>
        <p:spPr>
          <a:xfrm>
            <a:off x="1417320" y="2514600"/>
            <a:ext cx="5532120" cy="822960"/>
          </a:xfrm>
          <a:prstGeom prst="rect">
            <a:avLst/>
          </a:prstGeom>
          <a:noFill/>
          <a:ln/>
        </p:spPr>
        <p:txBody>
          <a:bodyPr wrap="square" lIns="0" tIns="0" rIns="0" bIns="0" rtlCol="0" anchor="ctr"/>
          <a:lstStyle/>
          <a:p>
            <a:pPr marL="0" indent="0">
              <a:buNone/>
            </a:pPr>
            <a:r>
              <a:rPr lang="en-US" sz="1400" b="1" dirty="0">
                <a:solidFill>
                  <a:srgbClr val="0B3C49"/>
                </a:solidFill>
                <a:latin typeface="Calibri" pitchFamily="34" charset="0"/>
                <a:ea typeface="Calibri" pitchFamily="34" charset="-122"/>
                <a:cs typeface="Calibri" pitchFamily="34" charset="-120"/>
              </a:rPr>
              <a:t>Raise your fish   </a:t>
            </a:r>
            <a:r>
              <a:rPr lang="en-US" sz="1200" dirty="0">
                <a:solidFill>
                  <a:srgbClr val="557079"/>
                </a:solidFill>
                <a:latin typeface="Calibri" pitchFamily="34" charset="0"/>
                <a:ea typeface="Calibri" pitchFamily="34" charset="-122"/>
                <a:cs typeface="Calibri" pitchFamily="34" charset="-120"/>
              </a:rPr>
              <a:t>Buy, name and grow a collection of little fish in your own tank.</a:t>
            </a:r>
            <a:endParaRPr lang="en-US" sz="1400" dirty="0"/>
          </a:p>
        </p:txBody>
      </p:sp>
      <p:sp>
        <p:nvSpPr>
          <p:cNvPr id="11" name="Shape 7"/>
          <p:cNvSpPr/>
          <p:nvPr/>
        </p:nvSpPr>
        <p:spPr>
          <a:xfrm>
            <a:off x="548640" y="3447288"/>
            <a:ext cx="6492240" cy="822960"/>
          </a:xfrm>
          <a:prstGeom prst="roundRect">
            <a:avLst>
              <a:gd name="adj" fmla="val 8889"/>
            </a:avLst>
          </a:prstGeom>
          <a:solidFill>
            <a:srgbClr val="EAF6F6"/>
          </a:solidFill>
          <a:ln w="12700">
            <a:solidFill>
              <a:srgbClr val="DCEFEF"/>
            </a:solidFill>
            <a:prstDash val="solid"/>
          </a:ln>
          <a:effectLst>
            <a:outerShdw blurRad="88900" dist="38100" dir="5400000" algn="bl" rotWithShape="0">
              <a:srgbClr val="0A2E36">
                <a:alpha val="16000"/>
              </a:srgbClr>
            </a:outerShdw>
          </a:effectLst>
        </p:spPr>
        <p:txBody>
          <a:bodyPr/>
          <a:lstStyle/>
          <a:p>
            <a:endParaRPr lang="fr-FR"/>
          </a:p>
        </p:txBody>
      </p:sp>
      <p:sp>
        <p:nvSpPr>
          <p:cNvPr id="12" name="Shape 8"/>
          <p:cNvSpPr/>
          <p:nvPr/>
        </p:nvSpPr>
        <p:spPr>
          <a:xfrm>
            <a:off x="713232" y="3575304"/>
            <a:ext cx="566928" cy="566928"/>
          </a:xfrm>
          <a:prstGeom prst="ellipse">
            <a:avLst/>
          </a:prstGeom>
          <a:solidFill>
            <a:srgbClr val="028090"/>
          </a:solidFill>
          <a:ln/>
        </p:spPr>
        <p:txBody>
          <a:bodyPr/>
          <a:lstStyle/>
          <a:p>
            <a:endParaRPr lang="fr-FR"/>
          </a:p>
        </p:txBody>
      </p:sp>
      <p:pic>
        <p:nvPicPr>
          <p:cNvPr id="13" name="Image 2" descr="preencoded.png"/>
          <p:cNvPicPr>
            <a:picLocks noChangeAspect="1"/>
          </p:cNvPicPr>
          <p:nvPr/>
        </p:nvPicPr>
        <p:blipFill>
          <a:blip r:embed="rId4"/>
          <a:stretch>
            <a:fillRect/>
          </a:stretch>
        </p:blipFill>
        <p:spPr>
          <a:xfrm>
            <a:off x="866303" y="3728375"/>
            <a:ext cx="260787" cy="260787"/>
          </a:xfrm>
          <a:prstGeom prst="rect">
            <a:avLst/>
          </a:prstGeom>
        </p:spPr>
      </p:pic>
      <p:sp>
        <p:nvSpPr>
          <p:cNvPr id="14" name="Text 9"/>
          <p:cNvSpPr/>
          <p:nvPr/>
        </p:nvSpPr>
        <p:spPr>
          <a:xfrm>
            <a:off x="1417320" y="3447288"/>
            <a:ext cx="5532120" cy="822960"/>
          </a:xfrm>
          <a:prstGeom prst="rect">
            <a:avLst/>
          </a:prstGeom>
          <a:noFill/>
          <a:ln/>
        </p:spPr>
        <p:txBody>
          <a:bodyPr wrap="square" lIns="0" tIns="0" rIns="0" bIns="0" rtlCol="0" anchor="ctr"/>
          <a:lstStyle/>
          <a:p>
            <a:pPr marL="0" indent="0">
              <a:buNone/>
            </a:pPr>
            <a:r>
              <a:rPr lang="en-US" sz="1400" b="1" dirty="0">
                <a:solidFill>
                  <a:srgbClr val="0B3C49"/>
                </a:solidFill>
                <a:latin typeface="Calibri" pitchFamily="34" charset="0"/>
                <a:ea typeface="Calibri" pitchFamily="34" charset="-122"/>
                <a:cs typeface="Calibri" pitchFamily="34" charset="-120"/>
              </a:rPr>
              <a:t>Feed them daily   </a:t>
            </a:r>
            <a:r>
              <a:rPr lang="en-US" sz="1200" dirty="0">
                <a:solidFill>
                  <a:srgbClr val="557079"/>
                </a:solidFill>
                <a:latin typeface="Calibri" pitchFamily="34" charset="0"/>
                <a:ea typeface="Calibri" pitchFamily="34" charset="-122"/>
                <a:cs typeface="Calibri" pitchFamily="34" charset="-120"/>
              </a:rPr>
              <a:t>Fish lose life every minute — feed them with food bought from the shop.</a:t>
            </a:r>
            <a:endParaRPr lang="en-US" sz="1400" dirty="0"/>
          </a:p>
        </p:txBody>
      </p:sp>
      <p:sp>
        <p:nvSpPr>
          <p:cNvPr id="15" name="Shape 10"/>
          <p:cNvSpPr/>
          <p:nvPr/>
        </p:nvSpPr>
        <p:spPr>
          <a:xfrm>
            <a:off x="548640" y="4379976"/>
            <a:ext cx="6492240" cy="822960"/>
          </a:xfrm>
          <a:prstGeom prst="roundRect">
            <a:avLst>
              <a:gd name="adj" fmla="val 8889"/>
            </a:avLst>
          </a:prstGeom>
          <a:solidFill>
            <a:srgbClr val="EAF6F6"/>
          </a:solidFill>
          <a:ln w="12700">
            <a:solidFill>
              <a:srgbClr val="DCEFEF"/>
            </a:solidFill>
            <a:prstDash val="solid"/>
          </a:ln>
          <a:effectLst>
            <a:outerShdw blurRad="88900" dist="38100" dir="5400000" algn="bl" rotWithShape="0">
              <a:srgbClr val="0A2E36">
                <a:alpha val="16000"/>
              </a:srgbClr>
            </a:outerShdw>
          </a:effectLst>
        </p:spPr>
        <p:txBody>
          <a:bodyPr/>
          <a:lstStyle/>
          <a:p>
            <a:endParaRPr lang="fr-FR"/>
          </a:p>
        </p:txBody>
      </p:sp>
      <p:sp>
        <p:nvSpPr>
          <p:cNvPr id="16" name="Shape 11"/>
          <p:cNvSpPr/>
          <p:nvPr/>
        </p:nvSpPr>
        <p:spPr>
          <a:xfrm>
            <a:off x="713232" y="4507992"/>
            <a:ext cx="566928" cy="566928"/>
          </a:xfrm>
          <a:prstGeom prst="ellipse">
            <a:avLst/>
          </a:prstGeom>
          <a:solidFill>
            <a:srgbClr val="028090"/>
          </a:solidFill>
          <a:ln/>
        </p:spPr>
        <p:txBody>
          <a:bodyPr/>
          <a:lstStyle/>
          <a:p>
            <a:endParaRPr lang="fr-FR"/>
          </a:p>
        </p:txBody>
      </p:sp>
      <p:pic>
        <p:nvPicPr>
          <p:cNvPr id="17" name="Image 3" descr="preencoded.png"/>
          <p:cNvPicPr>
            <a:picLocks noChangeAspect="1"/>
          </p:cNvPicPr>
          <p:nvPr/>
        </p:nvPicPr>
        <p:blipFill>
          <a:blip r:embed="rId5"/>
          <a:stretch>
            <a:fillRect/>
          </a:stretch>
        </p:blipFill>
        <p:spPr>
          <a:xfrm>
            <a:off x="866303" y="4661063"/>
            <a:ext cx="260787" cy="260787"/>
          </a:xfrm>
          <a:prstGeom prst="rect">
            <a:avLst/>
          </a:prstGeom>
        </p:spPr>
      </p:pic>
      <p:sp>
        <p:nvSpPr>
          <p:cNvPr id="18" name="Text 12"/>
          <p:cNvSpPr/>
          <p:nvPr/>
        </p:nvSpPr>
        <p:spPr>
          <a:xfrm>
            <a:off x="1417320" y="4379976"/>
            <a:ext cx="5532120" cy="822960"/>
          </a:xfrm>
          <a:prstGeom prst="rect">
            <a:avLst/>
          </a:prstGeom>
          <a:noFill/>
          <a:ln/>
        </p:spPr>
        <p:txBody>
          <a:bodyPr wrap="square" lIns="0" tIns="0" rIns="0" bIns="0" rtlCol="0" anchor="ctr"/>
          <a:lstStyle/>
          <a:p>
            <a:pPr marL="0" indent="0">
              <a:buNone/>
            </a:pPr>
            <a:r>
              <a:rPr lang="en-US" sz="1400" b="1" dirty="0">
                <a:solidFill>
                  <a:srgbClr val="0B3C49"/>
                </a:solidFill>
                <a:latin typeface="Calibri" pitchFamily="34" charset="0"/>
                <a:ea typeface="Calibri" pitchFamily="34" charset="-122"/>
                <a:cs typeface="Calibri" pitchFamily="34" charset="-120"/>
              </a:rPr>
              <a:t>Earn coins   </a:t>
            </a:r>
            <a:r>
              <a:rPr lang="en-US" sz="1200" dirty="0">
                <a:solidFill>
                  <a:srgbClr val="557079"/>
                </a:solidFill>
                <a:latin typeface="Calibri" pitchFamily="34" charset="0"/>
                <a:ea typeface="Calibri" pitchFamily="34" charset="-122"/>
                <a:cs typeface="Calibri" pitchFamily="34" charset="-120"/>
              </a:rPr>
              <a:t>Click your fish and complete daily challenges to keep earning coins.</a:t>
            </a:r>
            <a:endParaRPr lang="en-US" sz="1400" dirty="0"/>
          </a:p>
        </p:txBody>
      </p:sp>
      <p:sp>
        <p:nvSpPr>
          <p:cNvPr id="19" name="Shape 13"/>
          <p:cNvSpPr/>
          <p:nvPr/>
        </p:nvSpPr>
        <p:spPr>
          <a:xfrm>
            <a:off x="548640" y="5312664"/>
            <a:ext cx="6492240" cy="822960"/>
          </a:xfrm>
          <a:prstGeom prst="roundRect">
            <a:avLst>
              <a:gd name="adj" fmla="val 8889"/>
            </a:avLst>
          </a:prstGeom>
          <a:solidFill>
            <a:srgbClr val="EAF6F6"/>
          </a:solidFill>
          <a:ln w="12700">
            <a:solidFill>
              <a:srgbClr val="DCEFEF"/>
            </a:solidFill>
            <a:prstDash val="solid"/>
          </a:ln>
          <a:effectLst>
            <a:outerShdw blurRad="88900" dist="38100" dir="5400000" algn="bl" rotWithShape="0">
              <a:srgbClr val="0A2E36">
                <a:alpha val="16000"/>
              </a:srgbClr>
            </a:outerShdw>
          </a:effectLst>
        </p:spPr>
        <p:txBody>
          <a:bodyPr/>
          <a:lstStyle/>
          <a:p>
            <a:endParaRPr lang="fr-FR"/>
          </a:p>
        </p:txBody>
      </p:sp>
      <p:sp>
        <p:nvSpPr>
          <p:cNvPr id="20" name="Shape 14"/>
          <p:cNvSpPr/>
          <p:nvPr/>
        </p:nvSpPr>
        <p:spPr>
          <a:xfrm>
            <a:off x="713232" y="5440680"/>
            <a:ext cx="566928" cy="566928"/>
          </a:xfrm>
          <a:prstGeom prst="ellipse">
            <a:avLst/>
          </a:prstGeom>
          <a:solidFill>
            <a:srgbClr val="028090"/>
          </a:solidFill>
          <a:ln/>
        </p:spPr>
        <p:txBody>
          <a:bodyPr/>
          <a:lstStyle/>
          <a:p>
            <a:endParaRPr lang="fr-FR"/>
          </a:p>
        </p:txBody>
      </p:sp>
      <p:pic>
        <p:nvPicPr>
          <p:cNvPr id="21" name="Image 4" descr="preencoded.png"/>
          <p:cNvPicPr>
            <a:picLocks noChangeAspect="1"/>
          </p:cNvPicPr>
          <p:nvPr/>
        </p:nvPicPr>
        <p:blipFill>
          <a:blip r:embed="rId6"/>
          <a:stretch>
            <a:fillRect/>
          </a:stretch>
        </p:blipFill>
        <p:spPr>
          <a:xfrm>
            <a:off x="866303" y="5593751"/>
            <a:ext cx="260787" cy="260787"/>
          </a:xfrm>
          <a:prstGeom prst="rect">
            <a:avLst/>
          </a:prstGeom>
        </p:spPr>
      </p:pic>
      <p:sp>
        <p:nvSpPr>
          <p:cNvPr id="22" name="Text 15"/>
          <p:cNvSpPr/>
          <p:nvPr/>
        </p:nvSpPr>
        <p:spPr>
          <a:xfrm>
            <a:off x="1417320" y="5312664"/>
            <a:ext cx="5532120" cy="822960"/>
          </a:xfrm>
          <a:prstGeom prst="rect">
            <a:avLst/>
          </a:prstGeom>
          <a:noFill/>
          <a:ln/>
        </p:spPr>
        <p:txBody>
          <a:bodyPr wrap="square" lIns="0" tIns="0" rIns="0" bIns="0" rtlCol="0" anchor="ctr"/>
          <a:lstStyle/>
          <a:p>
            <a:pPr marL="0" indent="0">
              <a:buNone/>
            </a:pPr>
            <a:r>
              <a:rPr lang="en-US" sz="1400" b="1" dirty="0">
                <a:solidFill>
                  <a:srgbClr val="0B3C49"/>
                </a:solidFill>
                <a:latin typeface="Calibri" pitchFamily="34" charset="0"/>
                <a:ea typeface="Calibri" pitchFamily="34" charset="-122"/>
                <a:cs typeface="Calibri" pitchFamily="34" charset="-120"/>
              </a:rPr>
              <a:t>Play with others   </a:t>
            </a:r>
            <a:r>
              <a:rPr lang="en-US" sz="1200" dirty="0">
                <a:solidFill>
                  <a:srgbClr val="557079"/>
                </a:solidFill>
                <a:latin typeface="Calibri" pitchFamily="34" charset="0"/>
                <a:ea typeface="Calibri" pitchFamily="34" charset="-122"/>
                <a:cs typeface="Calibri" pitchFamily="34" charset="-120"/>
              </a:rPr>
              <a:t>Add friends, trade fish, and browse the best public aquariums.</a:t>
            </a:r>
            <a:endParaRPr lang="en-US" sz="1400" dirty="0"/>
          </a:p>
        </p:txBody>
      </p:sp>
      <p:sp>
        <p:nvSpPr>
          <p:cNvPr id="23" name="Shape 16"/>
          <p:cNvSpPr/>
          <p:nvPr/>
        </p:nvSpPr>
        <p:spPr>
          <a:xfrm>
            <a:off x="7360920" y="1737360"/>
            <a:ext cx="4251960" cy="4206240"/>
          </a:xfrm>
          <a:prstGeom prst="roundRect">
            <a:avLst>
              <a:gd name="adj" fmla="val 2609"/>
            </a:avLst>
          </a:prstGeom>
          <a:solidFill>
            <a:srgbClr val="CDEFF0"/>
          </a:solidFill>
          <a:ln w="25400">
            <a:solidFill>
              <a:srgbClr val="028090"/>
            </a:solidFill>
            <a:prstDash val="solid"/>
          </a:ln>
          <a:effectLst>
            <a:outerShdw blurRad="88900" dist="38100" dir="5400000" algn="bl" rotWithShape="0">
              <a:srgbClr val="0A2E36">
                <a:alpha val="16000"/>
              </a:srgbClr>
            </a:outerShdw>
          </a:effectLst>
        </p:spPr>
        <p:txBody>
          <a:bodyPr/>
          <a:lstStyle/>
          <a:p>
            <a:endParaRPr lang="fr-FR"/>
          </a:p>
        </p:txBody>
      </p:sp>
      <p:sp>
        <p:nvSpPr>
          <p:cNvPr id="24" name="Shape 17"/>
          <p:cNvSpPr/>
          <p:nvPr/>
        </p:nvSpPr>
        <p:spPr>
          <a:xfrm>
            <a:off x="7470648" y="5440680"/>
            <a:ext cx="4032504" cy="384048"/>
          </a:xfrm>
          <a:prstGeom prst="rect">
            <a:avLst/>
          </a:prstGeom>
          <a:solidFill>
            <a:srgbClr val="F2B705">
              <a:alpha val="65000"/>
            </a:srgbClr>
          </a:solidFill>
          <a:ln/>
        </p:spPr>
        <p:txBody>
          <a:bodyPr/>
          <a:lstStyle/>
          <a:p>
            <a:endParaRPr lang="fr-FR"/>
          </a:p>
        </p:txBody>
      </p:sp>
      <p:pic>
        <p:nvPicPr>
          <p:cNvPr id="25" name="Image 5" descr="preencoded.png"/>
          <p:cNvPicPr>
            <a:picLocks noChangeAspect="1"/>
          </p:cNvPicPr>
          <p:nvPr/>
        </p:nvPicPr>
        <p:blipFill>
          <a:blip r:embed="rId7"/>
          <a:stretch>
            <a:fillRect/>
          </a:stretch>
        </p:blipFill>
        <p:spPr>
          <a:xfrm>
            <a:off x="8183880" y="2651760"/>
            <a:ext cx="1005840" cy="905256"/>
          </a:xfrm>
          <a:prstGeom prst="rect">
            <a:avLst/>
          </a:prstGeom>
        </p:spPr>
      </p:pic>
      <p:pic>
        <p:nvPicPr>
          <p:cNvPr id="26" name="Image 6" descr="preencoded.png"/>
          <p:cNvPicPr>
            <a:picLocks noChangeAspect="1"/>
          </p:cNvPicPr>
          <p:nvPr/>
        </p:nvPicPr>
        <p:blipFill>
          <a:blip r:embed="rId8"/>
          <a:stretch>
            <a:fillRect/>
          </a:stretch>
        </p:blipFill>
        <p:spPr>
          <a:xfrm>
            <a:off x="9829800" y="3291840"/>
            <a:ext cx="868680" cy="781812"/>
          </a:xfrm>
          <a:prstGeom prst="rect">
            <a:avLst/>
          </a:prstGeom>
        </p:spPr>
      </p:pic>
      <p:pic>
        <p:nvPicPr>
          <p:cNvPr id="27" name="Image 7" descr="preencoded.png"/>
          <p:cNvPicPr>
            <a:picLocks noChangeAspect="1"/>
          </p:cNvPicPr>
          <p:nvPr/>
        </p:nvPicPr>
        <p:blipFill>
          <a:blip r:embed="rId9"/>
          <a:stretch>
            <a:fillRect/>
          </a:stretch>
        </p:blipFill>
        <p:spPr>
          <a:xfrm>
            <a:off x="8732520" y="4206240"/>
            <a:ext cx="1143000" cy="1028700"/>
          </a:xfrm>
          <a:prstGeom prst="rect">
            <a:avLst/>
          </a:prstGeom>
        </p:spPr>
      </p:pic>
      <p:pic>
        <p:nvPicPr>
          <p:cNvPr id="28" name="Image 8" descr="preencoded.png"/>
          <p:cNvPicPr>
            <a:picLocks noChangeAspect="1"/>
          </p:cNvPicPr>
          <p:nvPr/>
        </p:nvPicPr>
        <p:blipFill>
          <a:blip r:embed="rId8"/>
          <a:stretch>
            <a:fillRect/>
          </a:stretch>
        </p:blipFill>
        <p:spPr>
          <a:xfrm>
            <a:off x="10195560" y="4663440"/>
            <a:ext cx="731520" cy="658368"/>
          </a:xfrm>
          <a:prstGeom prst="rect">
            <a:avLst/>
          </a:prstGeom>
        </p:spPr>
      </p:pic>
      <p:sp>
        <p:nvSpPr>
          <p:cNvPr id="29" name="Text 18"/>
          <p:cNvSpPr/>
          <p:nvPr/>
        </p:nvSpPr>
        <p:spPr>
          <a:xfrm>
            <a:off x="7360920" y="1847088"/>
            <a:ext cx="4251960" cy="365760"/>
          </a:xfrm>
          <a:prstGeom prst="rect">
            <a:avLst/>
          </a:prstGeom>
          <a:noFill/>
          <a:ln/>
        </p:spPr>
        <p:txBody>
          <a:bodyPr wrap="square" lIns="0" tIns="0" rIns="0" bIns="0" rtlCol="0" anchor="ctr"/>
          <a:lstStyle/>
          <a:p>
            <a:pPr marL="0" indent="0" algn="ctr">
              <a:buNone/>
            </a:pPr>
            <a:r>
              <a:rPr lang="en-US" sz="1200" b="1" dirty="0">
                <a:solidFill>
                  <a:srgbClr val="0B3C49"/>
                </a:solidFill>
                <a:latin typeface="Calibri" pitchFamily="34" charset="0"/>
                <a:ea typeface="Calibri" pitchFamily="34" charset="-122"/>
                <a:cs typeface="Calibri" pitchFamily="34" charset="-120"/>
              </a:rPr>
              <a:t>Your aquarium</a:t>
            </a:r>
            <a:endParaRPr lang="en-US" sz="1200" dirty="0"/>
          </a:p>
        </p:txBody>
      </p:sp>
      <p:sp>
        <p:nvSpPr>
          <p:cNvPr id="30" name="Text 19"/>
          <p:cNvSpPr/>
          <p:nvPr/>
        </p:nvSpPr>
        <p:spPr>
          <a:xfrm>
            <a:off x="11612880" y="6400800"/>
            <a:ext cx="457200" cy="274320"/>
          </a:xfrm>
          <a:prstGeom prst="rect">
            <a:avLst/>
          </a:prstGeom>
          <a:noFill/>
          <a:ln/>
        </p:spPr>
        <p:txBody>
          <a:bodyPr wrap="square" lIns="0" tIns="0" rIns="0" bIns="0" rtlCol="0" anchor="ctr"/>
          <a:lstStyle/>
          <a:p>
            <a:pPr marL="0" indent="0" algn="r">
              <a:buNone/>
            </a:pPr>
            <a:r>
              <a:rPr lang="en-US" sz="1100" dirty="0">
                <a:solidFill>
                  <a:srgbClr val="557079"/>
                </a:solidFill>
                <a:latin typeface="Calibri" pitchFamily="34" charset="0"/>
                <a:ea typeface="Calibri" pitchFamily="34" charset="-122"/>
                <a:cs typeface="Calibri" pitchFamily="34" charset="-120"/>
              </a:rPr>
              <a:t>2</a:t>
            </a:r>
            <a:endParaRPr lang="en-US" sz="1100" dirty="0"/>
          </a:p>
        </p:txBody>
      </p:sp>
      <p:pic>
        <p:nvPicPr>
          <p:cNvPr id="31" name="Image 9" descr="preencoded.png"/>
          <p:cNvPicPr>
            <a:picLocks noChangeAspect="1"/>
          </p:cNvPicPr>
          <p:nvPr/>
        </p:nvPicPr>
        <p:blipFill>
          <a:blip r:embed="rId9"/>
          <a:stretch>
            <a:fillRect/>
          </a:stretch>
        </p:blipFill>
        <p:spPr>
          <a:xfrm>
            <a:off x="548640" y="6419088"/>
            <a:ext cx="237744" cy="237744"/>
          </a:xfrm>
          <a:prstGeom prst="rect">
            <a:avLst/>
          </a:prstGeom>
        </p:spPr>
      </p:pic>
      <p:sp>
        <p:nvSpPr>
          <p:cNvPr id="32" name="Text 20"/>
          <p:cNvSpPr/>
          <p:nvPr/>
        </p:nvSpPr>
        <p:spPr>
          <a:xfrm>
            <a:off x="868680" y="6400800"/>
            <a:ext cx="3657600" cy="274320"/>
          </a:xfrm>
          <a:prstGeom prst="rect">
            <a:avLst/>
          </a:prstGeom>
          <a:noFill/>
          <a:ln/>
        </p:spPr>
        <p:txBody>
          <a:bodyPr wrap="square" lIns="0" tIns="0" rIns="0" bIns="0" rtlCol="0" anchor="ctr"/>
          <a:lstStyle/>
          <a:p>
            <a:pPr marL="0" indent="0">
              <a:buNone/>
            </a:pPr>
            <a:r>
              <a:rPr lang="en-US" sz="1000" dirty="0">
                <a:solidFill>
                  <a:srgbClr val="557079"/>
                </a:solidFill>
                <a:latin typeface="Calibri" pitchFamily="34" charset="0"/>
                <a:ea typeface="Calibri" pitchFamily="34" charset="-122"/>
                <a:cs typeface="Calibri" pitchFamily="34" charset="-120"/>
              </a:rPr>
              <a:t>Manage your little fish</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02809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713232" y="621792"/>
            <a:ext cx="347472" cy="347472"/>
          </a:xfrm>
          <a:prstGeom prst="rect">
            <a:avLst/>
          </a:prstGeom>
        </p:spPr>
      </p:pic>
      <p:sp>
        <p:nvSpPr>
          <p:cNvPr id="4" name="Text 1"/>
          <p:cNvSpPr/>
          <p:nvPr/>
        </p:nvSpPr>
        <p:spPr>
          <a:xfrm>
            <a:off x="1417320" y="457200"/>
            <a:ext cx="8229600" cy="256032"/>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MOTIVATION</a:t>
            </a:r>
            <a:endParaRPr lang="en-US" sz="1200" dirty="0"/>
          </a:p>
        </p:txBody>
      </p:sp>
      <p:sp>
        <p:nvSpPr>
          <p:cNvPr id="5" name="Text 2"/>
          <p:cNvSpPr/>
          <p:nvPr/>
        </p:nvSpPr>
        <p:spPr>
          <a:xfrm>
            <a:off x="1389888" y="676656"/>
            <a:ext cx="10241280" cy="566928"/>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What problem are we solving?</a:t>
            </a:r>
            <a:endParaRPr lang="en-US" sz="3000" dirty="0"/>
          </a:p>
        </p:txBody>
      </p:sp>
      <p:sp>
        <p:nvSpPr>
          <p:cNvPr id="6" name="Text 3"/>
          <p:cNvSpPr/>
          <p:nvPr/>
        </p:nvSpPr>
        <p:spPr>
          <a:xfrm>
            <a:off x="548640" y="1554480"/>
            <a:ext cx="11064240" cy="731520"/>
          </a:xfrm>
          <a:prstGeom prst="rect">
            <a:avLst/>
          </a:prstGeom>
          <a:noFill/>
          <a:ln/>
        </p:spPr>
        <p:txBody>
          <a:bodyPr wrap="square" rtlCol="0" anchor="ctr"/>
          <a:lstStyle/>
          <a:p>
            <a:pPr marL="0" indent="0">
              <a:lnSpc>
                <a:spcPct val="110000"/>
              </a:lnSpc>
              <a:buNone/>
            </a:pPr>
            <a:r>
              <a:rPr lang="en-US" sz="1500" dirty="0">
                <a:solidFill>
                  <a:srgbClr val="0B3C49"/>
                </a:solidFill>
                <a:latin typeface="Calibri" pitchFamily="34" charset="0"/>
                <a:ea typeface="Calibri" pitchFamily="34" charset="-122"/>
                <a:cs typeface="Calibri" pitchFamily="34" charset="-120"/>
              </a:rPr>
              <a:t>Casual games keep people engaged through short, rewarding loops and a reason to come back every day. Many simple browser games miss one or more of these ingredients:</a:t>
            </a:r>
            <a:endParaRPr lang="en-US" sz="1500" dirty="0"/>
          </a:p>
        </p:txBody>
      </p:sp>
      <p:sp>
        <p:nvSpPr>
          <p:cNvPr id="7" name="Shape 4"/>
          <p:cNvSpPr/>
          <p:nvPr/>
        </p:nvSpPr>
        <p:spPr>
          <a:xfrm>
            <a:off x="548640" y="2468880"/>
            <a:ext cx="3520440" cy="1828800"/>
          </a:xfrm>
          <a:prstGeom prst="roundRect">
            <a:avLst>
              <a:gd name="adj" fmla="val 4000"/>
            </a:avLst>
          </a:prstGeom>
          <a:solidFill>
            <a:srgbClr val="FFFFFF"/>
          </a:solidFill>
          <a:ln w="12700">
            <a:solidFill>
              <a:srgbClr val="DCEFEF"/>
            </a:solidFill>
            <a:prstDash val="solid"/>
          </a:ln>
          <a:effectLst>
            <a:outerShdw blurRad="88900" dist="38100" dir="5400000" algn="bl" rotWithShape="0">
              <a:srgbClr val="0A2E36">
                <a:alpha val="16000"/>
              </a:srgbClr>
            </a:outerShdw>
          </a:effectLst>
        </p:spPr>
        <p:txBody>
          <a:bodyPr/>
          <a:lstStyle/>
          <a:p>
            <a:endParaRPr lang="fr-FR"/>
          </a:p>
        </p:txBody>
      </p:sp>
      <p:sp>
        <p:nvSpPr>
          <p:cNvPr id="8" name="Shape 5"/>
          <p:cNvSpPr/>
          <p:nvPr/>
        </p:nvSpPr>
        <p:spPr>
          <a:xfrm>
            <a:off x="822960" y="2743200"/>
            <a:ext cx="566928" cy="566928"/>
          </a:xfrm>
          <a:prstGeom prst="ellipse">
            <a:avLst/>
          </a:prstGeom>
          <a:solidFill>
            <a:srgbClr val="028090"/>
          </a:solidFill>
          <a:ln/>
        </p:spPr>
        <p:txBody>
          <a:bodyPr/>
          <a:lstStyle/>
          <a:p>
            <a:endParaRPr lang="fr-FR"/>
          </a:p>
        </p:txBody>
      </p:sp>
      <p:pic>
        <p:nvPicPr>
          <p:cNvPr id="9" name="Image 1" descr="preencoded.png"/>
          <p:cNvPicPr>
            <a:picLocks noChangeAspect="1"/>
          </p:cNvPicPr>
          <p:nvPr/>
        </p:nvPicPr>
        <p:blipFill>
          <a:blip r:embed="rId4"/>
          <a:stretch>
            <a:fillRect/>
          </a:stretch>
        </p:blipFill>
        <p:spPr>
          <a:xfrm>
            <a:off x="976031" y="2896271"/>
            <a:ext cx="260787" cy="260787"/>
          </a:xfrm>
          <a:prstGeom prst="rect">
            <a:avLst/>
          </a:prstGeom>
        </p:spPr>
      </p:pic>
      <p:sp>
        <p:nvSpPr>
          <p:cNvPr id="10" name="Text 6"/>
          <p:cNvSpPr/>
          <p:nvPr/>
        </p:nvSpPr>
        <p:spPr>
          <a:xfrm>
            <a:off x="822960" y="3429000"/>
            <a:ext cx="2971800" cy="365760"/>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No reason to return</a:t>
            </a:r>
            <a:endParaRPr lang="en-US" sz="1600" dirty="0"/>
          </a:p>
        </p:txBody>
      </p:sp>
      <p:sp>
        <p:nvSpPr>
          <p:cNvPr id="11" name="Text 7"/>
          <p:cNvSpPr/>
          <p:nvPr/>
        </p:nvSpPr>
        <p:spPr>
          <a:xfrm>
            <a:off x="822960" y="3794760"/>
            <a:ext cx="2971800" cy="457200"/>
          </a:xfrm>
          <a:prstGeom prst="rect">
            <a:avLst/>
          </a:prstGeom>
          <a:noFill/>
          <a:ln/>
        </p:spPr>
        <p:txBody>
          <a:bodyPr wrap="square" lIns="0" tIns="0" rIns="0" bIns="0" rtlCol="0" anchor="ctr"/>
          <a:lstStyle/>
          <a:p>
            <a:pPr marL="0" indent="0">
              <a:buNone/>
            </a:pPr>
            <a:r>
              <a:rPr lang="en-US" sz="1200" dirty="0">
                <a:solidFill>
                  <a:srgbClr val="557079"/>
                </a:solidFill>
                <a:latin typeface="Calibri" pitchFamily="34" charset="0"/>
                <a:ea typeface="Calibri" pitchFamily="34" charset="-122"/>
                <a:cs typeface="Calibri" pitchFamily="34" charset="-120"/>
              </a:rPr>
              <a:t>Without a daily mechanic, players open the game once and forget it.</a:t>
            </a:r>
            <a:endParaRPr lang="en-US" sz="1200" dirty="0"/>
          </a:p>
        </p:txBody>
      </p:sp>
      <p:sp>
        <p:nvSpPr>
          <p:cNvPr id="12" name="Shape 8"/>
          <p:cNvSpPr/>
          <p:nvPr/>
        </p:nvSpPr>
        <p:spPr>
          <a:xfrm>
            <a:off x="4315968" y="2468880"/>
            <a:ext cx="3520440" cy="1828800"/>
          </a:xfrm>
          <a:prstGeom prst="roundRect">
            <a:avLst>
              <a:gd name="adj" fmla="val 4000"/>
            </a:avLst>
          </a:prstGeom>
          <a:solidFill>
            <a:srgbClr val="FFFFFF"/>
          </a:solidFill>
          <a:ln w="12700">
            <a:solidFill>
              <a:srgbClr val="DCEFEF"/>
            </a:solidFill>
            <a:prstDash val="solid"/>
          </a:ln>
          <a:effectLst>
            <a:outerShdw blurRad="88900" dist="38100" dir="5400000" algn="bl" rotWithShape="0">
              <a:srgbClr val="0A2E36">
                <a:alpha val="16000"/>
              </a:srgbClr>
            </a:outerShdw>
          </a:effectLst>
        </p:spPr>
        <p:txBody>
          <a:bodyPr/>
          <a:lstStyle/>
          <a:p>
            <a:endParaRPr lang="fr-FR"/>
          </a:p>
        </p:txBody>
      </p:sp>
      <p:sp>
        <p:nvSpPr>
          <p:cNvPr id="13" name="Shape 9"/>
          <p:cNvSpPr/>
          <p:nvPr/>
        </p:nvSpPr>
        <p:spPr>
          <a:xfrm>
            <a:off x="4590288" y="2743200"/>
            <a:ext cx="566928" cy="566928"/>
          </a:xfrm>
          <a:prstGeom prst="ellipse">
            <a:avLst/>
          </a:prstGeom>
          <a:solidFill>
            <a:srgbClr val="F2B705"/>
          </a:solidFill>
          <a:ln/>
        </p:spPr>
        <p:txBody>
          <a:bodyPr/>
          <a:lstStyle/>
          <a:p>
            <a:endParaRPr lang="fr-FR"/>
          </a:p>
        </p:txBody>
      </p:sp>
      <p:pic>
        <p:nvPicPr>
          <p:cNvPr id="14" name="Image 2" descr="preencoded.png"/>
          <p:cNvPicPr>
            <a:picLocks noChangeAspect="1"/>
          </p:cNvPicPr>
          <p:nvPr/>
        </p:nvPicPr>
        <p:blipFill>
          <a:blip r:embed="rId5"/>
          <a:stretch>
            <a:fillRect/>
          </a:stretch>
        </p:blipFill>
        <p:spPr>
          <a:xfrm>
            <a:off x="4743359" y="2896271"/>
            <a:ext cx="260787" cy="260787"/>
          </a:xfrm>
          <a:prstGeom prst="rect">
            <a:avLst/>
          </a:prstGeom>
        </p:spPr>
      </p:pic>
      <p:sp>
        <p:nvSpPr>
          <p:cNvPr id="15" name="Text 10"/>
          <p:cNvSpPr/>
          <p:nvPr/>
        </p:nvSpPr>
        <p:spPr>
          <a:xfrm>
            <a:off x="4590288" y="3429000"/>
            <a:ext cx="2971800" cy="365760"/>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No sense of stakes</a:t>
            </a:r>
            <a:endParaRPr lang="en-US" sz="1600" dirty="0"/>
          </a:p>
        </p:txBody>
      </p:sp>
      <p:sp>
        <p:nvSpPr>
          <p:cNvPr id="16" name="Text 11"/>
          <p:cNvSpPr/>
          <p:nvPr/>
        </p:nvSpPr>
        <p:spPr>
          <a:xfrm>
            <a:off x="4590288" y="3794760"/>
            <a:ext cx="2971800" cy="457200"/>
          </a:xfrm>
          <a:prstGeom prst="rect">
            <a:avLst/>
          </a:prstGeom>
          <a:noFill/>
          <a:ln/>
        </p:spPr>
        <p:txBody>
          <a:bodyPr wrap="square" lIns="0" tIns="0" rIns="0" bIns="0" rtlCol="0" anchor="ctr"/>
          <a:lstStyle/>
          <a:p>
            <a:pPr marL="0" indent="0">
              <a:buNone/>
            </a:pPr>
            <a:r>
              <a:rPr lang="en-US" sz="1200" dirty="0">
                <a:solidFill>
                  <a:srgbClr val="557079"/>
                </a:solidFill>
                <a:latin typeface="Calibri" pitchFamily="34" charset="0"/>
                <a:ea typeface="Calibri" pitchFamily="34" charset="-122"/>
                <a:cs typeface="Calibri" pitchFamily="34" charset="-120"/>
              </a:rPr>
              <a:t>If nothing is ever lost, choices feel meaningless and attention drops.</a:t>
            </a:r>
            <a:endParaRPr lang="en-US" sz="1200" dirty="0"/>
          </a:p>
        </p:txBody>
      </p:sp>
      <p:sp>
        <p:nvSpPr>
          <p:cNvPr id="17" name="Shape 12"/>
          <p:cNvSpPr/>
          <p:nvPr/>
        </p:nvSpPr>
        <p:spPr>
          <a:xfrm>
            <a:off x="8083296" y="2468880"/>
            <a:ext cx="3520440" cy="1828800"/>
          </a:xfrm>
          <a:prstGeom prst="roundRect">
            <a:avLst>
              <a:gd name="adj" fmla="val 4000"/>
            </a:avLst>
          </a:prstGeom>
          <a:solidFill>
            <a:srgbClr val="FFFFFF"/>
          </a:solidFill>
          <a:ln w="12700">
            <a:solidFill>
              <a:srgbClr val="DCEFEF"/>
            </a:solidFill>
            <a:prstDash val="solid"/>
          </a:ln>
          <a:effectLst>
            <a:outerShdw blurRad="88900" dist="38100" dir="5400000" algn="bl" rotWithShape="0">
              <a:srgbClr val="0A2E36">
                <a:alpha val="16000"/>
              </a:srgbClr>
            </a:outerShdw>
          </a:effectLst>
        </p:spPr>
        <p:txBody>
          <a:bodyPr/>
          <a:lstStyle/>
          <a:p>
            <a:endParaRPr lang="fr-FR"/>
          </a:p>
        </p:txBody>
      </p:sp>
      <p:sp>
        <p:nvSpPr>
          <p:cNvPr id="18" name="Shape 13"/>
          <p:cNvSpPr/>
          <p:nvPr/>
        </p:nvSpPr>
        <p:spPr>
          <a:xfrm>
            <a:off x="8357616" y="2743200"/>
            <a:ext cx="566928" cy="566928"/>
          </a:xfrm>
          <a:prstGeom prst="ellipse">
            <a:avLst/>
          </a:prstGeom>
          <a:solidFill>
            <a:srgbClr val="028090"/>
          </a:solidFill>
          <a:ln/>
        </p:spPr>
        <p:txBody>
          <a:bodyPr/>
          <a:lstStyle/>
          <a:p>
            <a:endParaRPr lang="fr-FR"/>
          </a:p>
        </p:txBody>
      </p:sp>
      <p:pic>
        <p:nvPicPr>
          <p:cNvPr id="19" name="Image 3" descr="preencoded.png"/>
          <p:cNvPicPr>
            <a:picLocks noChangeAspect="1"/>
          </p:cNvPicPr>
          <p:nvPr/>
        </p:nvPicPr>
        <p:blipFill>
          <a:blip r:embed="rId6"/>
          <a:stretch>
            <a:fillRect/>
          </a:stretch>
        </p:blipFill>
        <p:spPr>
          <a:xfrm>
            <a:off x="8510687" y="2896271"/>
            <a:ext cx="260787" cy="260787"/>
          </a:xfrm>
          <a:prstGeom prst="rect">
            <a:avLst/>
          </a:prstGeom>
        </p:spPr>
      </p:pic>
      <p:sp>
        <p:nvSpPr>
          <p:cNvPr id="20" name="Text 14"/>
          <p:cNvSpPr/>
          <p:nvPr/>
        </p:nvSpPr>
        <p:spPr>
          <a:xfrm>
            <a:off x="8357616" y="3429000"/>
            <a:ext cx="2971800" cy="365760"/>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Played in isolation</a:t>
            </a:r>
            <a:endParaRPr lang="en-US" sz="1600" dirty="0"/>
          </a:p>
        </p:txBody>
      </p:sp>
      <p:sp>
        <p:nvSpPr>
          <p:cNvPr id="21" name="Text 15"/>
          <p:cNvSpPr/>
          <p:nvPr/>
        </p:nvSpPr>
        <p:spPr>
          <a:xfrm>
            <a:off x="8357616" y="3794760"/>
            <a:ext cx="2971800" cy="457200"/>
          </a:xfrm>
          <a:prstGeom prst="rect">
            <a:avLst/>
          </a:prstGeom>
          <a:noFill/>
          <a:ln/>
        </p:spPr>
        <p:txBody>
          <a:bodyPr wrap="square" lIns="0" tIns="0" rIns="0" bIns="0" rtlCol="0" anchor="ctr"/>
          <a:lstStyle/>
          <a:p>
            <a:pPr marL="0" indent="0">
              <a:buNone/>
            </a:pPr>
            <a:r>
              <a:rPr lang="en-US" sz="1200" dirty="0">
                <a:solidFill>
                  <a:srgbClr val="557079"/>
                </a:solidFill>
                <a:latin typeface="Calibri" pitchFamily="34" charset="0"/>
                <a:ea typeface="Calibri" pitchFamily="34" charset="-122"/>
                <a:cs typeface="Calibri" pitchFamily="34" charset="-120"/>
              </a:rPr>
              <a:t>Single-player-only games miss the pull of comparing and trading with friends.</a:t>
            </a:r>
            <a:endParaRPr lang="en-US" sz="1200" dirty="0"/>
          </a:p>
        </p:txBody>
      </p:sp>
      <p:sp>
        <p:nvSpPr>
          <p:cNvPr id="22" name="Shape 16"/>
          <p:cNvSpPr/>
          <p:nvPr/>
        </p:nvSpPr>
        <p:spPr>
          <a:xfrm>
            <a:off x="548640" y="4617720"/>
            <a:ext cx="11091672" cy="1417320"/>
          </a:xfrm>
          <a:prstGeom prst="roundRect">
            <a:avLst>
              <a:gd name="adj" fmla="val 6452"/>
            </a:avLst>
          </a:prstGeom>
          <a:solidFill>
            <a:srgbClr val="0B3C49"/>
          </a:solidFill>
          <a:ln/>
          <a:effectLst>
            <a:outerShdw blurRad="88900" dist="38100" dir="5400000" algn="bl" rotWithShape="0">
              <a:srgbClr val="0A2E36">
                <a:alpha val="16000"/>
              </a:srgbClr>
            </a:outerShdw>
          </a:effectLst>
        </p:spPr>
        <p:txBody>
          <a:bodyPr/>
          <a:lstStyle/>
          <a:p>
            <a:endParaRPr lang="fr-FR"/>
          </a:p>
        </p:txBody>
      </p:sp>
      <p:pic>
        <p:nvPicPr>
          <p:cNvPr id="23" name="Image 4" descr="preencoded.png"/>
          <p:cNvPicPr>
            <a:picLocks noChangeAspect="1"/>
          </p:cNvPicPr>
          <p:nvPr/>
        </p:nvPicPr>
        <p:blipFill>
          <a:blip r:embed="rId7"/>
          <a:stretch>
            <a:fillRect/>
          </a:stretch>
        </p:blipFill>
        <p:spPr>
          <a:xfrm>
            <a:off x="914400" y="5074920"/>
            <a:ext cx="548640" cy="548640"/>
          </a:xfrm>
          <a:prstGeom prst="rect">
            <a:avLst/>
          </a:prstGeom>
        </p:spPr>
      </p:pic>
      <p:sp>
        <p:nvSpPr>
          <p:cNvPr id="24" name="Text 17"/>
          <p:cNvSpPr/>
          <p:nvPr/>
        </p:nvSpPr>
        <p:spPr>
          <a:xfrm>
            <a:off x="1645920" y="4617720"/>
            <a:ext cx="9692640" cy="1417320"/>
          </a:xfrm>
          <a:prstGeom prst="rect">
            <a:avLst/>
          </a:prstGeom>
          <a:noFill/>
          <a:ln/>
        </p:spPr>
        <p:txBody>
          <a:bodyPr wrap="square" rtlCol="0" anchor="ctr"/>
          <a:lstStyle/>
          <a:p>
            <a:pPr marL="0" indent="0">
              <a:lnSpc>
                <a:spcPct val="108000"/>
              </a:lnSpc>
              <a:buNone/>
            </a:pPr>
            <a:r>
              <a:rPr lang="en-US" sz="1500" b="1" dirty="0">
                <a:solidFill>
                  <a:srgbClr val="02C39A"/>
                </a:solidFill>
                <a:latin typeface="Calibri" pitchFamily="34" charset="0"/>
                <a:ea typeface="Calibri" pitchFamily="34" charset="-122"/>
                <a:cs typeface="Calibri" pitchFamily="34" charset="-120"/>
              </a:rPr>
              <a:t>Our answer:  </a:t>
            </a:r>
            <a:r>
              <a:rPr lang="en-US" sz="1500" dirty="0">
                <a:solidFill>
                  <a:srgbClr val="FFFFFF"/>
                </a:solidFill>
                <a:latin typeface="Calibri" pitchFamily="34" charset="0"/>
                <a:ea typeface="Calibri" pitchFamily="34" charset="-122"/>
                <a:cs typeface="Calibri" pitchFamily="34" charset="-120"/>
              </a:rPr>
              <a:t>a living aquarium. Fish lose life every minute, so players must come back daily to feed them — while clicks, daily challenges, trading and public leaderboards turn the routine into a fun, social habit.</a:t>
            </a:r>
            <a:endParaRPr lang="en-US" sz="1500" dirty="0"/>
          </a:p>
        </p:txBody>
      </p:sp>
      <p:sp>
        <p:nvSpPr>
          <p:cNvPr id="25" name="Text 18"/>
          <p:cNvSpPr/>
          <p:nvPr/>
        </p:nvSpPr>
        <p:spPr>
          <a:xfrm>
            <a:off x="11612880" y="6400800"/>
            <a:ext cx="457200" cy="274320"/>
          </a:xfrm>
          <a:prstGeom prst="rect">
            <a:avLst/>
          </a:prstGeom>
          <a:noFill/>
          <a:ln/>
        </p:spPr>
        <p:txBody>
          <a:bodyPr wrap="square" lIns="0" tIns="0" rIns="0" bIns="0" rtlCol="0" anchor="ctr"/>
          <a:lstStyle/>
          <a:p>
            <a:pPr marL="0" indent="0" algn="r">
              <a:buNone/>
            </a:pPr>
            <a:r>
              <a:rPr lang="en-US" sz="1100" dirty="0">
                <a:solidFill>
                  <a:srgbClr val="557079"/>
                </a:solidFill>
                <a:latin typeface="Calibri" pitchFamily="34" charset="0"/>
                <a:ea typeface="Calibri" pitchFamily="34" charset="-122"/>
                <a:cs typeface="Calibri" pitchFamily="34" charset="-120"/>
              </a:rPr>
              <a:t>3</a:t>
            </a:r>
            <a:endParaRPr lang="en-US" sz="1100" dirty="0"/>
          </a:p>
        </p:txBody>
      </p:sp>
      <p:pic>
        <p:nvPicPr>
          <p:cNvPr id="26" name="Image 5" descr="preencoded.png"/>
          <p:cNvPicPr>
            <a:picLocks noChangeAspect="1"/>
          </p:cNvPicPr>
          <p:nvPr/>
        </p:nvPicPr>
        <p:blipFill>
          <a:blip r:embed="rId8"/>
          <a:stretch>
            <a:fillRect/>
          </a:stretch>
        </p:blipFill>
        <p:spPr>
          <a:xfrm>
            <a:off x="548640" y="6419088"/>
            <a:ext cx="237744" cy="237744"/>
          </a:xfrm>
          <a:prstGeom prst="rect">
            <a:avLst/>
          </a:prstGeom>
        </p:spPr>
      </p:pic>
      <p:sp>
        <p:nvSpPr>
          <p:cNvPr id="27" name="Text 19"/>
          <p:cNvSpPr/>
          <p:nvPr/>
        </p:nvSpPr>
        <p:spPr>
          <a:xfrm>
            <a:off x="868680" y="6400800"/>
            <a:ext cx="3657600" cy="274320"/>
          </a:xfrm>
          <a:prstGeom prst="rect">
            <a:avLst/>
          </a:prstGeom>
          <a:noFill/>
          <a:ln/>
        </p:spPr>
        <p:txBody>
          <a:bodyPr wrap="square" lIns="0" tIns="0" rIns="0" bIns="0" rtlCol="0" anchor="ctr"/>
          <a:lstStyle/>
          <a:p>
            <a:pPr marL="0" indent="0">
              <a:buNone/>
            </a:pPr>
            <a:r>
              <a:rPr lang="en-US" sz="1000" dirty="0">
                <a:solidFill>
                  <a:srgbClr val="557079"/>
                </a:solidFill>
                <a:latin typeface="Calibri" pitchFamily="34" charset="0"/>
                <a:ea typeface="Calibri" pitchFamily="34" charset="-122"/>
                <a:cs typeface="Calibri" pitchFamily="34" charset="-120"/>
              </a:rPr>
              <a:t>Manage your little fish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E36"/>
        </a:solidFill>
        <a:effectLst/>
      </p:bgPr>
    </p:bg>
    <p:spTree>
      <p:nvGrpSpPr>
        <p:cNvPr id="1" name=""/>
        <p:cNvGrpSpPr/>
        <p:nvPr/>
      </p:nvGrpSpPr>
      <p:grpSpPr>
        <a:xfrm>
          <a:off x="0" y="0"/>
          <a:ext cx="0" cy="0"/>
          <a:chOff x="0" y="0"/>
          <a:chExt cx="0" cy="0"/>
        </a:xfrm>
      </p:grpSpPr>
      <p:sp>
        <p:nvSpPr>
          <p:cNvPr id="2" name="Shape 0"/>
          <p:cNvSpPr/>
          <p:nvPr/>
        </p:nvSpPr>
        <p:spPr>
          <a:xfrm>
            <a:off x="914400" y="5852160"/>
            <a:ext cx="457200" cy="457200"/>
          </a:xfrm>
          <a:prstGeom prst="ellipse">
            <a:avLst/>
          </a:prstGeom>
          <a:solidFill>
            <a:srgbClr val="FFFFFF">
              <a:alpha val="10000"/>
            </a:srgbClr>
          </a:solidFill>
          <a:ln/>
        </p:spPr>
        <p:txBody>
          <a:bodyPr/>
          <a:lstStyle/>
          <a:p>
            <a:endParaRPr lang="fr-FR"/>
          </a:p>
        </p:txBody>
      </p:sp>
      <p:sp>
        <p:nvSpPr>
          <p:cNvPr id="3" name="Shape 1"/>
          <p:cNvSpPr/>
          <p:nvPr/>
        </p:nvSpPr>
        <p:spPr>
          <a:xfrm>
            <a:off x="1828800" y="4937760"/>
            <a:ext cx="256032" cy="256032"/>
          </a:xfrm>
          <a:prstGeom prst="ellipse">
            <a:avLst/>
          </a:prstGeom>
          <a:solidFill>
            <a:srgbClr val="FFFFFF">
              <a:alpha val="10000"/>
            </a:srgbClr>
          </a:solidFill>
          <a:ln/>
        </p:spPr>
        <p:txBody>
          <a:bodyPr/>
          <a:lstStyle/>
          <a:p>
            <a:endParaRPr lang="fr-FR"/>
          </a:p>
        </p:txBody>
      </p:sp>
      <p:sp>
        <p:nvSpPr>
          <p:cNvPr id="4" name="Shape 2"/>
          <p:cNvSpPr/>
          <p:nvPr/>
        </p:nvSpPr>
        <p:spPr>
          <a:xfrm>
            <a:off x="10789920" y="1097280"/>
            <a:ext cx="548640" cy="548640"/>
          </a:xfrm>
          <a:prstGeom prst="ellipse">
            <a:avLst/>
          </a:prstGeom>
          <a:solidFill>
            <a:srgbClr val="FFFFFF">
              <a:alpha val="10000"/>
            </a:srgbClr>
          </a:solidFill>
          <a:ln/>
        </p:spPr>
        <p:txBody>
          <a:bodyPr/>
          <a:lstStyle/>
          <a:p>
            <a:endParaRPr lang="fr-FR"/>
          </a:p>
        </p:txBody>
      </p:sp>
      <p:sp>
        <p:nvSpPr>
          <p:cNvPr id="5" name="Shape 3"/>
          <p:cNvSpPr/>
          <p:nvPr/>
        </p:nvSpPr>
        <p:spPr>
          <a:xfrm>
            <a:off x="11338560" y="2194560"/>
            <a:ext cx="292608" cy="292608"/>
          </a:xfrm>
          <a:prstGeom prst="ellipse">
            <a:avLst/>
          </a:prstGeom>
          <a:solidFill>
            <a:srgbClr val="FFFFFF">
              <a:alpha val="10000"/>
            </a:srgbClr>
          </a:solidFill>
          <a:ln/>
        </p:spPr>
        <p:txBody>
          <a:bodyPr/>
          <a:lstStyle/>
          <a:p>
            <a:endParaRPr lang="fr-FR"/>
          </a:p>
        </p:txBody>
      </p:sp>
      <p:sp>
        <p:nvSpPr>
          <p:cNvPr id="6" name="Shape 4"/>
          <p:cNvSpPr/>
          <p:nvPr/>
        </p:nvSpPr>
        <p:spPr>
          <a:xfrm>
            <a:off x="548640" y="1828800"/>
            <a:ext cx="310896" cy="310896"/>
          </a:xfrm>
          <a:prstGeom prst="ellipse">
            <a:avLst/>
          </a:prstGeom>
          <a:solidFill>
            <a:srgbClr val="FFFFFF">
              <a:alpha val="10000"/>
            </a:srgbClr>
          </a:solidFill>
          <a:ln/>
        </p:spPr>
        <p:txBody>
          <a:bodyPr/>
          <a:lstStyle/>
          <a:p>
            <a:endParaRPr lang="fr-FR"/>
          </a:p>
        </p:txBody>
      </p:sp>
      <p:sp>
        <p:nvSpPr>
          <p:cNvPr id="7" name="Shape 5"/>
          <p:cNvSpPr/>
          <p:nvPr/>
        </p:nvSpPr>
        <p:spPr>
          <a:xfrm>
            <a:off x="11521440" y="5669280"/>
            <a:ext cx="411480" cy="411480"/>
          </a:xfrm>
          <a:prstGeom prst="ellipse">
            <a:avLst/>
          </a:prstGeom>
          <a:solidFill>
            <a:srgbClr val="FFFFFF">
              <a:alpha val="10000"/>
            </a:srgbClr>
          </a:solidFill>
          <a:ln/>
        </p:spPr>
        <p:txBody>
          <a:bodyPr/>
          <a:lstStyle/>
          <a:p>
            <a:endParaRPr lang="fr-FR"/>
          </a:p>
        </p:txBody>
      </p:sp>
      <p:sp>
        <p:nvSpPr>
          <p:cNvPr id="8" name="Shape 6"/>
          <p:cNvSpPr/>
          <p:nvPr/>
        </p:nvSpPr>
        <p:spPr>
          <a:xfrm>
            <a:off x="6309360" y="6309360"/>
            <a:ext cx="201168" cy="201168"/>
          </a:xfrm>
          <a:prstGeom prst="ellipse">
            <a:avLst/>
          </a:prstGeom>
          <a:solidFill>
            <a:srgbClr val="FFFFFF">
              <a:alpha val="10000"/>
            </a:srgbClr>
          </a:solidFill>
          <a:ln/>
        </p:spPr>
        <p:txBody>
          <a:bodyPr/>
          <a:lstStyle/>
          <a:p>
            <a:endParaRPr lang="fr-FR"/>
          </a:p>
        </p:txBody>
      </p:sp>
      <p:sp>
        <p:nvSpPr>
          <p:cNvPr id="9" name="Shape 7"/>
          <p:cNvSpPr/>
          <p:nvPr/>
        </p:nvSpPr>
        <p:spPr>
          <a:xfrm>
            <a:off x="548640" y="457200"/>
            <a:ext cx="676656" cy="676656"/>
          </a:xfrm>
          <a:prstGeom prst="ellipse">
            <a:avLst/>
          </a:prstGeom>
          <a:solidFill>
            <a:srgbClr val="02C39A"/>
          </a:solidFill>
          <a:ln/>
        </p:spPr>
        <p:txBody>
          <a:bodyPr/>
          <a:lstStyle/>
          <a:p>
            <a:endParaRPr lang="fr-FR"/>
          </a:p>
        </p:txBody>
      </p:sp>
      <p:pic>
        <p:nvPicPr>
          <p:cNvPr id="10" name="Image 0" descr="preencoded.png"/>
          <p:cNvPicPr>
            <a:picLocks noChangeAspect="1"/>
          </p:cNvPicPr>
          <p:nvPr/>
        </p:nvPicPr>
        <p:blipFill>
          <a:blip r:embed="rId3"/>
          <a:stretch>
            <a:fillRect/>
          </a:stretch>
        </p:blipFill>
        <p:spPr>
          <a:xfrm>
            <a:off x="713232" y="621792"/>
            <a:ext cx="347472" cy="347472"/>
          </a:xfrm>
          <a:prstGeom prst="rect">
            <a:avLst/>
          </a:prstGeom>
        </p:spPr>
      </p:pic>
      <p:sp>
        <p:nvSpPr>
          <p:cNvPr id="11" name="Text 8"/>
          <p:cNvSpPr/>
          <p:nvPr/>
        </p:nvSpPr>
        <p:spPr>
          <a:xfrm>
            <a:off x="1417320" y="457200"/>
            <a:ext cx="8229600" cy="256032"/>
          </a:xfrm>
          <a:prstGeom prst="rect">
            <a:avLst/>
          </a:prstGeom>
          <a:noFill/>
          <a:ln/>
        </p:spPr>
        <p:txBody>
          <a:bodyPr wrap="square" lIns="0" tIns="0" rIns="0" bIns="0"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THE CORE GAME LOOP</a:t>
            </a:r>
            <a:endParaRPr lang="en-US" sz="1200" dirty="0"/>
          </a:p>
        </p:txBody>
      </p:sp>
      <p:sp>
        <p:nvSpPr>
          <p:cNvPr id="12" name="Text 9"/>
          <p:cNvSpPr/>
          <p:nvPr/>
        </p:nvSpPr>
        <p:spPr>
          <a:xfrm>
            <a:off x="1389888" y="676656"/>
            <a:ext cx="1005840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 simple daily cycle that keeps the aquarium alive</a:t>
            </a:r>
            <a:endParaRPr lang="en-US" sz="2800" dirty="0"/>
          </a:p>
        </p:txBody>
      </p:sp>
      <p:sp>
        <p:nvSpPr>
          <p:cNvPr id="13" name="Shape 10"/>
          <p:cNvSpPr/>
          <p:nvPr/>
        </p:nvSpPr>
        <p:spPr>
          <a:xfrm>
            <a:off x="4865002" y="2812371"/>
            <a:ext cx="1920240" cy="1920240"/>
          </a:xfrm>
          <a:prstGeom prst="ellipse">
            <a:avLst/>
          </a:prstGeom>
          <a:solidFill>
            <a:srgbClr val="CDEFF0"/>
          </a:solidFill>
          <a:ln w="31750">
            <a:solidFill>
              <a:srgbClr val="02C39A"/>
            </a:solidFill>
            <a:prstDash val="solid"/>
          </a:ln>
        </p:spPr>
        <p:txBody>
          <a:bodyPr/>
          <a:lstStyle/>
          <a:p>
            <a:endParaRPr lang="fr-FR"/>
          </a:p>
        </p:txBody>
      </p:sp>
      <p:pic>
        <p:nvPicPr>
          <p:cNvPr id="14" name="Image 1" descr="preencoded.png"/>
          <p:cNvPicPr>
            <a:picLocks noChangeAspect="1"/>
          </p:cNvPicPr>
          <p:nvPr/>
        </p:nvPicPr>
        <p:blipFill>
          <a:blip r:embed="rId4"/>
          <a:stretch>
            <a:fillRect/>
          </a:stretch>
        </p:blipFill>
        <p:spPr>
          <a:xfrm>
            <a:off x="5367922" y="3205563"/>
            <a:ext cx="914400" cy="868680"/>
          </a:xfrm>
          <a:prstGeom prst="rect">
            <a:avLst/>
          </a:prstGeom>
        </p:spPr>
      </p:pic>
      <p:sp>
        <p:nvSpPr>
          <p:cNvPr id="15" name="Text 11"/>
          <p:cNvSpPr/>
          <p:nvPr/>
        </p:nvSpPr>
        <p:spPr>
          <a:xfrm>
            <a:off x="4865002" y="4065099"/>
            <a:ext cx="1920240" cy="548640"/>
          </a:xfrm>
          <a:prstGeom prst="rect">
            <a:avLst/>
          </a:prstGeom>
          <a:noFill/>
          <a:ln/>
        </p:spPr>
        <p:txBody>
          <a:bodyPr wrap="square" lIns="0" tIns="0" rIns="0" bIns="0" rtlCol="0" anchor="ctr"/>
          <a:lstStyle/>
          <a:p>
            <a:pPr marL="0" indent="0" algn="ctr">
              <a:buNone/>
            </a:pPr>
            <a:r>
              <a:rPr lang="en-US" sz="1200" b="1" dirty="0">
                <a:solidFill>
                  <a:srgbClr val="0B3C49"/>
                </a:solidFill>
                <a:latin typeface="Calibri" pitchFamily="34" charset="0"/>
                <a:ea typeface="Calibri" pitchFamily="34" charset="-122"/>
                <a:cs typeface="Calibri" pitchFamily="34" charset="-120"/>
              </a:rPr>
              <a:t>Keep fish</a:t>
            </a:r>
            <a:endParaRPr lang="en-US" sz="1200" dirty="0"/>
          </a:p>
          <a:p>
            <a:pPr marL="0" indent="0" algn="ctr">
              <a:buNone/>
            </a:pPr>
            <a:r>
              <a:rPr lang="en-US" sz="1200" b="1" dirty="0">
                <a:solidFill>
                  <a:srgbClr val="0B3C49"/>
                </a:solidFill>
                <a:latin typeface="Calibri" pitchFamily="34" charset="0"/>
                <a:ea typeface="Calibri" pitchFamily="34" charset="-122"/>
                <a:cs typeface="Calibri" pitchFamily="34" charset="-120"/>
              </a:rPr>
              <a:t>alive</a:t>
            </a:r>
            <a:endParaRPr lang="en-US" sz="1200" dirty="0"/>
          </a:p>
        </p:txBody>
      </p:sp>
      <p:sp>
        <p:nvSpPr>
          <p:cNvPr id="16" name="Shape 12"/>
          <p:cNvSpPr/>
          <p:nvPr/>
        </p:nvSpPr>
        <p:spPr>
          <a:xfrm flipV="1">
            <a:off x="4499636" y="2447005"/>
            <a:ext cx="2650972" cy="0"/>
          </a:xfrm>
          <a:prstGeom prst="line">
            <a:avLst/>
          </a:prstGeom>
          <a:noFill/>
          <a:ln w="25400">
            <a:solidFill>
              <a:srgbClr val="02C39A"/>
            </a:solidFill>
            <a:prstDash val="solid"/>
          </a:ln>
        </p:spPr>
        <p:txBody>
          <a:bodyPr/>
          <a:lstStyle/>
          <a:p>
            <a:endParaRPr lang="fr-FR"/>
          </a:p>
        </p:txBody>
      </p:sp>
      <p:sp>
        <p:nvSpPr>
          <p:cNvPr id="17" name="Shape 13"/>
          <p:cNvSpPr/>
          <p:nvPr/>
        </p:nvSpPr>
        <p:spPr>
          <a:xfrm>
            <a:off x="7150608" y="2447005"/>
            <a:ext cx="0" cy="2650972"/>
          </a:xfrm>
          <a:prstGeom prst="line">
            <a:avLst/>
          </a:prstGeom>
          <a:noFill/>
          <a:ln w="25400">
            <a:solidFill>
              <a:srgbClr val="02C39A"/>
            </a:solidFill>
            <a:prstDash val="solid"/>
          </a:ln>
        </p:spPr>
        <p:txBody>
          <a:bodyPr/>
          <a:lstStyle/>
          <a:p>
            <a:endParaRPr lang="fr-FR"/>
          </a:p>
        </p:txBody>
      </p:sp>
      <p:sp>
        <p:nvSpPr>
          <p:cNvPr id="18" name="Shape 14"/>
          <p:cNvSpPr/>
          <p:nvPr/>
        </p:nvSpPr>
        <p:spPr>
          <a:xfrm>
            <a:off x="4499636" y="5097977"/>
            <a:ext cx="2650972" cy="0"/>
          </a:xfrm>
          <a:prstGeom prst="line">
            <a:avLst/>
          </a:prstGeom>
          <a:noFill/>
          <a:ln w="25400">
            <a:solidFill>
              <a:srgbClr val="02C39A"/>
            </a:solidFill>
            <a:prstDash val="solid"/>
          </a:ln>
        </p:spPr>
        <p:txBody>
          <a:bodyPr/>
          <a:lstStyle/>
          <a:p>
            <a:endParaRPr lang="fr-FR"/>
          </a:p>
        </p:txBody>
      </p:sp>
      <p:sp>
        <p:nvSpPr>
          <p:cNvPr id="19" name="Shape 15"/>
          <p:cNvSpPr/>
          <p:nvPr/>
        </p:nvSpPr>
        <p:spPr>
          <a:xfrm>
            <a:off x="4499636" y="2447005"/>
            <a:ext cx="0" cy="2650972"/>
          </a:xfrm>
          <a:prstGeom prst="line">
            <a:avLst/>
          </a:prstGeom>
          <a:noFill/>
          <a:ln w="25400">
            <a:solidFill>
              <a:srgbClr val="02C39A"/>
            </a:solidFill>
            <a:prstDash val="solid"/>
          </a:ln>
        </p:spPr>
        <p:txBody>
          <a:bodyPr/>
          <a:lstStyle/>
          <a:p>
            <a:endParaRPr lang="fr-FR"/>
          </a:p>
        </p:txBody>
      </p:sp>
      <p:sp>
        <p:nvSpPr>
          <p:cNvPr id="20" name="Shape 16"/>
          <p:cNvSpPr/>
          <p:nvPr/>
        </p:nvSpPr>
        <p:spPr>
          <a:xfrm>
            <a:off x="2597992" y="1724235"/>
            <a:ext cx="2743200" cy="1143000"/>
          </a:xfrm>
          <a:prstGeom prst="roundRect">
            <a:avLst>
              <a:gd name="adj" fmla="val 8000"/>
            </a:avLst>
          </a:prstGeom>
          <a:solidFill>
            <a:srgbClr val="FFFFFF"/>
          </a:solidFill>
          <a:ln/>
          <a:effectLst>
            <a:outerShdw blurRad="88900" dist="38100" dir="5400000" algn="bl" rotWithShape="0">
              <a:srgbClr val="0A2E36">
                <a:alpha val="16000"/>
              </a:srgbClr>
            </a:outerShdw>
          </a:effectLst>
        </p:spPr>
        <p:txBody>
          <a:bodyPr/>
          <a:lstStyle/>
          <a:p>
            <a:endParaRPr lang="fr-FR"/>
          </a:p>
        </p:txBody>
      </p:sp>
      <p:sp>
        <p:nvSpPr>
          <p:cNvPr id="21" name="Shape 17"/>
          <p:cNvSpPr/>
          <p:nvPr/>
        </p:nvSpPr>
        <p:spPr>
          <a:xfrm>
            <a:off x="2762584" y="2016843"/>
            <a:ext cx="548640" cy="548640"/>
          </a:xfrm>
          <a:prstGeom prst="ellipse">
            <a:avLst/>
          </a:prstGeom>
          <a:solidFill>
            <a:srgbClr val="F2B705"/>
          </a:solidFill>
          <a:ln/>
        </p:spPr>
        <p:txBody>
          <a:bodyPr/>
          <a:lstStyle/>
          <a:p>
            <a:endParaRPr lang="fr-FR"/>
          </a:p>
        </p:txBody>
      </p:sp>
      <p:pic>
        <p:nvPicPr>
          <p:cNvPr id="22" name="Image 2" descr="preencoded.png"/>
          <p:cNvPicPr>
            <a:picLocks noChangeAspect="1"/>
          </p:cNvPicPr>
          <p:nvPr/>
        </p:nvPicPr>
        <p:blipFill>
          <a:blip r:embed="rId5"/>
          <a:stretch>
            <a:fillRect/>
          </a:stretch>
        </p:blipFill>
        <p:spPr>
          <a:xfrm>
            <a:off x="2910717" y="2164976"/>
            <a:ext cx="252374" cy="252374"/>
          </a:xfrm>
          <a:prstGeom prst="rect">
            <a:avLst/>
          </a:prstGeom>
        </p:spPr>
      </p:pic>
      <p:sp>
        <p:nvSpPr>
          <p:cNvPr id="23" name="Text 18"/>
          <p:cNvSpPr/>
          <p:nvPr/>
        </p:nvSpPr>
        <p:spPr>
          <a:xfrm>
            <a:off x="3420952" y="1724235"/>
            <a:ext cx="1783080" cy="1143000"/>
          </a:xfrm>
          <a:prstGeom prst="rect">
            <a:avLst/>
          </a:prstGeom>
          <a:noFill/>
          <a:ln/>
        </p:spPr>
        <p:txBody>
          <a:bodyPr wrap="square" lIns="0" tIns="0" rIns="0" bIns="0" rtlCol="0" anchor="ctr"/>
          <a:lstStyle/>
          <a:p>
            <a:pPr marL="0" indent="0">
              <a:buNone/>
            </a:pPr>
            <a:r>
              <a:rPr lang="en-US" sz="1350" b="1" dirty="0">
                <a:solidFill>
                  <a:srgbClr val="0B3C49"/>
                </a:solidFill>
                <a:latin typeface="Calibri" pitchFamily="34" charset="0"/>
                <a:ea typeface="Calibri" pitchFamily="34" charset="-122"/>
                <a:cs typeface="Calibri" pitchFamily="34" charset="-120"/>
              </a:rPr>
              <a:t>Click &amp; play
</a:t>
            </a:r>
            <a:r>
              <a:rPr lang="en-US" sz="1000" dirty="0">
                <a:solidFill>
                  <a:srgbClr val="557079"/>
                </a:solidFill>
                <a:latin typeface="Calibri" pitchFamily="34" charset="0"/>
                <a:ea typeface="Calibri" pitchFamily="34" charset="-122"/>
                <a:cs typeface="Calibri" pitchFamily="34" charset="-120"/>
              </a:rPr>
              <a:t>Tap your fish and finish daily challenges</a:t>
            </a:r>
            <a:endParaRPr lang="en-US" sz="1350" dirty="0"/>
          </a:p>
        </p:txBody>
      </p:sp>
      <p:sp>
        <p:nvSpPr>
          <p:cNvPr id="24" name="Shape 19"/>
          <p:cNvSpPr/>
          <p:nvPr/>
        </p:nvSpPr>
        <p:spPr>
          <a:xfrm>
            <a:off x="6311295" y="1723453"/>
            <a:ext cx="2743200" cy="1143000"/>
          </a:xfrm>
          <a:prstGeom prst="roundRect">
            <a:avLst>
              <a:gd name="adj" fmla="val 8000"/>
            </a:avLst>
          </a:prstGeom>
          <a:solidFill>
            <a:srgbClr val="FFFFFF"/>
          </a:solidFill>
          <a:ln/>
          <a:effectLst>
            <a:outerShdw blurRad="88900" dist="38100" dir="5400000" algn="bl" rotWithShape="0">
              <a:srgbClr val="0A2E36">
                <a:alpha val="16000"/>
              </a:srgbClr>
            </a:outerShdw>
          </a:effectLst>
        </p:spPr>
        <p:txBody>
          <a:bodyPr/>
          <a:lstStyle/>
          <a:p>
            <a:endParaRPr lang="fr-FR"/>
          </a:p>
        </p:txBody>
      </p:sp>
      <p:sp>
        <p:nvSpPr>
          <p:cNvPr id="25" name="Shape 20"/>
          <p:cNvSpPr/>
          <p:nvPr/>
        </p:nvSpPr>
        <p:spPr>
          <a:xfrm>
            <a:off x="6475887" y="2016061"/>
            <a:ext cx="548640" cy="548640"/>
          </a:xfrm>
          <a:prstGeom prst="ellipse">
            <a:avLst/>
          </a:prstGeom>
          <a:solidFill>
            <a:srgbClr val="00A896"/>
          </a:solidFill>
          <a:ln/>
        </p:spPr>
        <p:txBody>
          <a:bodyPr/>
          <a:lstStyle/>
          <a:p>
            <a:endParaRPr lang="fr-FR"/>
          </a:p>
        </p:txBody>
      </p:sp>
      <p:pic>
        <p:nvPicPr>
          <p:cNvPr id="26" name="Image 3" descr="preencoded.png"/>
          <p:cNvPicPr>
            <a:picLocks noChangeAspect="1"/>
          </p:cNvPicPr>
          <p:nvPr/>
        </p:nvPicPr>
        <p:blipFill>
          <a:blip r:embed="rId6"/>
          <a:stretch>
            <a:fillRect/>
          </a:stretch>
        </p:blipFill>
        <p:spPr>
          <a:xfrm>
            <a:off x="6624020" y="2164194"/>
            <a:ext cx="252374" cy="252374"/>
          </a:xfrm>
          <a:prstGeom prst="rect">
            <a:avLst/>
          </a:prstGeom>
        </p:spPr>
      </p:pic>
      <p:sp>
        <p:nvSpPr>
          <p:cNvPr id="27" name="Text 21"/>
          <p:cNvSpPr/>
          <p:nvPr/>
        </p:nvSpPr>
        <p:spPr>
          <a:xfrm>
            <a:off x="7134255" y="1723453"/>
            <a:ext cx="1783080" cy="1143000"/>
          </a:xfrm>
          <a:prstGeom prst="rect">
            <a:avLst/>
          </a:prstGeom>
          <a:noFill/>
          <a:ln/>
        </p:spPr>
        <p:txBody>
          <a:bodyPr wrap="square" lIns="0" tIns="0" rIns="0" bIns="0" rtlCol="0" anchor="ctr"/>
          <a:lstStyle/>
          <a:p>
            <a:pPr marL="0" indent="0">
              <a:buNone/>
            </a:pPr>
            <a:r>
              <a:rPr lang="en-US" sz="1350" b="1" dirty="0">
                <a:solidFill>
                  <a:srgbClr val="0B3C49"/>
                </a:solidFill>
                <a:latin typeface="Calibri" pitchFamily="34" charset="0"/>
                <a:ea typeface="Calibri" pitchFamily="34" charset="-122"/>
                <a:cs typeface="Calibri" pitchFamily="34" charset="-120"/>
              </a:rPr>
              <a:t>Earn coins
</a:t>
            </a:r>
            <a:r>
              <a:rPr lang="en-US" sz="1000" dirty="0">
                <a:solidFill>
                  <a:srgbClr val="557079"/>
                </a:solidFill>
                <a:latin typeface="Calibri" pitchFamily="34" charset="0"/>
                <a:ea typeface="Calibri" pitchFamily="34" charset="-122"/>
                <a:cs typeface="Calibri" pitchFamily="34" charset="-120"/>
              </a:rPr>
              <a:t>Coins also accumulate automatically each minute</a:t>
            </a:r>
            <a:endParaRPr lang="en-US" sz="1350" dirty="0"/>
          </a:p>
        </p:txBody>
      </p:sp>
      <p:sp>
        <p:nvSpPr>
          <p:cNvPr id="28" name="Shape 22"/>
          <p:cNvSpPr/>
          <p:nvPr/>
        </p:nvSpPr>
        <p:spPr>
          <a:xfrm>
            <a:off x="6309360" y="4709160"/>
            <a:ext cx="2743200" cy="1143000"/>
          </a:xfrm>
          <a:prstGeom prst="roundRect">
            <a:avLst>
              <a:gd name="adj" fmla="val 8000"/>
            </a:avLst>
          </a:prstGeom>
          <a:solidFill>
            <a:srgbClr val="FFFFFF"/>
          </a:solidFill>
          <a:ln/>
          <a:effectLst>
            <a:outerShdw blurRad="88900" dist="38100" dir="5400000" algn="bl" rotWithShape="0">
              <a:srgbClr val="0A2E36">
                <a:alpha val="16000"/>
              </a:srgbClr>
            </a:outerShdw>
          </a:effectLst>
        </p:spPr>
        <p:txBody>
          <a:bodyPr/>
          <a:lstStyle/>
          <a:p>
            <a:endParaRPr lang="fr-FR"/>
          </a:p>
        </p:txBody>
      </p:sp>
      <p:sp>
        <p:nvSpPr>
          <p:cNvPr id="29" name="Shape 23"/>
          <p:cNvSpPr/>
          <p:nvPr/>
        </p:nvSpPr>
        <p:spPr>
          <a:xfrm>
            <a:off x="6473952" y="5001768"/>
            <a:ext cx="548640" cy="548640"/>
          </a:xfrm>
          <a:prstGeom prst="ellipse">
            <a:avLst/>
          </a:prstGeom>
          <a:solidFill>
            <a:srgbClr val="028090"/>
          </a:solidFill>
          <a:ln/>
        </p:spPr>
        <p:txBody>
          <a:bodyPr/>
          <a:lstStyle/>
          <a:p>
            <a:endParaRPr lang="fr-FR"/>
          </a:p>
        </p:txBody>
      </p:sp>
      <p:pic>
        <p:nvPicPr>
          <p:cNvPr id="30" name="Image 4" descr="preencoded.png"/>
          <p:cNvPicPr>
            <a:picLocks noChangeAspect="1"/>
          </p:cNvPicPr>
          <p:nvPr/>
        </p:nvPicPr>
        <p:blipFill>
          <a:blip r:embed="rId7"/>
          <a:stretch>
            <a:fillRect/>
          </a:stretch>
        </p:blipFill>
        <p:spPr>
          <a:xfrm>
            <a:off x="6622085" y="5149901"/>
            <a:ext cx="252374" cy="252374"/>
          </a:xfrm>
          <a:prstGeom prst="rect">
            <a:avLst/>
          </a:prstGeom>
        </p:spPr>
      </p:pic>
      <p:sp>
        <p:nvSpPr>
          <p:cNvPr id="31" name="Text 24"/>
          <p:cNvSpPr/>
          <p:nvPr/>
        </p:nvSpPr>
        <p:spPr>
          <a:xfrm>
            <a:off x="7132320" y="4709160"/>
            <a:ext cx="1783080" cy="1143000"/>
          </a:xfrm>
          <a:prstGeom prst="rect">
            <a:avLst/>
          </a:prstGeom>
          <a:noFill/>
          <a:ln/>
        </p:spPr>
        <p:txBody>
          <a:bodyPr wrap="square" lIns="0" tIns="0" rIns="0" bIns="0" rtlCol="0" anchor="ctr"/>
          <a:lstStyle/>
          <a:p>
            <a:pPr marL="0" indent="0">
              <a:buNone/>
            </a:pPr>
            <a:r>
              <a:rPr lang="en-US" sz="1350" b="1" dirty="0">
                <a:solidFill>
                  <a:srgbClr val="0B3C49"/>
                </a:solidFill>
                <a:latin typeface="Calibri" pitchFamily="34" charset="0"/>
                <a:ea typeface="Calibri" pitchFamily="34" charset="-122"/>
                <a:cs typeface="Calibri" pitchFamily="34" charset="-120"/>
              </a:rPr>
              <a:t>Buy food
</a:t>
            </a:r>
            <a:r>
              <a:rPr lang="en-US" sz="1000" dirty="0">
                <a:solidFill>
                  <a:srgbClr val="557079"/>
                </a:solidFill>
                <a:latin typeface="Calibri" pitchFamily="34" charset="0"/>
                <a:ea typeface="Calibri" pitchFamily="34" charset="-122"/>
                <a:cs typeface="Calibri" pitchFamily="34" charset="-120"/>
              </a:rPr>
              <a:t>Spend coins in the shop on food &amp; upgrades</a:t>
            </a:r>
            <a:endParaRPr lang="en-US" sz="1350" dirty="0"/>
          </a:p>
        </p:txBody>
      </p:sp>
      <p:sp>
        <p:nvSpPr>
          <p:cNvPr id="32" name="Shape 25"/>
          <p:cNvSpPr/>
          <p:nvPr/>
        </p:nvSpPr>
        <p:spPr>
          <a:xfrm>
            <a:off x="2597684" y="4709160"/>
            <a:ext cx="2743200" cy="1143000"/>
          </a:xfrm>
          <a:prstGeom prst="roundRect">
            <a:avLst>
              <a:gd name="adj" fmla="val 8000"/>
            </a:avLst>
          </a:prstGeom>
          <a:solidFill>
            <a:srgbClr val="FFFFFF"/>
          </a:solidFill>
          <a:ln/>
          <a:effectLst>
            <a:outerShdw blurRad="88900" dist="38100" dir="5400000" algn="bl" rotWithShape="0">
              <a:srgbClr val="0A2E36">
                <a:alpha val="16000"/>
              </a:srgbClr>
            </a:outerShdw>
          </a:effectLst>
        </p:spPr>
        <p:txBody>
          <a:bodyPr/>
          <a:lstStyle/>
          <a:p>
            <a:endParaRPr lang="fr-FR"/>
          </a:p>
        </p:txBody>
      </p:sp>
      <p:sp>
        <p:nvSpPr>
          <p:cNvPr id="33" name="Shape 26"/>
          <p:cNvSpPr/>
          <p:nvPr/>
        </p:nvSpPr>
        <p:spPr>
          <a:xfrm>
            <a:off x="2762276" y="5001768"/>
            <a:ext cx="548640" cy="548640"/>
          </a:xfrm>
          <a:prstGeom prst="ellipse">
            <a:avLst/>
          </a:prstGeom>
          <a:solidFill>
            <a:srgbClr val="02C39A"/>
          </a:solidFill>
          <a:ln/>
        </p:spPr>
        <p:txBody>
          <a:bodyPr/>
          <a:lstStyle/>
          <a:p>
            <a:endParaRPr lang="fr-FR"/>
          </a:p>
        </p:txBody>
      </p:sp>
      <p:pic>
        <p:nvPicPr>
          <p:cNvPr id="34" name="Image 5" descr="preencoded.png"/>
          <p:cNvPicPr>
            <a:picLocks noChangeAspect="1"/>
          </p:cNvPicPr>
          <p:nvPr/>
        </p:nvPicPr>
        <p:blipFill>
          <a:blip r:embed="rId8"/>
          <a:stretch>
            <a:fillRect/>
          </a:stretch>
        </p:blipFill>
        <p:spPr>
          <a:xfrm>
            <a:off x="2910409" y="5149901"/>
            <a:ext cx="252374" cy="252374"/>
          </a:xfrm>
          <a:prstGeom prst="rect">
            <a:avLst/>
          </a:prstGeom>
        </p:spPr>
      </p:pic>
      <p:sp>
        <p:nvSpPr>
          <p:cNvPr id="35" name="Text 27"/>
          <p:cNvSpPr/>
          <p:nvPr/>
        </p:nvSpPr>
        <p:spPr>
          <a:xfrm>
            <a:off x="3420644" y="4709160"/>
            <a:ext cx="1783080" cy="1143000"/>
          </a:xfrm>
          <a:prstGeom prst="rect">
            <a:avLst/>
          </a:prstGeom>
          <a:noFill/>
          <a:ln/>
        </p:spPr>
        <p:txBody>
          <a:bodyPr wrap="square" lIns="0" tIns="0" rIns="0" bIns="0" rtlCol="0" anchor="ctr"/>
          <a:lstStyle/>
          <a:p>
            <a:pPr marL="0" indent="0">
              <a:buNone/>
            </a:pPr>
            <a:r>
              <a:rPr lang="en-US" sz="1350" b="1" dirty="0">
                <a:solidFill>
                  <a:srgbClr val="0B3C49"/>
                </a:solidFill>
                <a:latin typeface="Calibri" pitchFamily="34" charset="0"/>
                <a:ea typeface="Calibri" pitchFamily="34" charset="-122"/>
                <a:cs typeface="Calibri" pitchFamily="34" charset="-120"/>
              </a:rPr>
              <a:t>Feed fish
</a:t>
            </a:r>
            <a:r>
              <a:rPr lang="en-US" sz="1000" dirty="0">
                <a:solidFill>
                  <a:srgbClr val="557079"/>
                </a:solidFill>
                <a:latin typeface="Calibri" pitchFamily="34" charset="0"/>
                <a:ea typeface="Calibri" pitchFamily="34" charset="-122"/>
                <a:cs typeface="Calibri" pitchFamily="34" charset="-120"/>
              </a:rPr>
              <a:t>Restore life points before they run out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02809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713232" y="621792"/>
            <a:ext cx="347472" cy="347472"/>
          </a:xfrm>
          <a:prstGeom prst="rect">
            <a:avLst/>
          </a:prstGeom>
        </p:spPr>
      </p:pic>
      <p:sp>
        <p:nvSpPr>
          <p:cNvPr id="4" name="Text 1"/>
          <p:cNvSpPr/>
          <p:nvPr/>
        </p:nvSpPr>
        <p:spPr>
          <a:xfrm>
            <a:off x="1417320" y="457200"/>
            <a:ext cx="8229600" cy="256032"/>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OVERVIEW OF FUNCTIONS</a:t>
            </a:r>
            <a:endParaRPr lang="en-US" sz="1200" dirty="0"/>
          </a:p>
        </p:txBody>
      </p:sp>
      <p:sp>
        <p:nvSpPr>
          <p:cNvPr id="5" name="Text 2"/>
          <p:cNvSpPr/>
          <p:nvPr/>
        </p:nvSpPr>
        <p:spPr>
          <a:xfrm>
            <a:off x="1389888" y="676656"/>
            <a:ext cx="10241280" cy="566928"/>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Use case diagram</a:t>
            </a:r>
            <a:endParaRPr lang="en-US" sz="3000" dirty="0"/>
          </a:p>
        </p:txBody>
      </p:sp>
      <p:sp>
        <p:nvSpPr>
          <p:cNvPr id="6" name="Shape 3"/>
          <p:cNvSpPr/>
          <p:nvPr/>
        </p:nvSpPr>
        <p:spPr>
          <a:xfrm>
            <a:off x="2834640" y="1508760"/>
            <a:ext cx="8823960" cy="4709160"/>
          </a:xfrm>
          <a:prstGeom prst="roundRect">
            <a:avLst>
              <a:gd name="adj" fmla="val 971"/>
            </a:avLst>
          </a:prstGeom>
          <a:solidFill>
            <a:srgbClr val="F7FCFC"/>
          </a:solidFill>
          <a:ln w="15875">
            <a:solidFill>
              <a:srgbClr val="557079"/>
            </a:solidFill>
            <a:prstDash val="solid"/>
          </a:ln>
        </p:spPr>
        <p:txBody>
          <a:bodyPr/>
          <a:lstStyle/>
          <a:p>
            <a:endParaRPr lang="fr-FR"/>
          </a:p>
        </p:txBody>
      </p:sp>
      <p:sp>
        <p:nvSpPr>
          <p:cNvPr id="7" name="Text 4"/>
          <p:cNvSpPr/>
          <p:nvPr/>
        </p:nvSpPr>
        <p:spPr>
          <a:xfrm>
            <a:off x="2971800" y="1581912"/>
            <a:ext cx="8549640" cy="292608"/>
          </a:xfrm>
          <a:prstGeom prst="rect">
            <a:avLst/>
          </a:prstGeom>
          <a:noFill/>
          <a:ln/>
        </p:spPr>
        <p:txBody>
          <a:bodyPr wrap="square" lIns="0" tIns="0" rIns="0" bIns="0" rtlCol="0" anchor="ctr"/>
          <a:lstStyle/>
          <a:p>
            <a:pPr marL="0" indent="0">
              <a:buNone/>
            </a:pPr>
            <a:r>
              <a:rPr lang="en-US" sz="1200" i="1" dirty="0">
                <a:solidFill>
                  <a:srgbClr val="557079"/>
                </a:solidFill>
                <a:latin typeface="Calibri" pitchFamily="34" charset="0"/>
                <a:ea typeface="Calibri" pitchFamily="34" charset="-122"/>
                <a:cs typeface="Calibri" pitchFamily="34" charset="-120"/>
              </a:rPr>
              <a:t>System :  Manage your little fish</a:t>
            </a:r>
            <a:endParaRPr lang="en-US" sz="1200" dirty="0"/>
          </a:p>
        </p:txBody>
      </p:sp>
      <p:sp>
        <p:nvSpPr>
          <p:cNvPr id="8" name="Shape 5"/>
          <p:cNvSpPr/>
          <p:nvPr/>
        </p:nvSpPr>
        <p:spPr>
          <a:xfrm>
            <a:off x="777240" y="1755648"/>
            <a:ext cx="786384" cy="786384"/>
          </a:xfrm>
          <a:prstGeom prst="ellipse">
            <a:avLst/>
          </a:prstGeom>
          <a:solidFill>
            <a:srgbClr val="557079"/>
          </a:solidFill>
          <a:ln/>
        </p:spPr>
        <p:txBody>
          <a:bodyPr/>
          <a:lstStyle/>
          <a:p>
            <a:endParaRPr lang="fr-FR"/>
          </a:p>
        </p:txBody>
      </p:sp>
      <p:pic>
        <p:nvPicPr>
          <p:cNvPr id="9" name="Image 1" descr="preencoded.png"/>
          <p:cNvPicPr>
            <a:picLocks noChangeAspect="1"/>
          </p:cNvPicPr>
          <p:nvPr/>
        </p:nvPicPr>
        <p:blipFill>
          <a:blip r:embed="rId4"/>
          <a:stretch>
            <a:fillRect/>
          </a:stretch>
        </p:blipFill>
        <p:spPr>
          <a:xfrm>
            <a:off x="969264" y="1947672"/>
            <a:ext cx="402336" cy="402336"/>
          </a:xfrm>
          <a:prstGeom prst="rect">
            <a:avLst/>
          </a:prstGeom>
        </p:spPr>
      </p:pic>
      <p:sp>
        <p:nvSpPr>
          <p:cNvPr id="10" name="Text 6"/>
          <p:cNvSpPr/>
          <p:nvPr/>
        </p:nvSpPr>
        <p:spPr>
          <a:xfrm>
            <a:off x="274320" y="2569464"/>
            <a:ext cx="1828800" cy="274320"/>
          </a:xfrm>
          <a:prstGeom prst="rect">
            <a:avLst/>
          </a:prstGeom>
          <a:noFill/>
          <a:ln/>
        </p:spPr>
        <p:txBody>
          <a:bodyPr wrap="square" lIns="0" tIns="0" rIns="0" bIns="0" rtlCol="0" anchor="ctr"/>
          <a:lstStyle/>
          <a:p>
            <a:pPr marL="0" indent="0" algn="ctr">
              <a:buNone/>
            </a:pPr>
            <a:r>
              <a:rPr lang="en-US" sz="1200" b="1" dirty="0">
                <a:solidFill>
                  <a:srgbClr val="0B3C49"/>
                </a:solidFill>
                <a:latin typeface="Calibri" pitchFamily="34" charset="0"/>
                <a:ea typeface="Calibri" pitchFamily="34" charset="-122"/>
                <a:cs typeface="Calibri" pitchFamily="34" charset="-120"/>
              </a:rPr>
              <a:t>Visitor</a:t>
            </a:r>
            <a:endParaRPr lang="en-US" sz="1200" dirty="0"/>
          </a:p>
        </p:txBody>
      </p:sp>
      <p:sp>
        <p:nvSpPr>
          <p:cNvPr id="11" name="Shape 7"/>
          <p:cNvSpPr/>
          <p:nvPr/>
        </p:nvSpPr>
        <p:spPr>
          <a:xfrm>
            <a:off x="777240" y="3493008"/>
            <a:ext cx="786384" cy="786384"/>
          </a:xfrm>
          <a:prstGeom prst="ellipse">
            <a:avLst/>
          </a:prstGeom>
          <a:solidFill>
            <a:srgbClr val="028090"/>
          </a:solidFill>
          <a:ln/>
        </p:spPr>
        <p:txBody>
          <a:bodyPr/>
          <a:lstStyle/>
          <a:p>
            <a:endParaRPr lang="fr-FR"/>
          </a:p>
        </p:txBody>
      </p:sp>
      <p:pic>
        <p:nvPicPr>
          <p:cNvPr id="12" name="Image 2" descr="preencoded.png"/>
          <p:cNvPicPr>
            <a:picLocks noChangeAspect="1"/>
          </p:cNvPicPr>
          <p:nvPr/>
        </p:nvPicPr>
        <p:blipFill>
          <a:blip r:embed="rId5"/>
          <a:stretch>
            <a:fillRect/>
          </a:stretch>
        </p:blipFill>
        <p:spPr>
          <a:xfrm>
            <a:off x="969264" y="3685032"/>
            <a:ext cx="402336" cy="402336"/>
          </a:xfrm>
          <a:prstGeom prst="rect">
            <a:avLst/>
          </a:prstGeom>
        </p:spPr>
      </p:pic>
      <p:sp>
        <p:nvSpPr>
          <p:cNvPr id="13" name="Text 8"/>
          <p:cNvSpPr/>
          <p:nvPr/>
        </p:nvSpPr>
        <p:spPr>
          <a:xfrm>
            <a:off x="256032" y="4306824"/>
            <a:ext cx="1828800" cy="274320"/>
          </a:xfrm>
          <a:prstGeom prst="rect">
            <a:avLst/>
          </a:prstGeom>
          <a:noFill/>
          <a:ln/>
        </p:spPr>
        <p:txBody>
          <a:bodyPr wrap="square" lIns="0" tIns="0" rIns="0" bIns="0" rtlCol="0" anchor="ctr"/>
          <a:lstStyle/>
          <a:p>
            <a:pPr marL="0" indent="0" algn="ctr">
              <a:buNone/>
            </a:pPr>
            <a:r>
              <a:rPr lang="en-US" sz="1200" b="1" dirty="0">
                <a:solidFill>
                  <a:srgbClr val="0B3C49"/>
                </a:solidFill>
                <a:latin typeface="Calibri" pitchFamily="34" charset="0"/>
                <a:ea typeface="Calibri" pitchFamily="34" charset="-122"/>
                <a:cs typeface="Calibri" pitchFamily="34" charset="-120"/>
              </a:rPr>
              <a:t>User</a:t>
            </a:r>
            <a:endParaRPr lang="en-US" sz="1200" dirty="0"/>
          </a:p>
        </p:txBody>
      </p:sp>
      <p:sp>
        <p:nvSpPr>
          <p:cNvPr id="14" name="Shape 9"/>
          <p:cNvSpPr/>
          <p:nvPr/>
        </p:nvSpPr>
        <p:spPr>
          <a:xfrm>
            <a:off x="777240" y="5230368"/>
            <a:ext cx="786384" cy="786384"/>
          </a:xfrm>
          <a:prstGeom prst="ellipse">
            <a:avLst/>
          </a:prstGeom>
          <a:solidFill>
            <a:srgbClr val="0B3C49"/>
          </a:solidFill>
          <a:ln/>
        </p:spPr>
        <p:txBody>
          <a:bodyPr/>
          <a:lstStyle/>
          <a:p>
            <a:endParaRPr lang="fr-FR"/>
          </a:p>
        </p:txBody>
      </p:sp>
      <p:pic>
        <p:nvPicPr>
          <p:cNvPr id="15" name="Image 3" descr="preencoded.png"/>
          <p:cNvPicPr>
            <a:picLocks noChangeAspect="1"/>
          </p:cNvPicPr>
          <p:nvPr/>
        </p:nvPicPr>
        <p:blipFill>
          <a:blip r:embed="rId6"/>
          <a:stretch>
            <a:fillRect/>
          </a:stretch>
        </p:blipFill>
        <p:spPr>
          <a:xfrm>
            <a:off x="969264" y="5422392"/>
            <a:ext cx="402336" cy="402336"/>
          </a:xfrm>
          <a:prstGeom prst="rect">
            <a:avLst/>
          </a:prstGeom>
        </p:spPr>
      </p:pic>
      <p:sp>
        <p:nvSpPr>
          <p:cNvPr id="16" name="Text 10"/>
          <p:cNvSpPr/>
          <p:nvPr/>
        </p:nvSpPr>
        <p:spPr>
          <a:xfrm>
            <a:off x="274320" y="6044184"/>
            <a:ext cx="1828800" cy="274320"/>
          </a:xfrm>
          <a:prstGeom prst="rect">
            <a:avLst/>
          </a:prstGeom>
          <a:noFill/>
          <a:ln/>
        </p:spPr>
        <p:txBody>
          <a:bodyPr wrap="square" lIns="0" tIns="0" rIns="0" bIns="0" rtlCol="0" anchor="ctr"/>
          <a:lstStyle/>
          <a:p>
            <a:pPr marL="0" indent="0" algn="ctr">
              <a:buNone/>
            </a:pPr>
            <a:r>
              <a:rPr lang="en-US" sz="1200" b="1" dirty="0">
                <a:solidFill>
                  <a:srgbClr val="0B3C49"/>
                </a:solidFill>
                <a:latin typeface="Calibri" pitchFamily="34" charset="0"/>
                <a:ea typeface="Calibri" pitchFamily="34" charset="-122"/>
                <a:cs typeface="Calibri" pitchFamily="34" charset="-120"/>
              </a:rPr>
              <a:t>Admin</a:t>
            </a:r>
            <a:endParaRPr lang="en-US" sz="1200" dirty="0"/>
          </a:p>
        </p:txBody>
      </p:sp>
      <p:sp>
        <p:nvSpPr>
          <p:cNvPr id="17" name="Text 11"/>
          <p:cNvSpPr/>
          <p:nvPr/>
        </p:nvSpPr>
        <p:spPr>
          <a:xfrm>
            <a:off x="182880" y="6126480"/>
            <a:ext cx="2468880" cy="457200"/>
          </a:xfrm>
          <a:prstGeom prst="rect">
            <a:avLst/>
          </a:prstGeom>
          <a:noFill/>
          <a:ln/>
        </p:spPr>
        <p:txBody>
          <a:bodyPr wrap="square" lIns="0" tIns="0" rIns="0" bIns="0" rtlCol="0" anchor="ctr"/>
          <a:lstStyle/>
          <a:p>
            <a:pPr marL="0" indent="0" algn="ctr">
              <a:buNone/>
            </a:pPr>
            <a:r>
              <a:rPr lang="en-US" sz="900" i="1" dirty="0">
                <a:solidFill>
                  <a:srgbClr val="557079"/>
                </a:solidFill>
                <a:latin typeface="Calibri" pitchFamily="34" charset="0"/>
                <a:ea typeface="Calibri" pitchFamily="34" charset="-122"/>
                <a:cs typeface="Calibri" pitchFamily="34" charset="-120"/>
              </a:rPr>
              <a:t>Admin ▸ User ▸ Visitor (inherits use cases)</a:t>
            </a:r>
            <a:endParaRPr lang="en-US" sz="900" dirty="0"/>
          </a:p>
        </p:txBody>
      </p:sp>
      <p:sp>
        <p:nvSpPr>
          <p:cNvPr id="18" name="Shape 12"/>
          <p:cNvSpPr/>
          <p:nvPr/>
        </p:nvSpPr>
        <p:spPr>
          <a:xfrm>
            <a:off x="1563624" y="2148840"/>
            <a:ext cx="1499616" cy="73152"/>
          </a:xfrm>
          <a:prstGeom prst="line">
            <a:avLst/>
          </a:prstGeom>
          <a:noFill/>
          <a:ln w="12700">
            <a:solidFill>
              <a:srgbClr val="557079"/>
            </a:solidFill>
            <a:prstDash val="solid"/>
          </a:ln>
        </p:spPr>
        <p:txBody>
          <a:bodyPr/>
          <a:lstStyle/>
          <a:p>
            <a:endParaRPr lang="fr-FR"/>
          </a:p>
        </p:txBody>
      </p:sp>
      <p:sp>
        <p:nvSpPr>
          <p:cNvPr id="19" name="Shape 13"/>
          <p:cNvSpPr/>
          <p:nvPr/>
        </p:nvSpPr>
        <p:spPr>
          <a:xfrm>
            <a:off x="1563624" y="2148840"/>
            <a:ext cx="5852160" cy="73152"/>
          </a:xfrm>
          <a:prstGeom prst="line">
            <a:avLst/>
          </a:prstGeom>
          <a:noFill/>
          <a:ln w="12700">
            <a:solidFill>
              <a:srgbClr val="557079"/>
            </a:solidFill>
            <a:prstDash val="solid"/>
          </a:ln>
        </p:spPr>
        <p:txBody>
          <a:bodyPr/>
          <a:lstStyle/>
          <a:p>
            <a:endParaRPr lang="fr-FR"/>
          </a:p>
        </p:txBody>
      </p:sp>
      <p:sp>
        <p:nvSpPr>
          <p:cNvPr id="20" name="Shape 14"/>
          <p:cNvSpPr/>
          <p:nvPr/>
        </p:nvSpPr>
        <p:spPr>
          <a:xfrm flipV="1">
            <a:off x="1563624" y="3182112"/>
            <a:ext cx="1499616" cy="704088"/>
          </a:xfrm>
          <a:prstGeom prst="line">
            <a:avLst/>
          </a:prstGeom>
          <a:noFill/>
          <a:ln w="12700">
            <a:solidFill>
              <a:srgbClr val="028090"/>
            </a:solidFill>
            <a:prstDash val="solid"/>
          </a:ln>
        </p:spPr>
        <p:txBody>
          <a:bodyPr/>
          <a:lstStyle/>
          <a:p>
            <a:endParaRPr lang="fr-FR"/>
          </a:p>
        </p:txBody>
      </p:sp>
      <p:sp>
        <p:nvSpPr>
          <p:cNvPr id="21" name="Shape 15"/>
          <p:cNvSpPr/>
          <p:nvPr/>
        </p:nvSpPr>
        <p:spPr>
          <a:xfrm flipV="1">
            <a:off x="1563624" y="3182112"/>
            <a:ext cx="3675888" cy="704088"/>
          </a:xfrm>
          <a:prstGeom prst="line">
            <a:avLst/>
          </a:prstGeom>
          <a:noFill/>
          <a:ln w="12700">
            <a:solidFill>
              <a:srgbClr val="028090"/>
            </a:solidFill>
            <a:prstDash val="solid"/>
          </a:ln>
        </p:spPr>
        <p:txBody>
          <a:bodyPr/>
          <a:lstStyle/>
          <a:p>
            <a:endParaRPr lang="fr-FR"/>
          </a:p>
        </p:txBody>
      </p:sp>
      <p:sp>
        <p:nvSpPr>
          <p:cNvPr id="22" name="Shape 16"/>
          <p:cNvSpPr/>
          <p:nvPr/>
        </p:nvSpPr>
        <p:spPr>
          <a:xfrm flipV="1">
            <a:off x="1563624" y="3182112"/>
            <a:ext cx="5852160" cy="704088"/>
          </a:xfrm>
          <a:prstGeom prst="line">
            <a:avLst/>
          </a:prstGeom>
          <a:noFill/>
          <a:ln w="12700">
            <a:solidFill>
              <a:srgbClr val="028090"/>
            </a:solidFill>
            <a:prstDash val="solid"/>
          </a:ln>
        </p:spPr>
        <p:txBody>
          <a:bodyPr/>
          <a:lstStyle/>
          <a:p>
            <a:endParaRPr lang="fr-FR"/>
          </a:p>
        </p:txBody>
      </p:sp>
      <p:sp>
        <p:nvSpPr>
          <p:cNvPr id="23" name="Shape 17"/>
          <p:cNvSpPr/>
          <p:nvPr/>
        </p:nvSpPr>
        <p:spPr>
          <a:xfrm flipV="1">
            <a:off x="1563624" y="3182112"/>
            <a:ext cx="8028432" cy="704088"/>
          </a:xfrm>
          <a:prstGeom prst="line">
            <a:avLst/>
          </a:prstGeom>
          <a:noFill/>
          <a:ln w="12700">
            <a:solidFill>
              <a:srgbClr val="028090"/>
            </a:solidFill>
            <a:prstDash val="solid"/>
          </a:ln>
        </p:spPr>
        <p:txBody>
          <a:bodyPr/>
          <a:lstStyle/>
          <a:p>
            <a:endParaRPr lang="fr-FR"/>
          </a:p>
        </p:txBody>
      </p:sp>
      <p:sp>
        <p:nvSpPr>
          <p:cNvPr id="24" name="Shape 18"/>
          <p:cNvSpPr/>
          <p:nvPr/>
        </p:nvSpPr>
        <p:spPr>
          <a:xfrm>
            <a:off x="1563624" y="3886200"/>
            <a:ext cx="1499616" cy="301752"/>
          </a:xfrm>
          <a:prstGeom prst="line">
            <a:avLst/>
          </a:prstGeom>
          <a:noFill/>
          <a:ln w="12700">
            <a:solidFill>
              <a:srgbClr val="028090"/>
            </a:solidFill>
            <a:prstDash val="solid"/>
          </a:ln>
        </p:spPr>
        <p:txBody>
          <a:bodyPr/>
          <a:lstStyle/>
          <a:p>
            <a:endParaRPr lang="fr-FR"/>
          </a:p>
        </p:txBody>
      </p:sp>
      <p:sp>
        <p:nvSpPr>
          <p:cNvPr id="25" name="Shape 19"/>
          <p:cNvSpPr/>
          <p:nvPr/>
        </p:nvSpPr>
        <p:spPr>
          <a:xfrm>
            <a:off x="1563624" y="3886200"/>
            <a:ext cx="3675888" cy="301752"/>
          </a:xfrm>
          <a:prstGeom prst="line">
            <a:avLst/>
          </a:prstGeom>
          <a:noFill/>
          <a:ln w="12700">
            <a:solidFill>
              <a:srgbClr val="028090"/>
            </a:solidFill>
            <a:prstDash val="solid"/>
          </a:ln>
        </p:spPr>
        <p:txBody>
          <a:bodyPr/>
          <a:lstStyle/>
          <a:p>
            <a:endParaRPr lang="fr-FR"/>
          </a:p>
        </p:txBody>
      </p:sp>
      <p:sp>
        <p:nvSpPr>
          <p:cNvPr id="26" name="Shape 20"/>
          <p:cNvSpPr/>
          <p:nvPr/>
        </p:nvSpPr>
        <p:spPr>
          <a:xfrm>
            <a:off x="1563624" y="3886200"/>
            <a:ext cx="5852160" cy="301752"/>
          </a:xfrm>
          <a:prstGeom prst="line">
            <a:avLst/>
          </a:prstGeom>
          <a:noFill/>
          <a:ln w="12700">
            <a:solidFill>
              <a:srgbClr val="028090"/>
            </a:solidFill>
            <a:prstDash val="solid"/>
          </a:ln>
        </p:spPr>
        <p:txBody>
          <a:bodyPr/>
          <a:lstStyle/>
          <a:p>
            <a:endParaRPr lang="fr-FR"/>
          </a:p>
        </p:txBody>
      </p:sp>
      <p:sp>
        <p:nvSpPr>
          <p:cNvPr id="27" name="Shape 21"/>
          <p:cNvSpPr/>
          <p:nvPr/>
        </p:nvSpPr>
        <p:spPr>
          <a:xfrm>
            <a:off x="1563624" y="3886200"/>
            <a:ext cx="8028432" cy="301752"/>
          </a:xfrm>
          <a:prstGeom prst="line">
            <a:avLst/>
          </a:prstGeom>
          <a:noFill/>
          <a:ln w="12700">
            <a:solidFill>
              <a:srgbClr val="028090"/>
            </a:solidFill>
            <a:prstDash val="solid"/>
          </a:ln>
        </p:spPr>
        <p:txBody>
          <a:bodyPr/>
          <a:lstStyle/>
          <a:p>
            <a:endParaRPr lang="fr-FR"/>
          </a:p>
        </p:txBody>
      </p:sp>
      <p:sp>
        <p:nvSpPr>
          <p:cNvPr id="28" name="Shape 22"/>
          <p:cNvSpPr/>
          <p:nvPr/>
        </p:nvSpPr>
        <p:spPr>
          <a:xfrm flipV="1">
            <a:off x="1563624" y="5285232"/>
            <a:ext cx="4764024" cy="338328"/>
          </a:xfrm>
          <a:prstGeom prst="line">
            <a:avLst/>
          </a:prstGeom>
          <a:noFill/>
          <a:ln w="15875">
            <a:solidFill>
              <a:srgbClr val="0B3C49"/>
            </a:solidFill>
            <a:prstDash val="solid"/>
          </a:ln>
        </p:spPr>
        <p:txBody>
          <a:bodyPr/>
          <a:lstStyle/>
          <a:p>
            <a:endParaRPr lang="fr-FR"/>
          </a:p>
        </p:txBody>
      </p:sp>
      <p:sp>
        <p:nvSpPr>
          <p:cNvPr id="29" name="Shape 23"/>
          <p:cNvSpPr/>
          <p:nvPr/>
        </p:nvSpPr>
        <p:spPr>
          <a:xfrm>
            <a:off x="3063240" y="1828800"/>
            <a:ext cx="1993392" cy="786384"/>
          </a:xfrm>
          <a:prstGeom prst="ellipse">
            <a:avLst/>
          </a:prstGeom>
          <a:solidFill>
            <a:srgbClr val="EAF6F6"/>
          </a:solidFill>
          <a:ln w="15875">
            <a:solidFill>
              <a:srgbClr val="028090"/>
            </a:solidFill>
            <a:prstDash val="solid"/>
          </a:ln>
        </p:spPr>
        <p:txBody>
          <a:bodyPr/>
          <a:lstStyle/>
          <a:p>
            <a:endParaRPr lang="fr-FR"/>
          </a:p>
        </p:txBody>
      </p:sp>
      <p:sp>
        <p:nvSpPr>
          <p:cNvPr id="30" name="Text 24"/>
          <p:cNvSpPr/>
          <p:nvPr/>
        </p:nvSpPr>
        <p:spPr>
          <a:xfrm>
            <a:off x="3108960" y="1828800"/>
            <a:ext cx="1901952" cy="786384"/>
          </a:xfrm>
          <a:prstGeom prst="rect">
            <a:avLst/>
          </a:prstGeom>
          <a:noFill/>
          <a:ln/>
        </p:spPr>
        <p:txBody>
          <a:bodyPr wrap="square" lIns="12700" tIns="12700" rIns="12700" bIns="12700" rtlCol="0" anchor="ctr"/>
          <a:lstStyle/>
          <a:p>
            <a:pPr marL="0" indent="0" algn="ctr">
              <a:buNone/>
            </a:pPr>
            <a:r>
              <a:rPr lang="en-US" sz="1050" b="1" dirty="0">
                <a:solidFill>
                  <a:srgbClr val="0B3C49"/>
                </a:solidFill>
                <a:latin typeface="Calibri" pitchFamily="34" charset="0"/>
                <a:ea typeface="Calibri" pitchFamily="34" charset="-122"/>
                <a:cs typeface="Calibri" pitchFamily="34" charset="-120"/>
              </a:rPr>
              <a:t>Search &amp; view</a:t>
            </a:r>
            <a:endParaRPr lang="en-US" sz="1050" dirty="0"/>
          </a:p>
          <a:p>
            <a:pPr marL="0" indent="0" algn="ctr">
              <a:buNone/>
            </a:pPr>
            <a:r>
              <a:rPr lang="en-US" sz="1050" b="1" dirty="0">
                <a:solidFill>
                  <a:srgbClr val="0B3C49"/>
                </a:solidFill>
                <a:latin typeface="Calibri" pitchFamily="34" charset="0"/>
                <a:ea typeface="Calibri" pitchFamily="34" charset="-122"/>
                <a:cs typeface="Calibri" pitchFamily="34" charset="-120"/>
              </a:rPr>
              <a:t>other users' fish</a:t>
            </a:r>
            <a:endParaRPr lang="en-US" sz="1050" dirty="0"/>
          </a:p>
        </p:txBody>
      </p:sp>
      <p:sp>
        <p:nvSpPr>
          <p:cNvPr id="31" name="Shape 25"/>
          <p:cNvSpPr/>
          <p:nvPr/>
        </p:nvSpPr>
        <p:spPr>
          <a:xfrm>
            <a:off x="7415784" y="1828800"/>
            <a:ext cx="1993392" cy="786384"/>
          </a:xfrm>
          <a:prstGeom prst="ellipse">
            <a:avLst/>
          </a:prstGeom>
          <a:solidFill>
            <a:srgbClr val="EAF6F6"/>
          </a:solidFill>
          <a:ln w="15875">
            <a:solidFill>
              <a:srgbClr val="028090"/>
            </a:solidFill>
            <a:prstDash val="solid"/>
          </a:ln>
        </p:spPr>
        <p:txBody>
          <a:bodyPr/>
          <a:lstStyle/>
          <a:p>
            <a:endParaRPr lang="fr-FR"/>
          </a:p>
        </p:txBody>
      </p:sp>
      <p:sp>
        <p:nvSpPr>
          <p:cNvPr id="32" name="Text 26"/>
          <p:cNvSpPr/>
          <p:nvPr/>
        </p:nvSpPr>
        <p:spPr>
          <a:xfrm>
            <a:off x="7461504" y="1828800"/>
            <a:ext cx="1901952" cy="786384"/>
          </a:xfrm>
          <a:prstGeom prst="rect">
            <a:avLst/>
          </a:prstGeom>
          <a:noFill/>
          <a:ln/>
        </p:spPr>
        <p:txBody>
          <a:bodyPr wrap="square" lIns="12700" tIns="12700" rIns="12700" bIns="12700" rtlCol="0" anchor="ctr"/>
          <a:lstStyle/>
          <a:p>
            <a:pPr marL="0" indent="0" algn="ctr">
              <a:buNone/>
            </a:pPr>
            <a:r>
              <a:rPr lang="en-US" sz="1050" b="1" dirty="0">
                <a:solidFill>
                  <a:srgbClr val="0B3C49"/>
                </a:solidFill>
                <a:latin typeface="Calibri" pitchFamily="34" charset="0"/>
                <a:ea typeface="Calibri" pitchFamily="34" charset="-122"/>
                <a:cs typeface="Calibri" pitchFamily="34" charset="-120"/>
              </a:rPr>
              <a:t>Browse public</a:t>
            </a:r>
            <a:endParaRPr lang="en-US" sz="1050" dirty="0"/>
          </a:p>
          <a:p>
            <a:pPr marL="0" indent="0" algn="ctr">
              <a:buNone/>
            </a:pPr>
            <a:r>
              <a:rPr lang="en-US" sz="1050" b="1" dirty="0">
                <a:solidFill>
                  <a:srgbClr val="0B3C49"/>
                </a:solidFill>
                <a:latin typeface="Calibri" pitchFamily="34" charset="0"/>
                <a:ea typeface="Calibri" pitchFamily="34" charset="-122"/>
                <a:cs typeface="Calibri" pitchFamily="34" charset="-120"/>
              </a:rPr>
              <a:t>aquariums</a:t>
            </a:r>
            <a:endParaRPr lang="en-US" sz="1050" dirty="0"/>
          </a:p>
        </p:txBody>
      </p:sp>
      <p:sp>
        <p:nvSpPr>
          <p:cNvPr id="33" name="Shape 27"/>
          <p:cNvSpPr/>
          <p:nvPr/>
        </p:nvSpPr>
        <p:spPr>
          <a:xfrm>
            <a:off x="3063240" y="2788920"/>
            <a:ext cx="1993392" cy="786384"/>
          </a:xfrm>
          <a:prstGeom prst="ellipse">
            <a:avLst/>
          </a:prstGeom>
          <a:solidFill>
            <a:srgbClr val="EAF6F6"/>
          </a:solidFill>
          <a:ln w="15875">
            <a:solidFill>
              <a:srgbClr val="028090"/>
            </a:solidFill>
            <a:prstDash val="solid"/>
          </a:ln>
        </p:spPr>
        <p:txBody>
          <a:bodyPr/>
          <a:lstStyle/>
          <a:p>
            <a:endParaRPr lang="fr-FR"/>
          </a:p>
        </p:txBody>
      </p:sp>
      <p:sp>
        <p:nvSpPr>
          <p:cNvPr id="34" name="Text 28"/>
          <p:cNvSpPr/>
          <p:nvPr/>
        </p:nvSpPr>
        <p:spPr>
          <a:xfrm>
            <a:off x="3108960" y="2788920"/>
            <a:ext cx="1901952" cy="786384"/>
          </a:xfrm>
          <a:prstGeom prst="rect">
            <a:avLst/>
          </a:prstGeom>
          <a:noFill/>
          <a:ln/>
        </p:spPr>
        <p:txBody>
          <a:bodyPr wrap="square" lIns="12700" tIns="12700" rIns="12700" bIns="12700" rtlCol="0" anchor="ctr"/>
          <a:lstStyle/>
          <a:p>
            <a:pPr marL="0" indent="0" algn="ctr">
              <a:buNone/>
            </a:pPr>
            <a:r>
              <a:rPr lang="en-US" sz="1050" b="1" dirty="0">
                <a:solidFill>
                  <a:srgbClr val="0B3C49"/>
                </a:solidFill>
                <a:latin typeface="Calibri" pitchFamily="34" charset="0"/>
                <a:ea typeface="Calibri" pitchFamily="34" charset="-122"/>
                <a:cs typeface="Calibri" pitchFamily="34" charset="-120"/>
              </a:rPr>
              <a:t>Manage fish</a:t>
            </a:r>
            <a:endParaRPr lang="en-US" sz="1050" dirty="0"/>
          </a:p>
          <a:p>
            <a:pPr marL="0" indent="0" algn="ctr">
              <a:buNone/>
            </a:pPr>
            <a:r>
              <a:rPr lang="en-US" sz="1050" b="1" dirty="0">
                <a:solidFill>
                  <a:srgbClr val="0B3C49"/>
                </a:solidFill>
                <a:latin typeface="Calibri" pitchFamily="34" charset="0"/>
                <a:ea typeface="Calibri" pitchFamily="34" charset="-122"/>
                <a:cs typeface="Calibri" pitchFamily="34" charset="-120"/>
              </a:rPr>
              <a:t>(CRUD) + filter</a:t>
            </a:r>
            <a:endParaRPr lang="en-US" sz="1050" dirty="0"/>
          </a:p>
        </p:txBody>
      </p:sp>
      <p:sp>
        <p:nvSpPr>
          <p:cNvPr id="35" name="Shape 29"/>
          <p:cNvSpPr/>
          <p:nvPr/>
        </p:nvSpPr>
        <p:spPr>
          <a:xfrm>
            <a:off x="5239512" y="2788920"/>
            <a:ext cx="1993392" cy="786384"/>
          </a:xfrm>
          <a:prstGeom prst="ellipse">
            <a:avLst/>
          </a:prstGeom>
          <a:solidFill>
            <a:srgbClr val="EAF6F6"/>
          </a:solidFill>
          <a:ln w="15875">
            <a:solidFill>
              <a:srgbClr val="028090"/>
            </a:solidFill>
            <a:prstDash val="solid"/>
          </a:ln>
        </p:spPr>
        <p:txBody>
          <a:bodyPr/>
          <a:lstStyle/>
          <a:p>
            <a:endParaRPr lang="fr-FR"/>
          </a:p>
        </p:txBody>
      </p:sp>
      <p:sp>
        <p:nvSpPr>
          <p:cNvPr id="36" name="Text 30"/>
          <p:cNvSpPr/>
          <p:nvPr/>
        </p:nvSpPr>
        <p:spPr>
          <a:xfrm>
            <a:off x="5285232" y="2788920"/>
            <a:ext cx="1901952" cy="786384"/>
          </a:xfrm>
          <a:prstGeom prst="rect">
            <a:avLst/>
          </a:prstGeom>
          <a:noFill/>
          <a:ln/>
        </p:spPr>
        <p:txBody>
          <a:bodyPr wrap="square" lIns="12700" tIns="12700" rIns="12700" bIns="12700" rtlCol="0" anchor="ctr"/>
          <a:lstStyle/>
          <a:p>
            <a:pPr marL="0" indent="0" algn="ctr">
              <a:buNone/>
            </a:pPr>
            <a:r>
              <a:rPr lang="en-US" sz="1050" b="1" dirty="0">
                <a:solidFill>
                  <a:srgbClr val="0B3C49"/>
                </a:solidFill>
                <a:latin typeface="Calibri" pitchFamily="34" charset="0"/>
                <a:ea typeface="Calibri" pitchFamily="34" charset="-122"/>
                <a:cs typeface="Calibri" pitchFamily="34" charset="-120"/>
              </a:rPr>
              <a:t>Feed fish /</a:t>
            </a:r>
            <a:endParaRPr lang="en-US" sz="1050" dirty="0"/>
          </a:p>
          <a:p>
            <a:pPr marL="0" indent="0" algn="ctr">
              <a:buNone/>
            </a:pPr>
            <a:r>
              <a:rPr lang="en-US" sz="1050" b="1" dirty="0">
                <a:solidFill>
                  <a:srgbClr val="0B3C49"/>
                </a:solidFill>
                <a:latin typeface="Calibri" pitchFamily="34" charset="0"/>
                <a:ea typeface="Calibri" pitchFamily="34" charset="-122"/>
                <a:cs typeface="Calibri" pitchFamily="34" charset="-120"/>
              </a:rPr>
              <a:t>keep alive</a:t>
            </a:r>
            <a:endParaRPr lang="en-US" sz="1050" dirty="0"/>
          </a:p>
        </p:txBody>
      </p:sp>
      <p:sp>
        <p:nvSpPr>
          <p:cNvPr id="37" name="Shape 31"/>
          <p:cNvSpPr/>
          <p:nvPr/>
        </p:nvSpPr>
        <p:spPr>
          <a:xfrm>
            <a:off x="7415784" y="2788920"/>
            <a:ext cx="1993392" cy="786384"/>
          </a:xfrm>
          <a:prstGeom prst="ellipse">
            <a:avLst/>
          </a:prstGeom>
          <a:solidFill>
            <a:srgbClr val="EAF6F6"/>
          </a:solidFill>
          <a:ln w="15875">
            <a:solidFill>
              <a:srgbClr val="028090"/>
            </a:solidFill>
            <a:prstDash val="solid"/>
          </a:ln>
        </p:spPr>
        <p:txBody>
          <a:bodyPr/>
          <a:lstStyle/>
          <a:p>
            <a:endParaRPr lang="fr-FR"/>
          </a:p>
        </p:txBody>
      </p:sp>
      <p:sp>
        <p:nvSpPr>
          <p:cNvPr id="38" name="Text 32"/>
          <p:cNvSpPr/>
          <p:nvPr/>
        </p:nvSpPr>
        <p:spPr>
          <a:xfrm>
            <a:off x="7461504" y="2788920"/>
            <a:ext cx="1901952" cy="786384"/>
          </a:xfrm>
          <a:prstGeom prst="rect">
            <a:avLst/>
          </a:prstGeom>
          <a:noFill/>
          <a:ln/>
        </p:spPr>
        <p:txBody>
          <a:bodyPr wrap="square" lIns="12700" tIns="12700" rIns="12700" bIns="12700" rtlCol="0" anchor="ctr"/>
          <a:lstStyle/>
          <a:p>
            <a:pPr marL="0" indent="0" algn="ctr">
              <a:buNone/>
            </a:pPr>
            <a:r>
              <a:rPr lang="en-US" sz="1050" b="1" dirty="0">
                <a:solidFill>
                  <a:srgbClr val="0B3C49"/>
                </a:solidFill>
                <a:latin typeface="Calibri" pitchFamily="34" charset="0"/>
                <a:ea typeface="Calibri" pitchFamily="34" charset="-122"/>
                <a:cs typeface="Calibri" pitchFamily="34" charset="-120"/>
              </a:rPr>
              <a:t>Click fish →</a:t>
            </a:r>
            <a:endParaRPr lang="en-US" sz="1050" dirty="0"/>
          </a:p>
          <a:p>
            <a:pPr marL="0" indent="0" algn="ctr">
              <a:buNone/>
            </a:pPr>
            <a:r>
              <a:rPr lang="en-US" sz="1050" b="1" dirty="0">
                <a:solidFill>
                  <a:srgbClr val="0B3C49"/>
                </a:solidFill>
                <a:latin typeface="Calibri" pitchFamily="34" charset="0"/>
                <a:ea typeface="Calibri" pitchFamily="34" charset="-122"/>
                <a:cs typeface="Calibri" pitchFamily="34" charset="-120"/>
              </a:rPr>
              <a:t>earn coins</a:t>
            </a:r>
            <a:endParaRPr lang="en-US" sz="1050" dirty="0"/>
          </a:p>
        </p:txBody>
      </p:sp>
      <p:sp>
        <p:nvSpPr>
          <p:cNvPr id="39" name="Shape 33"/>
          <p:cNvSpPr/>
          <p:nvPr/>
        </p:nvSpPr>
        <p:spPr>
          <a:xfrm>
            <a:off x="9592056" y="2788920"/>
            <a:ext cx="1993392" cy="786384"/>
          </a:xfrm>
          <a:prstGeom prst="ellipse">
            <a:avLst/>
          </a:prstGeom>
          <a:solidFill>
            <a:srgbClr val="EAF6F6"/>
          </a:solidFill>
          <a:ln w="15875">
            <a:solidFill>
              <a:srgbClr val="028090"/>
            </a:solidFill>
            <a:prstDash val="solid"/>
          </a:ln>
        </p:spPr>
        <p:txBody>
          <a:bodyPr/>
          <a:lstStyle/>
          <a:p>
            <a:endParaRPr lang="fr-FR"/>
          </a:p>
        </p:txBody>
      </p:sp>
      <p:sp>
        <p:nvSpPr>
          <p:cNvPr id="40" name="Text 34"/>
          <p:cNvSpPr/>
          <p:nvPr/>
        </p:nvSpPr>
        <p:spPr>
          <a:xfrm>
            <a:off x="9637776" y="2788920"/>
            <a:ext cx="1901952" cy="786384"/>
          </a:xfrm>
          <a:prstGeom prst="rect">
            <a:avLst/>
          </a:prstGeom>
          <a:noFill/>
          <a:ln/>
        </p:spPr>
        <p:txBody>
          <a:bodyPr wrap="square" lIns="12700" tIns="12700" rIns="12700" bIns="12700" rtlCol="0" anchor="ctr"/>
          <a:lstStyle/>
          <a:p>
            <a:pPr marL="0" indent="0" algn="ctr">
              <a:buNone/>
            </a:pPr>
            <a:r>
              <a:rPr lang="en-US" sz="1050" b="1" dirty="0">
                <a:solidFill>
                  <a:srgbClr val="0B3C49"/>
                </a:solidFill>
                <a:latin typeface="Calibri" pitchFamily="34" charset="0"/>
                <a:ea typeface="Calibri" pitchFamily="34" charset="-122"/>
                <a:cs typeface="Calibri" pitchFamily="34" charset="-120"/>
              </a:rPr>
              <a:t>Manage profile</a:t>
            </a:r>
            <a:endParaRPr lang="en-US" sz="1050" dirty="0"/>
          </a:p>
          <a:p>
            <a:pPr marL="0" indent="0" algn="ctr">
              <a:buNone/>
            </a:pPr>
            <a:r>
              <a:rPr lang="en-US" sz="1050" b="1" dirty="0">
                <a:solidFill>
                  <a:srgbClr val="0B3C49"/>
                </a:solidFill>
                <a:latin typeface="Calibri" pitchFamily="34" charset="0"/>
                <a:ea typeface="Calibri" pitchFamily="34" charset="-122"/>
                <a:cs typeface="Calibri" pitchFamily="34" charset="-120"/>
              </a:rPr>
              <a:t>&amp; preferences</a:t>
            </a:r>
            <a:endParaRPr lang="en-US" sz="1050" dirty="0"/>
          </a:p>
        </p:txBody>
      </p:sp>
      <p:sp>
        <p:nvSpPr>
          <p:cNvPr id="41" name="Shape 35"/>
          <p:cNvSpPr/>
          <p:nvPr/>
        </p:nvSpPr>
        <p:spPr>
          <a:xfrm>
            <a:off x="3063240" y="3794760"/>
            <a:ext cx="1993392" cy="786384"/>
          </a:xfrm>
          <a:prstGeom prst="ellipse">
            <a:avLst/>
          </a:prstGeom>
          <a:solidFill>
            <a:srgbClr val="EAF6F6"/>
          </a:solidFill>
          <a:ln w="15875">
            <a:solidFill>
              <a:srgbClr val="028090"/>
            </a:solidFill>
            <a:prstDash val="solid"/>
          </a:ln>
        </p:spPr>
        <p:txBody>
          <a:bodyPr/>
          <a:lstStyle/>
          <a:p>
            <a:endParaRPr lang="fr-FR"/>
          </a:p>
        </p:txBody>
      </p:sp>
      <p:sp>
        <p:nvSpPr>
          <p:cNvPr id="42" name="Text 36"/>
          <p:cNvSpPr/>
          <p:nvPr/>
        </p:nvSpPr>
        <p:spPr>
          <a:xfrm>
            <a:off x="3108960" y="3794760"/>
            <a:ext cx="1901952" cy="786384"/>
          </a:xfrm>
          <a:prstGeom prst="rect">
            <a:avLst/>
          </a:prstGeom>
          <a:noFill/>
          <a:ln/>
        </p:spPr>
        <p:txBody>
          <a:bodyPr wrap="square" lIns="12700" tIns="12700" rIns="12700" bIns="12700" rtlCol="0" anchor="ctr"/>
          <a:lstStyle/>
          <a:p>
            <a:pPr marL="0" indent="0" algn="ctr">
              <a:buNone/>
            </a:pPr>
            <a:r>
              <a:rPr lang="en-US" sz="1050" b="1" dirty="0">
                <a:solidFill>
                  <a:srgbClr val="0B3C49"/>
                </a:solidFill>
                <a:latin typeface="Calibri" pitchFamily="34" charset="0"/>
                <a:ea typeface="Calibri" pitchFamily="34" charset="-122"/>
                <a:cs typeface="Calibri" pitchFamily="34" charset="-120"/>
              </a:rPr>
              <a:t>Shop: food &amp;</a:t>
            </a:r>
            <a:endParaRPr lang="en-US" sz="1050" dirty="0"/>
          </a:p>
          <a:p>
            <a:pPr marL="0" indent="0" algn="ctr">
              <a:buNone/>
            </a:pPr>
            <a:r>
              <a:rPr lang="en-US" sz="1050" b="1" dirty="0">
                <a:solidFill>
                  <a:srgbClr val="0B3C49"/>
                </a:solidFill>
                <a:latin typeface="Calibri" pitchFamily="34" charset="0"/>
                <a:ea typeface="Calibri" pitchFamily="34" charset="-122"/>
                <a:cs typeface="Calibri" pitchFamily="34" charset="-120"/>
              </a:rPr>
              <a:t>aquarium upgrades</a:t>
            </a:r>
            <a:endParaRPr lang="en-US" sz="1050" dirty="0"/>
          </a:p>
        </p:txBody>
      </p:sp>
      <p:sp>
        <p:nvSpPr>
          <p:cNvPr id="43" name="Shape 37"/>
          <p:cNvSpPr/>
          <p:nvPr/>
        </p:nvSpPr>
        <p:spPr>
          <a:xfrm>
            <a:off x="5239512" y="3794760"/>
            <a:ext cx="1993392" cy="786384"/>
          </a:xfrm>
          <a:prstGeom prst="ellipse">
            <a:avLst/>
          </a:prstGeom>
          <a:solidFill>
            <a:srgbClr val="EAF6F6"/>
          </a:solidFill>
          <a:ln w="15875">
            <a:solidFill>
              <a:srgbClr val="028090"/>
            </a:solidFill>
            <a:prstDash val="solid"/>
          </a:ln>
        </p:spPr>
        <p:txBody>
          <a:bodyPr/>
          <a:lstStyle/>
          <a:p>
            <a:endParaRPr lang="fr-FR"/>
          </a:p>
        </p:txBody>
      </p:sp>
      <p:sp>
        <p:nvSpPr>
          <p:cNvPr id="44" name="Text 38"/>
          <p:cNvSpPr/>
          <p:nvPr/>
        </p:nvSpPr>
        <p:spPr>
          <a:xfrm>
            <a:off x="5285232" y="3794760"/>
            <a:ext cx="1901952" cy="786384"/>
          </a:xfrm>
          <a:prstGeom prst="rect">
            <a:avLst/>
          </a:prstGeom>
          <a:noFill/>
          <a:ln/>
        </p:spPr>
        <p:txBody>
          <a:bodyPr wrap="square" lIns="12700" tIns="12700" rIns="12700" bIns="12700" rtlCol="0" anchor="ctr"/>
          <a:lstStyle/>
          <a:p>
            <a:pPr marL="0" indent="0" algn="ctr">
              <a:buNone/>
            </a:pPr>
            <a:r>
              <a:rPr lang="en-US" sz="1050" b="1" dirty="0">
                <a:solidFill>
                  <a:srgbClr val="0B3C49"/>
                </a:solidFill>
                <a:latin typeface="Calibri" pitchFamily="34" charset="0"/>
                <a:ea typeface="Calibri" pitchFamily="34" charset="-122"/>
                <a:cs typeface="Calibri" pitchFamily="34" charset="-120"/>
              </a:rPr>
              <a:t>Play daily</a:t>
            </a:r>
            <a:endParaRPr lang="en-US" sz="1050" dirty="0"/>
          </a:p>
          <a:p>
            <a:pPr marL="0" indent="0" algn="ctr">
              <a:buNone/>
            </a:pPr>
            <a:r>
              <a:rPr lang="en-US" sz="1050" b="1" dirty="0">
                <a:solidFill>
                  <a:srgbClr val="0B3C49"/>
                </a:solidFill>
                <a:latin typeface="Calibri" pitchFamily="34" charset="0"/>
                <a:ea typeface="Calibri" pitchFamily="34" charset="-122"/>
                <a:cs typeface="Calibri" pitchFamily="34" charset="-120"/>
              </a:rPr>
              <a:t>challenges</a:t>
            </a:r>
            <a:endParaRPr lang="en-US" sz="1050" dirty="0"/>
          </a:p>
        </p:txBody>
      </p:sp>
      <p:sp>
        <p:nvSpPr>
          <p:cNvPr id="45" name="Shape 39"/>
          <p:cNvSpPr/>
          <p:nvPr/>
        </p:nvSpPr>
        <p:spPr>
          <a:xfrm>
            <a:off x="7415784" y="3794760"/>
            <a:ext cx="1993392" cy="786384"/>
          </a:xfrm>
          <a:prstGeom prst="ellipse">
            <a:avLst/>
          </a:prstGeom>
          <a:solidFill>
            <a:srgbClr val="EAF6F6"/>
          </a:solidFill>
          <a:ln w="15875">
            <a:solidFill>
              <a:srgbClr val="028090"/>
            </a:solidFill>
            <a:prstDash val="solid"/>
          </a:ln>
        </p:spPr>
        <p:txBody>
          <a:bodyPr/>
          <a:lstStyle/>
          <a:p>
            <a:endParaRPr lang="fr-FR"/>
          </a:p>
        </p:txBody>
      </p:sp>
      <p:sp>
        <p:nvSpPr>
          <p:cNvPr id="46" name="Text 40"/>
          <p:cNvSpPr/>
          <p:nvPr/>
        </p:nvSpPr>
        <p:spPr>
          <a:xfrm>
            <a:off x="7461504" y="3794760"/>
            <a:ext cx="1901952" cy="786384"/>
          </a:xfrm>
          <a:prstGeom prst="rect">
            <a:avLst/>
          </a:prstGeom>
          <a:noFill/>
          <a:ln/>
        </p:spPr>
        <p:txBody>
          <a:bodyPr wrap="square" lIns="12700" tIns="12700" rIns="12700" bIns="12700" rtlCol="0" anchor="ctr"/>
          <a:lstStyle/>
          <a:p>
            <a:pPr marL="0" indent="0" algn="ctr">
              <a:buNone/>
            </a:pPr>
            <a:r>
              <a:rPr lang="en-US" sz="1050" b="1" dirty="0">
                <a:solidFill>
                  <a:srgbClr val="0B3C49"/>
                </a:solidFill>
                <a:latin typeface="Calibri" pitchFamily="34" charset="0"/>
                <a:ea typeface="Calibri" pitchFamily="34" charset="-122"/>
                <a:cs typeface="Calibri" pitchFamily="34" charset="-120"/>
              </a:rPr>
              <a:t>Friends &amp;</a:t>
            </a:r>
            <a:endParaRPr lang="en-US" sz="1050" dirty="0"/>
          </a:p>
          <a:p>
            <a:pPr marL="0" indent="0" algn="ctr">
              <a:buNone/>
            </a:pPr>
            <a:r>
              <a:rPr lang="en-US" sz="1050" b="1" dirty="0">
                <a:solidFill>
                  <a:srgbClr val="0B3C49"/>
                </a:solidFill>
                <a:latin typeface="Calibri" pitchFamily="34" charset="0"/>
                <a:ea typeface="Calibri" pitchFamily="34" charset="-122"/>
                <a:cs typeface="Calibri" pitchFamily="34" charset="-120"/>
              </a:rPr>
              <a:t>fish trading</a:t>
            </a:r>
            <a:endParaRPr lang="en-US" sz="1050" dirty="0"/>
          </a:p>
        </p:txBody>
      </p:sp>
      <p:sp>
        <p:nvSpPr>
          <p:cNvPr id="47" name="Shape 41"/>
          <p:cNvSpPr/>
          <p:nvPr/>
        </p:nvSpPr>
        <p:spPr>
          <a:xfrm>
            <a:off x="9592056" y="3794760"/>
            <a:ext cx="1993392" cy="786384"/>
          </a:xfrm>
          <a:prstGeom prst="ellipse">
            <a:avLst/>
          </a:prstGeom>
          <a:solidFill>
            <a:srgbClr val="EAF6F6"/>
          </a:solidFill>
          <a:ln w="15875">
            <a:solidFill>
              <a:srgbClr val="028090"/>
            </a:solidFill>
            <a:prstDash val="solid"/>
          </a:ln>
        </p:spPr>
        <p:txBody>
          <a:bodyPr/>
          <a:lstStyle/>
          <a:p>
            <a:endParaRPr lang="fr-FR"/>
          </a:p>
        </p:txBody>
      </p:sp>
      <p:sp>
        <p:nvSpPr>
          <p:cNvPr id="48" name="Text 42"/>
          <p:cNvSpPr/>
          <p:nvPr/>
        </p:nvSpPr>
        <p:spPr>
          <a:xfrm>
            <a:off x="9637776" y="3794760"/>
            <a:ext cx="1901952" cy="786384"/>
          </a:xfrm>
          <a:prstGeom prst="rect">
            <a:avLst/>
          </a:prstGeom>
          <a:noFill/>
          <a:ln/>
        </p:spPr>
        <p:txBody>
          <a:bodyPr wrap="square" lIns="12700" tIns="12700" rIns="12700" bIns="12700" rtlCol="0" anchor="ctr"/>
          <a:lstStyle/>
          <a:p>
            <a:pPr marL="0" indent="0" algn="ctr">
              <a:buNone/>
            </a:pPr>
            <a:r>
              <a:rPr lang="en-US" sz="1050" b="1" dirty="0">
                <a:solidFill>
                  <a:srgbClr val="0B3C49"/>
                </a:solidFill>
                <a:latin typeface="Calibri" pitchFamily="34" charset="0"/>
                <a:ea typeface="Calibri" pitchFamily="34" charset="-122"/>
                <a:cs typeface="Calibri" pitchFamily="34" charset="-120"/>
              </a:rPr>
              <a:t>View coins</a:t>
            </a:r>
            <a:endParaRPr lang="en-US" sz="1050" dirty="0"/>
          </a:p>
          <a:p>
            <a:pPr marL="0" indent="0" algn="ctr">
              <a:buNone/>
            </a:pPr>
            <a:r>
              <a:rPr lang="en-US" sz="1050" b="1" dirty="0">
                <a:solidFill>
                  <a:srgbClr val="0B3C49"/>
                </a:solidFill>
                <a:latin typeface="Calibri" pitchFamily="34" charset="0"/>
                <a:ea typeface="Calibri" pitchFamily="34" charset="-122"/>
                <a:cs typeface="Calibri" pitchFamily="34" charset="-120"/>
              </a:rPr>
              <a:t>balance</a:t>
            </a:r>
            <a:endParaRPr lang="en-US" sz="1050" dirty="0"/>
          </a:p>
        </p:txBody>
      </p:sp>
      <p:sp>
        <p:nvSpPr>
          <p:cNvPr id="49" name="Shape 43"/>
          <p:cNvSpPr/>
          <p:nvPr/>
        </p:nvSpPr>
        <p:spPr>
          <a:xfrm>
            <a:off x="6327648" y="4892040"/>
            <a:ext cx="2743200" cy="786384"/>
          </a:xfrm>
          <a:prstGeom prst="ellipse">
            <a:avLst/>
          </a:prstGeom>
          <a:solidFill>
            <a:srgbClr val="EAF6F6"/>
          </a:solidFill>
          <a:ln w="15875">
            <a:solidFill>
              <a:srgbClr val="028090"/>
            </a:solidFill>
            <a:prstDash val="solid"/>
          </a:ln>
        </p:spPr>
        <p:txBody>
          <a:bodyPr/>
          <a:lstStyle/>
          <a:p>
            <a:endParaRPr lang="fr-FR"/>
          </a:p>
        </p:txBody>
      </p:sp>
      <p:sp>
        <p:nvSpPr>
          <p:cNvPr id="50" name="Text 44"/>
          <p:cNvSpPr/>
          <p:nvPr/>
        </p:nvSpPr>
        <p:spPr>
          <a:xfrm>
            <a:off x="6373368" y="4892040"/>
            <a:ext cx="2651760" cy="786384"/>
          </a:xfrm>
          <a:prstGeom prst="rect">
            <a:avLst/>
          </a:prstGeom>
          <a:noFill/>
          <a:ln/>
        </p:spPr>
        <p:txBody>
          <a:bodyPr wrap="square" lIns="12700" tIns="12700" rIns="12700" bIns="12700" rtlCol="0" anchor="ctr"/>
          <a:lstStyle/>
          <a:p>
            <a:pPr marL="0" indent="0" algn="ctr">
              <a:buNone/>
            </a:pPr>
            <a:r>
              <a:rPr lang="en-US" sz="1050" b="1" dirty="0">
                <a:solidFill>
                  <a:srgbClr val="0B3C49"/>
                </a:solidFill>
                <a:latin typeface="Calibri" pitchFamily="34" charset="0"/>
                <a:ea typeface="Calibri" pitchFamily="34" charset="-122"/>
                <a:cs typeface="Calibri" pitchFamily="34" charset="-120"/>
              </a:rPr>
              <a:t>Access admin panel</a:t>
            </a:r>
            <a:endParaRPr lang="en-US" sz="1050" dirty="0"/>
          </a:p>
          <a:p>
            <a:pPr marL="0" indent="0" algn="ctr">
              <a:buNone/>
            </a:pPr>
            <a:r>
              <a:rPr lang="en-US" sz="1050" b="1" dirty="0">
                <a:solidFill>
                  <a:srgbClr val="0B3C49"/>
                </a:solidFill>
                <a:latin typeface="Calibri" pitchFamily="34" charset="0"/>
                <a:ea typeface="Calibri" pitchFamily="34" charset="-122"/>
                <a:cs typeface="Calibri" pitchFamily="34" charset="-120"/>
              </a:rPr>
              <a:t>&amp; manage all users</a:t>
            </a:r>
            <a:endParaRPr lang="en-US" sz="1050" dirty="0"/>
          </a:p>
        </p:txBody>
      </p:sp>
      <p:sp>
        <p:nvSpPr>
          <p:cNvPr id="51" name="Text 45"/>
          <p:cNvSpPr/>
          <p:nvPr/>
        </p:nvSpPr>
        <p:spPr>
          <a:xfrm>
            <a:off x="11612880" y="6400800"/>
            <a:ext cx="457200" cy="274320"/>
          </a:xfrm>
          <a:prstGeom prst="rect">
            <a:avLst/>
          </a:prstGeom>
          <a:noFill/>
          <a:ln/>
        </p:spPr>
        <p:txBody>
          <a:bodyPr wrap="square" lIns="0" tIns="0" rIns="0" bIns="0" rtlCol="0" anchor="ctr"/>
          <a:lstStyle/>
          <a:p>
            <a:pPr marL="0" indent="0" algn="r">
              <a:buNone/>
            </a:pPr>
            <a:r>
              <a:rPr lang="en-US" sz="1100" dirty="0">
                <a:solidFill>
                  <a:srgbClr val="557079"/>
                </a:solidFill>
                <a:latin typeface="Calibri" pitchFamily="34" charset="0"/>
                <a:ea typeface="Calibri" pitchFamily="34" charset="-122"/>
                <a:cs typeface="Calibri" pitchFamily="34" charset="-120"/>
              </a:rPr>
              <a:t>5</a:t>
            </a:r>
            <a:endParaRPr lang="en-US" sz="1100" dirty="0"/>
          </a:p>
        </p:txBody>
      </p:sp>
      <p:pic>
        <p:nvPicPr>
          <p:cNvPr id="52" name="Image 4" descr="preencoded.png"/>
          <p:cNvPicPr>
            <a:picLocks noChangeAspect="1"/>
          </p:cNvPicPr>
          <p:nvPr/>
        </p:nvPicPr>
        <p:blipFill>
          <a:blip r:embed="rId7"/>
          <a:stretch>
            <a:fillRect/>
          </a:stretch>
        </p:blipFill>
        <p:spPr>
          <a:xfrm>
            <a:off x="548640" y="6419088"/>
            <a:ext cx="237744" cy="237744"/>
          </a:xfrm>
          <a:prstGeom prst="rect">
            <a:avLst/>
          </a:prstGeom>
        </p:spPr>
      </p:pic>
      <p:sp>
        <p:nvSpPr>
          <p:cNvPr id="53" name="Text 46"/>
          <p:cNvSpPr/>
          <p:nvPr/>
        </p:nvSpPr>
        <p:spPr>
          <a:xfrm>
            <a:off x="868680" y="6400800"/>
            <a:ext cx="3657600" cy="274320"/>
          </a:xfrm>
          <a:prstGeom prst="rect">
            <a:avLst/>
          </a:prstGeom>
          <a:noFill/>
          <a:ln/>
        </p:spPr>
        <p:txBody>
          <a:bodyPr wrap="square" lIns="0" tIns="0" rIns="0" bIns="0" rtlCol="0" anchor="ctr"/>
          <a:lstStyle/>
          <a:p>
            <a:pPr marL="0" indent="0">
              <a:buNone/>
            </a:pPr>
            <a:r>
              <a:rPr lang="en-US" sz="1000" dirty="0">
                <a:solidFill>
                  <a:srgbClr val="557079"/>
                </a:solidFill>
                <a:latin typeface="Calibri" pitchFamily="34" charset="0"/>
                <a:ea typeface="Calibri" pitchFamily="34" charset="-122"/>
                <a:cs typeface="Calibri" pitchFamily="34" charset="-120"/>
              </a:rPr>
              <a:t>Manage your little fish</a:t>
            </a:r>
            <a:endParaRPr lang="en-US" sz="1000" dirty="0"/>
          </a:p>
        </p:txBody>
      </p:sp>
      <p:cxnSp>
        <p:nvCxnSpPr>
          <p:cNvPr id="55" name="Connecteur droit avec flèche 54">
            <a:extLst>
              <a:ext uri="{FF2B5EF4-FFF2-40B4-BE49-F238E27FC236}">
                <a16:creationId xmlns:a16="http://schemas.microsoft.com/office/drawing/2014/main" id="{F2C843FD-8B15-BECB-3D6E-1673EB74C9A6}"/>
              </a:ext>
            </a:extLst>
          </p:cNvPr>
          <p:cNvCxnSpPr>
            <a:cxnSpLocks/>
            <a:stCxn id="14" idx="0"/>
            <a:endCxn id="13" idx="2"/>
          </p:cNvCxnSpPr>
          <p:nvPr/>
        </p:nvCxnSpPr>
        <p:spPr>
          <a:xfrm flipV="1">
            <a:off x="1170432" y="4581144"/>
            <a:ext cx="0" cy="64922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02809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713232" y="621792"/>
            <a:ext cx="347472" cy="347472"/>
          </a:xfrm>
          <a:prstGeom prst="rect">
            <a:avLst/>
          </a:prstGeom>
        </p:spPr>
      </p:pic>
      <p:sp>
        <p:nvSpPr>
          <p:cNvPr id="4" name="Text 1"/>
          <p:cNvSpPr/>
          <p:nvPr/>
        </p:nvSpPr>
        <p:spPr>
          <a:xfrm>
            <a:off x="1417320" y="457200"/>
            <a:ext cx="8229600" cy="256032"/>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OVERVIEW OF FUNCTIONS</a:t>
            </a:r>
            <a:endParaRPr lang="en-US" sz="1200" dirty="0"/>
          </a:p>
        </p:txBody>
      </p:sp>
      <p:sp>
        <p:nvSpPr>
          <p:cNvPr id="5" name="Text 2"/>
          <p:cNvSpPr/>
          <p:nvPr/>
        </p:nvSpPr>
        <p:spPr>
          <a:xfrm>
            <a:off x="1389888" y="676656"/>
            <a:ext cx="10241280" cy="566928"/>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Features by access level</a:t>
            </a:r>
            <a:endParaRPr lang="en-US" sz="3000" dirty="0"/>
          </a:p>
        </p:txBody>
      </p:sp>
      <p:sp>
        <p:nvSpPr>
          <p:cNvPr id="6" name="Shape 3"/>
          <p:cNvSpPr/>
          <p:nvPr/>
        </p:nvSpPr>
        <p:spPr>
          <a:xfrm>
            <a:off x="548640" y="1554480"/>
            <a:ext cx="2743200" cy="4572000"/>
          </a:xfrm>
          <a:prstGeom prst="roundRect">
            <a:avLst>
              <a:gd name="adj" fmla="val 2667"/>
            </a:avLst>
          </a:prstGeom>
          <a:solidFill>
            <a:srgbClr val="FFFFFF"/>
          </a:solidFill>
          <a:ln w="12700">
            <a:solidFill>
              <a:srgbClr val="DCEFEF"/>
            </a:solidFill>
            <a:prstDash val="solid"/>
          </a:ln>
          <a:effectLst>
            <a:outerShdw blurRad="88900" dist="38100" dir="5400000" algn="bl" rotWithShape="0">
              <a:srgbClr val="0A2E36">
                <a:alpha val="16000"/>
              </a:srgbClr>
            </a:outerShdw>
          </a:effectLst>
        </p:spPr>
        <p:txBody>
          <a:bodyPr/>
          <a:lstStyle/>
          <a:p>
            <a:endParaRPr lang="fr-FR"/>
          </a:p>
        </p:txBody>
      </p:sp>
      <p:sp>
        <p:nvSpPr>
          <p:cNvPr id="7" name="Shape 4"/>
          <p:cNvSpPr/>
          <p:nvPr/>
        </p:nvSpPr>
        <p:spPr>
          <a:xfrm>
            <a:off x="804672" y="1810512"/>
            <a:ext cx="603504" cy="603504"/>
          </a:xfrm>
          <a:prstGeom prst="ellipse">
            <a:avLst/>
          </a:prstGeom>
          <a:solidFill>
            <a:srgbClr val="557079"/>
          </a:solidFill>
          <a:ln/>
        </p:spPr>
        <p:txBody>
          <a:bodyPr/>
          <a:lstStyle/>
          <a:p>
            <a:endParaRPr lang="fr-FR"/>
          </a:p>
        </p:txBody>
      </p:sp>
      <p:pic>
        <p:nvPicPr>
          <p:cNvPr id="8" name="Image 1" descr="preencoded.png"/>
          <p:cNvPicPr>
            <a:picLocks noChangeAspect="1"/>
          </p:cNvPicPr>
          <p:nvPr/>
        </p:nvPicPr>
        <p:blipFill>
          <a:blip r:embed="rId4"/>
          <a:stretch>
            <a:fillRect/>
          </a:stretch>
        </p:blipFill>
        <p:spPr>
          <a:xfrm>
            <a:off x="967618" y="1973458"/>
            <a:ext cx="277612" cy="277612"/>
          </a:xfrm>
          <a:prstGeom prst="rect">
            <a:avLst/>
          </a:prstGeom>
        </p:spPr>
      </p:pic>
      <p:sp>
        <p:nvSpPr>
          <p:cNvPr id="9" name="Text 5"/>
          <p:cNvSpPr/>
          <p:nvPr/>
        </p:nvSpPr>
        <p:spPr>
          <a:xfrm>
            <a:off x="1508760" y="1792224"/>
            <a:ext cx="1645920" cy="365760"/>
          </a:xfrm>
          <a:prstGeom prst="rect">
            <a:avLst/>
          </a:prstGeom>
          <a:noFill/>
          <a:ln/>
        </p:spPr>
        <p:txBody>
          <a:bodyPr wrap="square" lIns="0" tIns="0" rIns="0" bIns="0" rtlCol="0" anchor="ctr"/>
          <a:lstStyle/>
          <a:p>
            <a:pPr marL="0" indent="0">
              <a:buNone/>
            </a:pPr>
            <a:r>
              <a:rPr lang="en-US" sz="1550" b="1" dirty="0">
                <a:solidFill>
                  <a:srgbClr val="0B3C49"/>
                </a:solidFill>
                <a:latin typeface="Cambria" pitchFamily="34" charset="0"/>
                <a:ea typeface="Cambria" pitchFamily="34" charset="-122"/>
                <a:cs typeface="Cambria" pitchFamily="34" charset="-120"/>
              </a:rPr>
              <a:t>Visitor</a:t>
            </a:r>
            <a:endParaRPr lang="en-US" sz="1550" dirty="0"/>
          </a:p>
        </p:txBody>
      </p:sp>
      <p:sp>
        <p:nvSpPr>
          <p:cNvPr id="10" name="Text 6"/>
          <p:cNvSpPr/>
          <p:nvPr/>
        </p:nvSpPr>
        <p:spPr>
          <a:xfrm>
            <a:off x="1508760" y="2157984"/>
            <a:ext cx="1645920" cy="237744"/>
          </a:xfrm>
          <a:prstGeom prst="rect">
            <a:avLst/>
          </a:prstGeom>
          <a:noFill/>
          <a:ln/>
        </p:spPr>
        <p:txBody>
          <a:bodyPr wrap="square" lIns="0" tIns="0" rIns="0" bIns="0" rtlCol="0" anchor="ctr"/>
          <a:lstStyle/>
          <a:p>
            <a:pPr marL="0" indent="0">
              <a:buNone/>
            </a:pPr>
            <a:r>
              <a:rPr lang="en-US" sz="900" b="1" kern="0" spc="100" dirty="0">
                <a:solidFill>
                  <a:srgbClr val="557079"/>
                </a:solidFill>
                <a:latin typeface="Calibri" pitchFamily="34" charset="0"/>
                <a:ea typeface="Calibri" pitchFamily="34" charset="-122"/>
                <a:cs typeface="Calibri" pitchFamily="34" charset="-120"/>
              </a:rPr>
              <a:t>NO ACCOUNT NEEDED</a:t>
            </a:r>
            <a:endParaRPr lang="en-US" sz="900" dirty="0"/>
          </a:p>
        </p:txBody>
      </p:sp>
      <p:sp>
        <p:nvSpPr>
          <p:cNvPr id="11" name="Text 7"/>
          <p:cNvSpPr/>
          <p:nvPr/>
        </p:nvSpPr>
        <p:spPr>
          <a:xfrm>
            <a:off x="786384" y="2697480"/>
            <a:ext cx="2286000" cy="32461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0B3C49"/>
                </a:solidFill>
                <a:latin typeface="Calibri" pitchFamily="34" charset="0"/>
                <a:ea typeface="Calibri" pitchFamily="34" charset="-122"/>
                <a:cs typeface="Calibri" pitchFamily="34" charset="-120"/>
              </a:rPr>
              <a:t>Search other users via a search bar</a:t>
            </a:r>
            <a:endParaRPr lang="en-US" sz="1150" dirty="0"/>
          </a:p>
          <a:p>
            <a:pPr marL="177800" indent="-177800">
              <a:spcAft>
                <a:spcPts val="600"/>
              </a:spcAft>
              <a:buSzPct val="100000"/>
              <a:buChar char="•"/>
            </a:pPr>
            <a:r>
              <a:rPr lang="en-US" sz="1150" dirty="0">
                <a:solidFill>
                  <a:srgbClr val="0B3C49"/>
                </a:solidFill>
                <a:latin typeface="Calibri" pitchFamily="34" charset="0"/>
                <a:ea typeface="Calibri" pitchFamily="34" charset="-122"/>
                <a:cs typeface="Calibri" pitchFamily="34" charset="-120"/>
              </a:rPr>
              <a:t>View any user's fish</a:t>
            </a:r>
            <a:endParaRPr lang="en-US" sz="1150" dirty="0"/>
          </a:p>
          <a:p>
            <a:pPr marL="177800" indent="-177800">
              <a:spcAft>
                <a:spcPts val="600"/>
              </a:spcAft>
              <a:buSzPct val="100000"/>
              <a:buChar char="•"/>
            </a:pPr>
            <a:r>
              <a:rPr lang="en-US" sz="1150" dirty="0">
                <a:solidFill>
                  <a:srgbClr val="0B3C49"/>
                </a:solidFill>
                <a:latin typeface="Calibri" pitchFamily="34" charset="0"/>
                <a:ea typeface="Calibri" pitchFamily="34" charset="-122"/>
                <a:cs typeface="Calibri" pitchFamily="34" charset="-120"/>
              </a:rPr>
              <a:t>Browse the best public aquariums</a:t>
            </a:r>
            <a:endParaRPr lang="en-US" sz="1150" dirty="0"/>
          </a:p>
        </p:txBody>
      </p:sp>
      <p:sp>
        <p:nvSpPr>
          <p:cNvPr id="12" name="Shape 8"/>
          <p:cNvSpPr/>
          <p:nvPr/>
        </p:nvSpPr>
        <p:spPr>
          <a:xfrm>
            <a:off x="3410712" y="1554480"/>
            <a:ext cx="2743200" cy="4572000"/>
          </a:xfrm>
          <a:prstGeom prst="roundRect">
            <a:avLst>
              <a:gd name="adj" fmla="val 2667"/>
            </a:avLst>
          </a:prstGeom>
          <a:solidFill>
            <a:srgbClr val="FFFFFF"/>
          </a:solidFill>
          <a:ln w="12700">
            <a:solidFill>
              <a:srgbClr val="DCEFEF"/>
            </a:solidFill>
            <a:prstDash val="solid"/>
          </a:ln>
          <a:effectLst>
            <a:outerShdw blurRad="88900" dist="38100" dir="5400000" algn="bl" rotWithShape="0">
              <a:srgbClr val="0A2E36">
                <a:alpha val="16000"/>
              </a:srgbClr>
            </a:outerShdw>
          </a:effectLst>
        </p:spPr>
        <p:txBody>
          <a:bodyPr/>
          <a:lstStyle/>
          <a:p>
            <a:endParaRPr lang="fr-FR"/>
          </a:p>
        </p:txBody>
      </p:sp>
      <p:sp>
        <p:nvSpPr>
          <p:cNvPr id="13" name="Shape 9"/>
          <p:cNvSpPr/>
          <p:nvPr/>
        </p:nvSpPr>
        <p:spPr>
          <a:xfrm>
            <a:off x="3666744" y="1810512"/>
            <a:ext cx="603504" cy="603504"/>
          </a:xfrm>
          <a:prstGeom prst="ellipse">
            <a:avLst/>
          </a:prstGeom>
          <a:solidFill>
            <a:srgbClr val="00A896"/>
          </a:solidFill>
          <a:ln/>
        </p:spPr>
        <p:txBody>
          <a:bodyPr/>
          <a:lstStyle/>
          <a:p>
            <a:endParaRPr lang="fr-FR"/>
          </a:p>
        </p:txBody>
      </p:sp>
      <p:pic>
        <p:nvPicPr>
          <p:cNvPr id="14" name="Image 2" descr="preencoded.png"/>
          <p:cNvPicPr>
            <a:picLocks noChangeAspect="1"/>
          </p:cNvPicPr>
          <p:nvPr/>
        </p:nvPicPr>
        <p:blipFill>
          <a:blip r:embed="rId5"/>
          <a:stretch>
            <a:fillRect/>
          </a:stretch>
        </p:blipFill>
        <p:spPr>
          <a:xfrm>
            <a:off x="3829690" y="1973458"/>
            <a:ext cx="277612" cy="277612"/>
          </a:xfrm>
          <a:prstGeom prst="rect">
            <a:avLst/>
          </a:prstGeom>
        </p:spPr>
      </p:pic>
      <p:sp>
        <p:nvSpPr>
          <p:cNvPr id="15" name="Text 10"/>
          <p:cNvSpPr/>
          <p:nvPr/>
        </p:nvSpPr>
        <p:spPr>
          <a:xfrm>
            <a:off x="4370832" y="1792224"/>
            <a:ext cx="1645920" cy="365760"/>
          </a:xfrm>
          <a:prstGeom prst="rect">
            <a:avLst/>
          </a:prstGeom>
          <a:noFill/>
          <a:ln/>
        </p:spPr>
        <p:txBody>
          <a:bodyPr wrap="square" lIns="0" tIns="0" rIns="0" bIns="0" rtlCol="0" anchor="ctr"/>
          <a:lstStyle/>
          <a:p>
            <a:pPr marL="0" indent="0">
              <a:buNone/>
            </a:pPr>
            <a:r>
              <a:rPr lang="en-US" sz="1550" b="1" dirty="0">
                <a:solidFill>
                  <a:srgbClr val="0B3C49"/>
                </a:solidFill>
                <a:latin typeface="Cambria" pitchFamily="34" charset="0"/>
                <a:ea typeface="Cambria" pitchFamily="34" charset="-122"/>
                <a:cs typeface="Cambria" pitchFamily="34" charset="-120"/>
              </a:rPr>
              <a:t>New player</a:t>
            </a:r>
            <a:endParaRPr lang="en-US" sz="1550" dirty="0"/>
          </a:p>
        </p:txBody>
      </p:sp>
      <p:sp>
        <p:nvSpPr>
          <p:cNvPr id="16" name="Text 11"/>
          <p:cNvSpPr/>
          <p:nvPr/>
        </p:nvSpPr>
        <p:spPr>
          <a:xfrm>
            <a:off x="4370832" y="2157984"/>
            <a:ext cx="1645920" cy="237744"/>
          </a:xfrm>
          <a:prstGeom prst="rect">
            <a:avLst/>
          </a:prstGeom>
          <a:noFill/>
          <a:ln/>
        </p:spPr>
        <p:txBody>
          <a:bodyPr wrap="square" lIns="0" tIns="0" rIns="0" bIns="0" rtlCol="0" anchor="ctr"/>
          <a:lstStyle/>
          <a:p>
            <a:pPr marL="0" indent="0">
              <a:buNone/>
            </a:pPr>
            <a:r>
              <a:rPr lang="en-US" sz="900" b="1" kern="0" spc="100" dirty="0">
                <a:solidFill>
                  <a:srgbClr val="00A896"/>
                </a:solidFill>
                <a:latin typeface="Calibri" pitchFamily="34" charset="0"/>
                <a:ea typeface="Calibri" pitchFamily="34" charset="-122"/>
                <a:cs typeface="Calibri" pitchFamily="34" charset="-120"/>
              </a:rPr>
              <a:t>ON REGISTRATION</a:t>
            </a:r>
            <a:endParaRPr lang="en-US" sz="900" dirty="0"/>
          </a:p>
        </p:txBody>
      </p:sp>
      <p:sp>
        <p:nvSpPr>
          <p:cNvPr id="17" name="Text 12"/>
          <p:cNvSpPr/>
          <p:nvPr/>
        </p:nvSpPr>
        <p:spPr>
          <a:xfrm>
            <a:off x="3648456" y="2697480"/>
            <a:ext cx="2286000" cy="32461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0B3C49"/>
                </a:solidFill>
                <a:latin typeface="Calibri" pitchFamily="34" charset="0"/>
                <a:ea typeface="Calibri" pitchFamily="34" charset="-122"/>
                <a:cs typeface="Calibri" pitchFamily="34" charset="-120"/>
              </a:rPr>
              <a:t>Receive 200 coins to start</a:t>
            </a:r>
            <a:endParaRPr lang="en-US" sz="1150" dirty="0"/>
          </a:p>
          <a:p>
            <a:pPr marL="177800" indent="-177800">
              <a:spcAft>
                <a:spcPts val="600"/>
              </a:spcAft>
              <a:buSzPct val="100000"/>
              <a:buChar char="•"/>
            </a:pPr>
            <a:r>
              <a:rPr lang="en-US" sz="1150" dirty="0">
                <a:solidFill>
                  <a:srgbClr val="0B3C49"/>
                </a:solidFill>
                <a:latin typeface="Calibri" pitchFamily="34" charset="0"/>
                <a:ea typeface="Calibri" pitchFamily="34" charset="-122"/>
                <a:cs typeface="Calibri" pitchFamily="34" charset="-120"/>
              </a:rPr>
              <a:t>Buy a first fish</a:t>
            </a:r>
            <a:endParaRPr lang="en-US" sz="1150" dirty="0"/>
          </a:p>
          <a:p>
            <a:pPr marL="177800" indent="-177800">
              <a:spcAft>
                <a:spcPts val="600"/>
              </a:spcAft>
              <a:buSzPct val="100000"/>
              <a:buChar char="•"/>
            </a:pPr>
            <a:r>
              <a:rPr lang="en-US" sz="1150" dirty="0">
                <a:solidFill>
                  <a:srgbClr val="0B3C49"/>
                </a:solidFill>
                <a:latin typeface="Calibri" pitchFamily="34" charset="0"/>
                <a:ea typeface="Calibri" pitchFamily="34" charset="-122"/>
                <a:cs typeface="Calibri" pitchFamily="34" charset="-120"/>
              </a:rPr>
              <a:t>Begin with a free minimal aquarium</a:t>
            </a:r>
            <a:endParaRPr lang="en-US" sz="1150" dirty="0"/>
          </a:p>
        </p:txBody>
      </p:sp>
      <p:sp>
        <p:nvSpPr>
          <p:cNvPr id="18" name="Shape 13"/>
          <p:cNvSpPr/>
          <p:nvPr/>
        </p:nvSpPr>
        <p:spPr>
          <a:xfrm>
            <a:off x="6272784" y="1554480"/>
            <a:ext cx="2743200" cy="4572000"/>
          </a:xfrm>
          <a:prstGeom prst="roundRect">
            <a:avLst>
              <a:gd name="adj" fmla="val 2667"/>
            </a:avLst>
          </a:prstGeom>
          <a:solidFill>
            <a:srgbClr val="EAF6F6"/>
          </a:solidFill>
          <a:ln w="12700">
            <a:solidFill>
              <a:srgbClr val="DCEFEF"/>
            </a:solidFill>
            <a:prstDash val="solid"/>
          </a:ln>
          <a:effectLst>
            <a:outerShdw blurRad="88900" dist="38100" dir="5400000" algn="bl" rotWithShape="0">
              <a:srgbClr val="0A2E36">
                <a:alpha val="16000"/>
              </a:srgbClr>
            </a:outerShdw>
          </a:effectLst>
        </p:spPr>
        <p:txBody>
          <a:bodyPr/>
          <a:lstStyle/>
          <a:p>
            <a:endParaRPr lang="fr-FR"/>
          </a:p>
        </p:txBody>
      </p:sp>
      <p:sp>
        <p:nvSpPr>
          <p:cNvPr id="19" name="Shape 14"/>
          <p:cNvSpPr/>
          <p:nvPr/>
        </p:nvSpPr>
        <p:spPr>
          <a:xfrm>
            <a:off x="6528816" y="1810512"/>
            <a:ext cx="603504" cy="603504"/>
          </a:xfrm>
          <a:prstGeom prst="ellipse">
            <a:avLst/>
          </a:prstGeom>
          <a:solidFill>
            <a:srgbClr val="028090"/>
          </a:solidFill>
          <a:ln/>
        </p:spPr>
        <p:txBody>
          <a:bodyPr/>
          <a:lstStyle/>
          <a:p>
            <a:endParaRPr lang="fr-FR"/>
          </a:p>
        </p:txBody>
      </p:sp>
      <p:pic>
        <p:nvPicPr>
          <p:cNvPr id="20" name="Image 3" descr="preencoded.png"/>
          <p:cNvPicPr>
            <a:picLocks noChangeAspect="1"/>
          </p:cNvPicPr>
          <p:nvPr/>
        </p:nvPicPr>
        <p:blipFill>
          <a:blip r:embed="rId6"/>
          <a:stretch>
            <a:fillRect/>
          </a:stretch>
        </p:blipFill>
        <p:spPr>
          <a:xfrm>
            <a:off x="6691762" y="1973458"/>
            <a:ext cx="277612" cy="277612"/>
          </a:xfrm>
          <a:prstGeom prst="rect">
            <a:avLst/>
          </a:prstGeom>
        </p:spPr>
      </p:pic>
      <p:sp>
        <p:nvSpPr>
          <p:cNvPr id="21" name="Text 15"/>
          <p:cNvSpPr/>
          <p:nvPr/>
        </p:nvSpPr>
        <p:spPr>
          <a:xfrm>
            <a:off x="7232904" y="1792224"/>
            <a:ext cx="1645920" cy="365760"/>
          </a:xfrm>
          <a:prstGeom prst="rect">
            <a:avLst/>
          </a:prstGeom>
          <a:noFill/>
          <a:ln/>
        </p:spPr>
        <p:txBody>
          <a:bodyPr wrap="square" lIns="0" tIns="0" rIns="0" bIns="0" rtlCol="0" anchor="ctr"/>
          <a:lstStyle/>
          <a:p>
            <a:pPr marL="0" indent="0">
              <a:buNone/>
            </a:pPr>
            <a:r>
              <a:rPr lang="en-US" sz="1550" b="1" dirty="0">
                <a:solidFill>
                  <a:srgbClr val="0B3C49"/>
                </a:solidFill>
                <a:latin typeface="Cambria" pitchFamily="34" charset="0"/>
                <a:ea typeface="Cambria" pitchFamily="34" charset="-122"/>
                <a:cs typeface="Cambria" pitchFamily="34" charset="-120"/>
              </a:rPr>
              <a:t>Logged-in user</a:t>
            </a:r>
            <a:endParaRPr lang="en-US" sz="1550" dirty="0"/>
          </a:p>
        </p:txBody>
      </p:sp>
      <p:sp>
        <p:nvSpPr>
          <p:cNvPr id="22" name="Text 16"/>
          <p:cNvSpPr/>
          <p:nvPr/>
        </p:nvSpPr>
        <p:spPr>
          <a:xfrm>
            <a:off x="7232904" y="2157984"/>
            <a:ext cx="1645920" cy="237744"/>
          </a:xfrm>
          <a:prstGeom prst="rect">
            <a:avLst/>
          </a:prstGeom>
          <a:noFill/>
          <a:ln/>
        </p:spPr>
        <p:txBody>
          <a:bodyPr wrap="square" lIns="0" tIns="0" rIns="0" bIns="0" rtlCol="0" anchor="ctr"/>
          <a:lstStyle/>
          <a:p>
            <a:pPr marL="0" indent="0">
              <a:buNone/>
            </a:pPr>
            <a:r>
              <a:rPr lang="en-US" sz="900" b="1" kern="0" spc="100" dirty="0">
                <a:solidFill>
                  <a:srgbClr val="028090"/>
                </a:solidFill>
                <a:latin typeface="Calibri" pitchFamily="34" charset="0"/>
                <a:ea typeface="Calibri" pitchFamily="34" charset="-122"/>
                <a:cs typeface="Calibri" pitchFamily="34" charset="-120"/>
              </a:rPr>
              <a:t>FULL GAME ACCESS</a:t>
            </a:r>
            <a:endParaRPr lang="en-US" sz="900" dirty="0"/>
          </a:p>
        </p:txBody>
      </p:sp>
      <p:sp>
        <p:nvSpPr>
          <p:cNvPr id="23" name="Text 17"/>
          <p:cNvSpPr/>
          <p:nvPr/>
        </p:nvSpPr>
        <p:spPr>
          <a:xfrm>
            <a:off x="6510528" y="2697480"/>
            <a:ext cx="2286000" cy="32461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0B3C49"/>
                </a:solidFill>
                <a:latin typeface="Calibri" pitchFamily="34" charset="0"/>
                <a:ea typeface="Calibri" pitchFamily="34" charset="-122"/>
                <a:cs typeface="Calibri" pitchFamily="34" charset="-120"/>
              </a:rPr>
              <a:t>Create, read, update &amp; delete fish</a:t>
            </a:r>
            <a:endParaRPr lang="en-US" sz="1150" dirty="0"/>
          </a:p>
          <a:p>
            <a:pPr marL="177800" indent="-177800">
              <a:spcAft>
                <a:spcPts val="600"/>
              </a:spcAft>
              <a:buSzPct val="100000"/>
              <a:buChar char="•"/>
            </a:pPr>
            <a:r>
              <a:rPr lang="en-US" sz="1150" dirty="0">
                <a:solidFill>
                  <a:srgbClr val="0B3C49"/>
                </a:solidFill>
                <a:latin typeface="Calibri" pitchFamily="34" charset="0"/>
                <a:ea typeface="Calibri" pitchFamily="34" charset="-122"/>
                <a:cs typeface="Calibri" pitchFamily="34" charset="-120"/>
              </a:rPr>
              <a:t>Aquarium clicking &amp; feeding</a:t>
            </a:r>
            <a:endParaRPr lang="en-US" sz="1150" dirty="0"/>
          </a:p>
          <a:p>
            <a:pPr marL="177800" indent="-177800">
              <a:spcAft>
                <a:spcPts val="600"/>
              </a:spcAft>
              <a:buSzPct val="100000"/>
              <a:buChar char="•"/>
            </a:pPr>
            <a:r>
              <a:rPr lang="en-US" sz="1150" dirty="0">
                <a:solidFill>
                  <a:srgbClr val="0B3C49"/>
                </a:solidFill>
                <a:latin typeface="Calibri" pitchFamily="34" charset="0"/>
                <a:ea typeface="Calibri" pitchFamily="34" charset="-122"/>
                <a:cs typeface="Calibri" pitchFamily="34" charset="-120"/>
              </a:rPr>
              <a:t>Shop, daily challenges, coins</a:t>
            </a:r>
            <a:endParaRPr lang="en-US" sz="1150" dirty="0"/>
          </a:p>
          <a:p>
            <a:pPr marL="177800" indent="-177800">
              <a:spcAft>
                <a:spcPts val="600"/>
              </a:spcAft>
              <a:buSzPct val="100000"/>
              <a:buChar char="•"/>
            </a:pPr>
            <a:r>
              <a:rPr lang="en-US" sz="1150" dirty="0">
                <a:solidFill>
                  <a:srgbClr val="0B3C49"/>
                </a:solidFill>
                <a:latin typeface="Calibri" pitchFamily="34" charset="0"/>
                <a:ea typeface="Calibri" pitchFamily="34" charset="-122"/>
                <a:cs typeface="Calibri" pitchFamily="34" charset="-120"/>
              </a:rPr>
              <a:t>Friends &amp; fish trading</a:t>
            </a:r>
            <a:endParaRPr lang="en-US" sz="1150" dirty="0"/>
          </a:p>
          <a:p>
            <a:pPr marL="177800" indent="-177800">
              <a:spcAft>
                <a:spcPts val="600"/>
              </a:spcAft>
              <a:buSzPct val="100000"/>
              <a:buChar char="•"/>
            </a:pPr>
            <a:r>
              <a:rPr lang="en-US" sz="1150" dirty="0">
                <a:solidFill>
                  <a:srgbClr val="0B3C49"/>
                </a:solidFill>
                <a:latin typeface="Calibri" pitchFamily="34" charset="0"/>
                <a:ea typeface="Calibri" pitchFamily="34" charset="-122"/>
                <a:cs typeface="Calibri" pitchFamily="34" charset="-120"/>
              </a:rPr>
              <a:t>Profile: avatar, theme, notifications</a:t>
            </a:r>
            <a:endParaRPr lang="en-US" sz="1150" dirty="0"/>
          </a:p>
        </p:txBody>
      </p:sp>
      <p:sp>
        <p:nvSpPr>
          <p:cNvPr id="24" name="Shape 18"/>
          <p:cNvSpPr/>
          <p:nvPr/>
        </p:nvSpPr>
        <p:spPr>
          <a:xfrm>
            <a:off x="9134856" y="1554480"/>
            <a:ext cx="2743200" cy="4572000"/>
          </a:xfrm>
          <a:prstGeom prst="roundRect">
            <a:avLst>
              <a:gd name="adj" fmla="val 2667"/>
            </a:avLst>
          </a:prstGeom>
          <a:solidFill>
            <a:srgbClr val="FFFFFF"/>
          </a:solidFill>
          <a:ln w="12700">
            <a:solidFill>
              <a:srgbClr val="DCEFEF"/>
            </a:solidFill>
            <a:prstDash val="solid"/>
          </a:ln>
          <a:effectLst>
            <a:outerShdw blurRad="88900" dist="38100" dir="5400000" algn="bl" rotWithShape="0">
              <a:srgbClr val="0A2E36">
                <a:alpha val="16000"/>
              </a:srgbClr>
            </a:outerShdw>
          </a:effectLst>
        </p:spPr>
        <p:txBody>
          <a:bodyPr/>
          <a:lstStyle/>
          <a:p>
            <a:endParaRPr lang="fr-FR"/>
          </a:p>
        </p:txBody>
      </p:sp>
      <p:sp>
        <p:nvSpPr>
          <p:cNvPr id="25" name="Shape 19"/>
          <p:cNvSpPr/>
          <p:nvPr/>
        </p:nvSpPr>
        <p:spPr>
          <a:xfrm>
            <a:off x="9390888" y="1810512"/>
            <a:ext cx="603504" cy="603504"/>
          </a:xfrm>
          <a:prstGeom prst="ellipse">
            <a:avLst/>
          </a:prstGeom>
          <a:solidFill>
            <a:srgbClr val="0B3C49"/>
          </a:solidFill>
          <a:ln/>
        </p:spPr>
        <p:txBody>
          <a:bodyPr/>
          <a:lstStyle/>
          <a:p>
            <a:endParaRPr lang="fr-FR"/>
          </a:p>
        </p:txBody>
      </p:sp>
      <p:pic>
        <p:nvPicPr>
          <p:cNvPr id="26" name="Image 4" descr="preencoded.png"/>
          <p:cNvPicPr>
            <a:picLocks noChangeAspect="1"/>
          </p:cNvPicPr>
          <p:nvPr/>
        </p:nvPicPr>
        <p:blipFill>
          <a:blip r:embed="rId7"/>
          <a:stretch>
            <a:fillRect/>
          </a:stretch>
        </p:blipFill>
        <p:spPr>
          <a:xfrm>
            <a:off x="9553834" y="1973458"/>
            <a:ext cx="277612" cy="277612"/>
          </a:xfrm>
          <a:prstGeom prst="rect">
            <a:avLst/>
          </a:prstGeom>
        </p:spPr>
      </p:pic>
      <p:sp>
        <p:nvSpPr>
          <p:cNvPr id="27" name="Text 20"/>
          <p:cNvSpPr/>
          <p:nvPr/>
        </p:nvSpPr>
        <p:spPr>
          <a:xfrm>
            <a:off x="10094976" y="1792224"/>
            <a:ext cx="1645920" cy="365760"/>
          </a:xfrm>
          <a:prstGeom prst="rect">
            <a:avLst/>
          </a:prstGeom>
          <a:noFill/>
          <a:ln/>
        </p:spPr>
        <p:txBody>
          <a:bodyPr wrap="square" lIns="0" tIns="0" rIns="0" bIns="0" rtlCol="0" anchor="ctr"/>
          <a:lstStyle/>
          <a:p>
            <a:pPr marL="0" indent="0">
              <a:buNone/>
            </a:pPr>
            <a:r>
              <a:rPr lang="en-US" sz="1550" b="1" dirty="0">
                <a:solidFill>
                  <a:srgbClr val="0B3C49"/>
                </a:solidFill>
                <a:latin typeface="Cambria" pitchFamily="34" charset="0"/>
                <a:ea typeface="Cambria" pitchFamily="34" charset="-122"/>
                <a:cs typeface="Cambria" pitchFamily="34" charset="-120"/>
              </a:rPr>
              <a:t>Admin</a:t>
            </a:r>
            <a:endParaRPr lang="en-US" sz="1550" dirty="0"/>
          </a:p>
        </p:txBody>
      </p:sp>
      <p:sp>
        <p:nvSpPr>
          <p:cNvPr id="28" name="Text 21"/>
          <p:cNvSpPr/>
          <p:nvPr/>
        </p:nvSpPr>
        <p:spPr>
          <a:xfrm>
            <a:off x="10094976" y="2157984"/>
            <a:ext cx="1645920" cy="237744"/>
          </a:xfrm>
          <a:prstGeom prst="rect">
            <a:avLst/>
          </a:prstGeom>
          <a:noFill/>
          <a:ln/>
        </p:spPr>
        <p:txBody>
          <a:bodyPr wrap="square" lIns="0" tIns="0" rIns="0" bIns="0" rtlCol="0" anchor="ctr"/>
          <a:lstStyle/>
          <a:p>
            <a:pPr marL="0" indent="0">
              <a:buNone/>
            </a:pPr>
            <a:r>
              <a:rPr lang="en-US" sz="900" b="1" kern="0" spc="100" dirty="0">
                <a:solidFill>
                  <a:srgbClr val="0B3C49"/>
                </a:solidFill>
                <a:latin typeface="Calibri" pitchFamily="34" charset="0"/>
                <a:ea typeface="Calibri" pitchFamily="34" charset="-122"/>
                <a:cs typeface="Calibri" pitchFamily="34" charset="-120"/>
              </a:rPr>
              <a:t>ELEVATED ROLE</a:t>
            </a:r>
            <a:endParaRPr lang="en-US" sz="900" dirty="0"/>
          </a:p>
        </p:txBody>
      </p:sp>
      <p:sp>
        <p:nvSpPr>
          <p:cNvPr id="29" name="Text 22"/>
          <p:cNvSpPr/>
          <p:nvPr/>
        </p:nvSpPr>
        <p:spPr>
          <a:xfrm>
            <a:off x="9372600" y="2697480"/>
            <a:ext cx="2286000" cy="32461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0B3C49"/>
                </a:solidFill>
                <a:latin typeface="Calibri" pitchFamily="34" charset="0"/>
                <a:ea typeface="Calibri" pitchFamily="34" charset="-122"/>
                <a:cs typeface="Calibri" pitchFamily="34" charset="-120"/>
              </a:rPr>
              <a:t>Everything a user can do</a:t>
            </a:r>
            <a:endParaRPr lang="en-US" sz="1150" dirty="0"/>
          </a:p>
          <a:p>
            <a:pPr marL="177800" indent="-177800">
              <a:spcAft>
                <a:spcPts val="600"/>
              </a:spcAft>
              <a:buSzPct val="100000"/>
              <a:buChar char="•"/>
            </a:pPr>
            <a:r>
              <a:rPr lang="en-US" sz="1150" dirty="0">
                <a:solidFill>
                  <a:srgbClr val="0B3C49"/>
                </a:solidFill>
                <a:latin typeface="Calibri" pitchFamily="34" charset="0"/>
                <a:ea typeface="Calibri" pitchFamily="34" charset="-122"/>
                <a:cs typeface="Calibri" pitchFamily="34" charset="-120"/>
              </a:rPr>
              <a:t>Open the admin panel</a:t>
            </a:r>
            <a:endParaRPr lang="en-US" sz="1150" dirty="0"/>
          </a:p>
          <a:p>
            <a:pPr marL="177800" indent="-177800">
              <a:spcAft>
                <a:spcPts val="600"/>
              </a:spcAft>
              <a:buSzPct val="100000"/>
              <a:buChar char="•"/>
            </a:pPr>
            <a:r>
              <a:rPr lang="en-US" sz="1150" dirty="0">
                <a:solidFill>
                  <a:srgbClr val="0B3C49"/>
                </a:solidFill>
                <a:latin typeface="Calibri" pitchFamily="34" charset="0"/>
                <a:ea typeface="Calibri" pitchFamily="34" charset="-122"/>
                <a:cs typeface="Calibri" pitchFamily="34" charset="-120"/>
              </a:rPr>
              <a:t>Manage every user's data</a:t>
            </a:r>
            <a:endParaRPr lang="en-US" sz="1150" dirty="0"/>
          </a:p>
        </p:txBody>
      </p:sp>
      <p:sp>
        <p:nvSpPr>
          <p:cNvPr id="30" name="Text 23"/>
          <p:cNvSpPr/>
          <p:nvPr/>
        </p:nvSpPr>
        <p:spPr>
          <a:xfrm>
            <a:off x="11612880" y="6400800"/>
            <a:ext cx="457200" cy="274320"/>
          </a:xfrm>
          <a:prstGeom prst="rect">
            <a:avLst/>
          </a:prstGeom>
          <a:noFill/>
          <a:ln/>
        </p:spPr>
        <p:txBody>
          <a:bodyPr wrap="square" lIns="0" tIns="0" rIns="0" bIns="0" rtlCol="0" anchor="ctr"/>
          <a:lstStyle/>
          <a:p>
            <a:pPr marL="0" indent="0" algn="r">
              <a:buNone/>
            </a:pPr>
            <a:r>
              <a:rPr lang="en-US" sz="1100" dirty="0">
                <a:solidFill>
                  <a:srgbClr val="557079"/>
                </a:solidFill>
                <a:latin typeface="Calibri" pitchFamily="34" charset="0"/>
                <a:ea typeface="Calibri" pitchFamily="34" charset="-122"/>
                <a:cs typeface="Calibri" pitchFamily="34" charset="-120"/>
              </a:rPr>
              <a:t>6</a:t>
            </a:r>
            <a:endParaRPr lang="en-US" sz="1100" dirty="0"/>
          </a:p>
        </p:txBody>
      </p:sp>
      <p:pic>
        <p:nvPicPr>
          <p:cNvPr id="31" name="Image 5" descr="preencoded.png"/>
          <p:cNvPicPr>
            <a:picLocks noChangeAspect="1"/>
          </p:cNvPicPr>
          <p:nvPr/>
        </p:nvPicPr>
        <p:blipFill>
          <a:blip r:embed="rId8"/>
          <a:stretch>
            <a:fillRect/>
          </a:stretch>
        </p:blipFill>
        <p:spPr>
          <a:xfrm>
            <a:off x="548640" y="6419088"/>
            <a:ext cx="237744" cy="237744"/>
          </a:xfrm>
          <a:prstGeom prst="rect">
            <a:avLst/>
          </a:prstGeom>
        </p:spPr>
      </p:pic>
      <p:sp>
        <p:nvSpPr>
          <p:cNvPr id="32" name="Text 24"/>
          <p:cNvSpPr/>
          <p:nvPr/>
        </p:nvSpPr>
        <p:spPr>
          <a:xfrm>
            <a:off x="868680" y="6400800"/>
            <a:ext cx="3657600" cy="274320"/>
          </a:xfrm>
          <a:prstGeom prst="rect">
            <a:avLst/>
          </a:prstGeom>
          <a:noFill/>
          <a:ln/>
        </p:spPr>
        <p:txBody>
          <a:bodyPr wrap="square" lIns="0" tIns="0" rIns="0" bIns="0" rtlCol="0" anchor="ctr"/>
          <a:lstStyle/>
          <a:p>
            <a:pPr marL="0" indent="0">
              <a:buNone/>
            </a:pPr>
            <a:r>
              <a:rPr lang="en-US" sz="1000" dirty="0">
                <a:solidFill>
                  <a:srgbClr val="557079"/>
                </a:solidFill>
                <a:latin typeface="Calibri" pitchFamily="34" charset="0"/>
                <a:ea typeface="Calibri" pitchFamily="34" charset="-122"/>
                <a:cs typeface="Calibri" pitchFamily="34" charset="-120"/>
              </a:rPr>
              <a:t>Manage your little fish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02809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713232" y="621792"/>
            <a:ext cx="347472" cy="347472"/>
          </a:xfrm>
          <a:prstGeom prst="rect">
            <a:avLst/>
          </a:prstGeom>
        </p:spPr>
      </p:pic>
      <p:sp>
        <p:nvSpPr>
          <p:cNvPr id="4" name="Text 1"/>
          <p:cNvSpPr/>
          <p:nvPr/>
        </p:nvSpPr>
        <p:spPr>
          <a:xfrm>
            <a:off x="1417320" y="457200"/>
            <a:ext cx="8229600" cy="256032"/>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SOLUTION</a:t>
            </a:r>
            <a:endParaRPr lang="en-US" sz="1200" dirty="0"/>
          </a:p>
        </p:txBody>
      </p:sp>
      <p:sp>
        <p:nvSpPr>
          <p:cNvPr id="5" name="Text 2"/>
          <p:cNvSpPr/>
          <p:nvPr/>
        </p:nvSpPr>
        <p:spPr>
          <a:xfrm>
            <a:off x="1389888" y="676656"/>
            <a:ext cx="10241280" cy="566928"/>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Proposed architecture — layered monolith</a:t>
            </a:r>
            <a:endParaRPr lang="en-US" sz="3000" dirty="0"/>
          </a:p>
        </p:txBody>
      </p:sp>
      <p:sp>
        <p:nvSpPr>
          <p:cNvPr id="6" name="Shape 3"/>
          <p:cNvSpPr/>
          <p:nvPr/>
        </p:nvSpPr>
        <p:spPr>
          <a:xfrm>
            <a:off x="548640" y="2103120"/>
            <a:ext cx="2468880" cy="2377440"/>
          </a:xfrm>
          <a:prstGeom prst="roundRect">
            <a:avLst>
              <a:gd name="adj" fmla="val 3077"/>
            </a:avLst>
          </a:prstGeom>
          <a:solidFill>
            <a:srgbClr val="EAF6F6"/>
          </a:solidFill>
          <a:ln w="22225">
            <a:solidFill>
              <a:srgbClr val="F2B705"/>
            </a:solidFill>
            <a:prstDash val="solid"/>
          </a:ln>
          <a:effectLst>
            <a:outerShdw blurRad="88900" dist="38100" dir="5400000" algn="bl" rotWithShape="0">
              <a:srgbClr val="0A2E36">
                <a:alpha val="16000"/>
              </a:srgbClr>
            </a:outerShdw>
          </a:effectLst>
        </p:spPr>
        <p:txBody>
          <a:bodyPr/>
          <a:lstStyle/>
          <a:p>
            <a:endParaRPr lang="fr-FR"/>
          </a:p>
        </p:txBody>
      </p:sp>
      <p:sp>
        <p:nvSpPr>
          <p:cNvPr id="7" name="Shape 4"/>
          <p:cNvSpPr/>
          <p:nvPr/>
        </p:nvSpPr>
        <p:spPr>
          <a:xfrm>
            <a:off x="1499616" y="2331720"/>
            <a:ext cx="566928" cy="566928"/>
          </a:xfrm>
          <a:prstGeom prst="ellipse">
            <a:avLst/>
          </a:prstGeom>
          <a:solidFill>
            <a:srgbClr val="F2B705"/>
          </a:solidFill>
          <a:ln/>
        </p:spPr>
        <p:txBody>
          <a:bodyPr/>
          <a:lstStyle/>
          <a:p>
            <a:endParaRPr lang="fr-FR"/>
          </a:p>
        </p:txBody>
      </p:sp>
      <p:pic>
        <p:nvPicPr>
          <p:cNvPr id="8" name="Image 1" descr="preencoded.png"/>
          <p:cNvPicPr>
            <a:picLocks noChangeAspect="1"/>
          </p:cNvPicPr>
          <p:nvPr/>
        </p:nvPicPr>
        <p:blipFill>
          <a:blip r:embed="rId4"/>
          <a:stretch>
            <a:fillRect/>
          </a:stretch>
        </p:blipFill>
        <p:spPr>
          <a:xfrm>
            <a:off x="1652687" y="2484791"/>
            <a:ext cx="260787" cy="260787"/>
          </a:xfrm>
          <a:prstGeom prst="rect">
            <a:avLst/>
          </a:prstGeom>
        </p:spPr>
      </p:pic>
      <p:sp>
        <p:nvSpPr>
          <p:cNvPr id="9" name="Text 5"/>
          <p:cNvSpPr/>
          <p:nvPr/>
        </p:nvSpPr>
        <p:spPr>
          <a:xfrm>
            <a:off x="548640" y="2971800"/>
            <a:ext cx="2468880" cy="310896"/>
          </a:xfrm>
          <a:prstGeom prst="rect">
            <a:avLst/>
          </a:prstGeom>
          <a:noFill/>
          <a:ln/>
        </p:spPr>
        <p:txBody>
          <a:bodyPr wrap="square" lIns="0" tIns="0" rIns="0" bIns="0" rtlCol="0" anchor="ctr"/>
          <a:lstStyle/>
          <a:p>
            <a:pPr marL="0" indent="0" algn="ctr">
              <a:buNone/>
            </a:pPr>
            <a:r>
              <a:rPr lang="en-US" sz="1300" b="1" dirty="0">
                <a:solidFill>
                  <a:srgbClr val="0B3C49"/>
                </a:solidFill>
                <a:latin typeface="Calibri" pitchFamily="34" charset="0"/>
                <a:ea typeface="Calibri" pitchFamily="34" charset="-122"/>
                <a:cs typeface="Calibri" pitchFamily="34" charset="-120"/>
              </a:rPr>
              <a:t>Web Browser</a:t>
            </a:r>
            <a:endParaRPr lang="en-US" sz="1300" dirty="0"/>
          </a:p>
        </p:txBody>
      </p:sp>
      <p:sp>
        <p:nvSpPr>
          <p:cNvPr id="10" name="Text 6"/>
          <p:cNvSpPr/>
          <p:nvPr/>
        </p:nvSpPr>
        <p:spPr>
          <a:xfrm>
            <a:off x="548640" y="3291840"/>
            <a:ext cx="2468880" cy="1005840"/>
          </a:xfrm>
          <a:prstGeom prst="rect">
            <a:avLst/>
          </a:prstGeom>
          <a:noFill/>
          <a:ln/>
        </p:spPr>
        <p:txBody>
          <a:bodyPr wrap="square" lIns="0" tIns="0" rIns="0" bIns="0" rtlCol="0" anchor="ctr"/>
          <a:lstStyle/>
          <a:p>
            <a:pPr marL="0" indent="0" algn="ctr">
              <a:buNone/>
            </a:pPr>
            <a:r>
              <a:rPr lang="en-US" sz="1100" dirty="0">
                <a:solidFill>
                  <a:srgbClr val="557079"/>
                </a:solidFill>
                <a:latin typeface="Calibri" pitchFamily="34" charset="0"/>
                <a:ea typeface="Calibri" pitchFamily="34" charset="-122"/>
                <a:cs typeface="Calibri" pitchFamily="34" charset="-120"/>
              </a:rPr>
              <a:t>HTML · CSS · JS</a:t>
            </a:r>
            <a:endParaRPr lang="en-US" sz="1100" dirty="0"/>
          </a:p>
          <a:p>
            <a:pPr marL="0" indent="0" algn="ctr">
              <a:buNone/>
            </a:pPr>
            <a:r>
              <a:rPr lang="en-US" sz="1100" dirty="0">
                <a:solidFill>
                  <a:srgbClr val="557079"/>
                </a:solidFill>
                <a:latin typeface="Calibri" pitchFamily="34" charset="0"/>
                <a:ea typeface="Calibri" pitchFamily="34" charset="-122"/>
                <a:cs typeface="Calibri" pitchFamily="34" charset="-120"/>
              </a:rPr>
              <a:t>Bootstrap UI</a:t>
            </a:r>
            <a:endParaRPr lang="en-US" sz="1100" dirty="0"/>
          </a:p>
          <a:p>
            <a:pPr marL="0" indent="0" algn="ctr">
              <a:buNone/>
            </a:pPr>
            <a:r>
              <a:rPr lang="en-US" sz="1100" dirty="0">
                <a:solidFill>
                  <a:srgbClr val="557079"/>
                </a:solidFill>
                <a:latin typeface="Calibri" pitchFamily="34" charset="0"/>
                <a:ea typeface="Calibri" pitchFamily="34" charset="-122"/>
                <a:cs typeface="Calibri" pitchFamily="34" charset="-120"/>
              </a:rPr>
              <a:t>fetch() calls</a:t>
            </a:r>
            <a:endParaRPr lang="en-US" sz="1100" dirty="0"/>
          </a:p>
        </p:txBody>
      </p:sp>
      <p:sp>
        <p:nvSpPr>
          <p:cNvPr id="11" name="Shape 7"/>
          <p:cNvSpPr/>
          <p:nvPr/>
        </p:nvSpPr>
        <p:spPr>
          <a:xfrm>
            <a:off x="3657600" y="1600200"/>
            <a:ext cx="7955280" cy="4800600"/>
          </a:xfrm>
          <a:prstGeom prst="roundRect">
            <a:avLst>
              <a:gd name="adj" fmla="val 762"/>
            </a:avLst>
          </a:prstGeom>
          <a:solidFill>
            <a:srgbClr val="F7FCFC"/>
          </a:solidFill>
          <a:ln w="19050">
            <a:solidFill>
              <a:srgbClr val="00A896"/>
            </a:solidFill>
            <a:prstDash val="dash"/>
          </a:ln>
        </p:spPr>
        <p:txBody>
          <a:bodyPr/>
          <a:lstStyle/>
          <a:p>
            <a:endParaRPr lang="fr-FR"/>
          </a:p>
        </p:txBody>
      </p:sp>
      <p:pic>
        <p:nvPicPr>
          <p:cNvPr id="12" name="Image 2" descr="preencoded.png"/>
          <p:cNvPicPr>
            <a:picLocks noChangeAspect="1"/>
          </p:cNvPicPr>
          <p:nvPr/>
        </p:nvPicPr>
        <p:blipFill>
          <a:blip r:embed="rId5"/>
          <a:stretch>
            <a:fillRect/>
          </a:stretch>
        </p:blipFill>
        <p:spPr>
          <a:xfrm>
            <a:off x="3840480" y="1737360"/>
            <a:ext cx="310896" cy="310896"/>
          </a:xfrm>
          <a:prstGeom prst="rect">
            <a:avLst/>
          </a:prstGeom>
        </p:spPr>
      </p:pic>
      <p:sp>
        <p:nvSpPr>
          <p:cNvPr id="13" name="Text 8"/>
          <p:cNvSpPr/>
          <p:nvPr/>
        </p:nvSpPr>
        <p:spPr>
          <a:xfrm>
            <a:off x="4224528" y="1719072"/>
            <a:ext cx="7223760" cy="329184"/>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Docker Compose   (network: fish-net)</a:t>
            </a:r>
            <a:endParaRPr lang="en-US" sz="1200" dirty="0"/>
          </a:p>
        </p:txBody>
      </p:sp>
      <p:sp>
        <p:nvSpPr>
          <p:cNvPr id="14" name="Shape 9"/>
          <p:cNvSpPr/>
          <p:nvPr/>
        </p:nvSpPr>
        <p:spPr>
          <a:xfrm>
            <a:off x="3977640" y="2194560"/>
            <a:ext cx="4206240" cy="3657600"/>
          </a:xfrm>
          <a:prstGeom prst="roundRect">
            <a:avLst>
              <a:gd name="adj" fmla="val 1250"/>
            </a:avLst>
          </a:prstGeom>
          <a:solidFill>
            <a:srgbClr val="FFFFFF"/>
          </a:solidFill>
          <a:ln w="15875">
            <a:solidFill>
              <a:srgbClr val="0B3C49"/>
            </a:solidFill>
            <a:prstDash val="solid"/>
          </a:ln>
          <a:effectLst>
            <a:outerShdw blurRad="88900" dist="38100" dir="5400000" algn="bl" rotWithShape="0">
              <a:srgbClr val="0A2E36">
                <a:alpha val="16000"/>
              </a:srgbClr>
            </a:outerShdw>
          </a:effectLst>
        </p:spPr>
        <p:txBody>
          <a:bodyPr/>
          <a:lstStyle/>
          <a:p>
            <a:endParaRPr lang="fr-FR"/>
          </a:p>
        </p:txBody>
      </p:sp>
      <p:pic>
        <p:nvPicPr>
          <p:cNvPr id="15" name="Image 3" descr="preencoded.png"/>
          <p:cNvPicPr>
            <a:picLocks noChangeAspect="1"/>
          </p:cNvPicPr>
          <p:nvPr/>
        </p:nvPicPr>
        <p:blipFill>
          <a:blip r:embed="rId6"/>
          <a:stretch>
            <a:fillRect/>
          </a:stretch>
        </p:blipFill>
        <p:spPr>
          <a:xfrm>
            <a:off x="4160520" y="2340864"/>
            <a:ext cx="292608" cy="292608"/>
          </a:xfrm>
          <a:prstGeom prst="rect">
            <a:avLst/>
          </a:prstGeom>
        </p:spPr>
      </p:pic>
      <p:sp>
        <p:nvSpPr>
          <p:cNvPr id="16" name="Text 10"/>
          <p:cNvSpPr/>
          <p:nvPr/>
        </p:nvSpPr>
        <p:spPr>
          <a:xfrm>
            <a:off x="4526280" y="2313432"/>
            <a:ext cx="3566160" cy="310896"/>
          </a:xfrm>
          <a:prstGeom prst="rect">
            <a:avLst/>
          </a:prstGeom>
          <a:noFill/>
          <a:ln/>
        </p:spPr>
        <p:txBody>
          <a:bodyPr wrap="square" lIns="0" tIns="0" rIns="0" bIns="0" rtlCol="0" anchor="ctr"/>
          <a:lstStyle/>
          <a:p>
            <a:pPr marL="0" indent="0">
              <a:buNone/>
            </a:pPr>
            <a:r>
              <a:rPr lang="en-US" sz="1150" b="1" dirty="0">
                <a:solidFill>
                  <a:srgbClr val="0B3C49"/>
                </a:solidFill>
                <a:latin typeface="Calibri" pitchFamily="34" charset="0"/>
                <a:ea typeface="Calibri" pitchFamily="34" charset="-122"/>
                <a:cs typeface="Calibri" pitchFamily="34" charset="-120"/>
              </a:rPr>
              <a:t>Container: app — Spring Boot</a:t>
            </a:r>
            <a:endParaRPr lang="en-US" sz="1150" dirty="0"/>
          </a:p>
        </p:txBody>
      </p:sp>
      <p:sp>
        <p:nvSpPr>
          <p:cNvPr id="17" name="Shape 11"/>
          <p:cNvSpPr/>
          <p:nvPr/>
        </p:nvSpPr>
        <p:spPr>
          <a:xfrm>
            <a:off x="4206240" y="2743200"/>
            <a:ext cx="3749040" cy="621792"/>
          </a:xfrm>
          <a:prstGeom prst="roundRect">
            <a:avLst>
              <a:gd name="adj" fmla="val 7353"/>
            </a:avLst>
          </a:prstGeom>
          <a:solidFill>
            <a:srgbClr val="F1FAFA"/>
          </a:solidFill>
          <a:ln w="15875">
            <a:solidFill>
              <a:srgbClr val="02C39A"/>
            </a:solidFill>
            <a:prstDash val="solid"/>
          </a:ln>
        </p:spPr>
        <p:txBody>
          <a:bodyPr/>
          <a:lstStyle/>
          <a:p>
            <a:endParaRPr lang="fr-FR"/>
          </a:p>
        </p:txBody>
      </p:sp>
      <p:sp>
        <p:nvSpPr>
          <p:cNvPr id="18" name="Text 12"/>
          <p:cNvSpPr/>
          <p:nvPr/>
        </p:nvSpPr>
        <p:spPr>
          <a:xfrm>
            <a:off x="4343400" y="2743200"/>
            <a:ext cx="3566160" cy="621792"/>
          </a:xfrm>
          <a:prstGeom prst="rect">
            <a:avLst/>
          </a:prstGeom>
          <a:noFill/>
          <a:ln/>
        </p:spPr>
        <p:txBody>
          <a:bodyPr wrap="square" lIns="0" tIns="0" rIns="0" bIns="0" rtlCol="0" anchor="ctr"/>
          <a:lstStyle/>
          <a:p>
            <a:pPr marL="0" indent="0">
              <a:buNone/>
            </a:pPr>
            <a:r>
              <a:rPr lang="en-US" sz="1150" b="1" dirty="0">
                <a:solidFill>
                  <a:srgbClr val="0B3C49"/>
                </a:solidFill>
                <a:latin typeface="Calibri" pitchFamily="34" charset="0"/>
                <a:ea typeface="Calibri" pitchFamily="34" charset="-122"/>
                <a:cs typeface="Calibri" pitchFamily="34" charset="-120"/>
              </a:rPr>
              <a:t>Static resources
</a:t>
            </a:r>
            <a:r>
              <a:rPr lang="en-US" sz="950" dirty="0">
                <a:solidFill>
                  <a:srgbClr val="557079"/>
                </a:solidFill>
                <a:latin typeface="Calibri" pitchFamily="34" charset="0"/>
                <a:ea typeface="Calibri" pitchFamily="34" charset="-122"/>
                <a:cs typeface="Calibri" pitchFamily="34" charset="-120"/>
              </a:rPr>
              <a:t>HTML / CSS / JS / Bootstrap</a:t>
            </a:r>
            <a:endParaRPr lang="en-US" sz="1150" dirty="0"/>
          </a:p>
        </p:txBody>
      </p:sp>
      <p:sp>
        <p:nvSpPr>
          <p:cNvPr id="19" name="Shape 13"/>
          <p:cNvSpPr/>
          <p:nvPr/>
        </p:nvSpPr>
        <p:spPr>
          <a:xfrm>
            <a:off x="4206240" y="3493008"/>
            <a:ext cx="3749040" cy="621792"/>
          </a:xfrm>
          <a:prstGeom prst="roundRect">
            <a:avLst>
              <a:gd name="adj" fmla="val 7353"/>
            </a:avLst>
          </a:prstGeom>
          <a:solidFill>
            <a:srgbClr val="EAF6F6"/>
          </a:solidFill>
          <a:ln w="15875">
            <a:solidFill>
              <a:srgbClr val="00A896"/>
            </a:solidFill>
            <a:prstDash val="solid"/>
          </a:ln>
        </p:spPr>
        <p:txBody>
          <a:bodyPr/>
          <a:lstStyle/>
          <a:p>
            <a:endParaRPr lang="fr-FR"/>
          </a:p>
        </p:txBody>
      </p:sp>
      <p:sp>
        <p:nvSpPr>
          <p:cNvPr id="20" name="Text 14"/>
          <p:cNvSpPr/>
          <p:nvPr/>
        </p:nvSpPr>
        <p:spPr>
          <a:xfrm>
            <a:off x="4343400" y="3493008"/>
            <a:ext cx="3566160" cy="621792"/>
          </a:xfrm>
          <a:prstGeom prst="rect">
            <a:avLst/>
          </a:prstGeom>
          <a:noFill/>
          <a:ln/>
        </p:spPr>
        <p:txBody>
          <a:bodyPr wrap="square" lIns="0" tIns="0" rIns="0" bIns="0" rtlCol="0" anchor="ctr"/>
          <a:lstStyle/>
          <a:p>
            <a:pPr marL="0" indent="0">
              <a:buNone/>
            </a:pPr>
            <a:r>
              <a:rPr lang="en-US" sz="1150" b="1" dirty="0">
                <a:solidFill>
                  <a:srgbClr val="0B3C49"/>
                </a:solidFill>
                <a:latin typeface="Calibri" pitchFamily="34" charset="0"/>
                <a:ea typeface="Calibri" pitchFamily="34" charset="-122"/>
                <a:cs typeface="Calibri" pitchFamily="34" charset="-120"/>
              </a:rPr>
              <a:t>Controller layer
</a:t>
            </a:r>
            <a:r>
              <a:rPr lang="en-US" sz="950" dirty="0">
                <a:solidFill>
                  <a:srgbClr val="557079"/>
                </a:solidFill>
                <a:latin typeface="Calibri" pitchFamily="34" charset="0"/>
                <a:ea typeface="Calibri" pitchFamily="34" charset="-122"/>
                <a:cs typeface="Calibri" pitchFamily="34" charset="-120"/>
              </a:rPr>
              <a:t>@RestController · REST /api/**</a:t>
            </a:r>
            <a:endParaRPr lang="en-US" sz="1150" dirty="0"/>
          </a:p>
        </p:txBody>
      </p:sp>
      <p:sp>
        <p:nvSpPr>
          <p:cNvPr id="21" name="Shape 15"/>
          <p:cNvSpPr/>
          <p:nvPr/>
        </p:nvSpPr>
        <p:spPr>
          <a:xfrm>
            <a:off x="6080760" y="3364992"/>
            <a:ext cx="0" cy="128016"/>
          </a:xfrm>
          <a:prstGeom prst="line">
            <a:avLst/>
          </a:prstGeom>
          <a:noFill/>
          <a:ln w="12700">
            <a:solidFill>
              <a:srgbClr val="557079"/>
            </a:solidFill>
            <a:prstDash val="solid"/>
          </a:ln>
        </p:spPr>
        <p:txBody>
          <a:bodyPr/>
          <a:lstStyle/>
          <a:p>
            <a:endParaRPr lang="fr-FR"/>
          </a:p>
        </p:txBody>
      </p:sp>
      <p:sp>
        <p:nvSpPr>
          <p:cNvPr id="22" name="Shape 16"/>
          <p:cNvSpPr/>
          <p:nvPr/>
        </p:nvSpPr>
        <p:spPr>
          <a:xfrm>
            <a:off x="4206240" y="4242816"/>
            <a:ext cx="3749040" cy="621792"/>
          </a:xfrm>
          <a:prstGeom prst="roundRect">
            <a:avLst>
              <a:gd name="adj" fmla="val 7353"/>
            </a:avLst>
          </a:prstGeom>
          <a:solidFill>
            <a:srgbClr val="F1FAFA"/>
          </a:solidFill>
          <a:ln w="15875">
            <a:solidFill>
              <a:srgbClr val="028090"/>
            </a:solidFill>
            <a:prstDash val="solid"/>
          </a:ln>
        </p:spPr>
        <p:txBody>
          <a:bodyPr/>
          <a:lstStyle/>
          <a:p>
            <a:endParaRPr lang="fr-FR"/>
          </a:p>
        </p:txBody>
      </p:sp>
      <p:sp>
        <p:nvSpPr>
          <p:cNvPr id="23" name="Text 17"/>
          <p:cNvSpPr/>
          <p:nvPr/>
        </p:nvSpPr>
        <p:spPr>
          <a:xfrm>
            <a:off x="4343400" y="4242816"/>
            <a:ext cx="3566160" cy="621792"/>
          </a:xfrm>
          <a:prstGeom prst="rect">
            <a:avLst/>
          </a:prstGeom>
          <a:noFill/>
          <a:ln/>
        </p:spPr>
        <p:txBody>
          <a:bodyPr wrap="square" lIns="0" tIns="0" rIns="0" bIns="0" rtlCol="0" anchor="ctr"/>
          <a:lstStyle/>
          <a:p>
            <a:pPr marL="0" indent="0">
              <a:buNone/>
            </a:pPr>
            <a:r>
              <a:rPr lang="en-US" sz="1150" b="1" dirty="0">
                <a:solidFill>
                  <a:srgbClr val="0B3C49"/>
                </a:solidFill>
                <a:latin typeface="Calibri" pitchFamily="34" charset="0"/>
                <a:ea typeface="Calibri" pitchFamily="34" charset="-122"/>
                <a:cs typeface="Calibri" pitchFamily="34" charset="-120"/>
              </a:rPr>
              <a:t>Service layer
</a:t>
            </a:r>
            <a:r>
              <a:rPr lang="en-US" sz="950" dirty="0">
                <a:solidFill>
                  <a:srgbClr val="557079"/>
                </a:solidFill>
                <a:latin typeface="Calibri" pitchFamily="34" charset="0"/>
                <a:ea typeface="Calibri" pitchFamily="34" charset="-122"/>
                <a:cs typeface="Calibri" pitchFamily="34" charset="-120"/>
              </a:rPr>
              <a:t>Business logic · @Scheduled tasks</a:t>
            </a:r>
            <a:endParaRPr lang="en-US" sz="1150" dirty="0"/>
          </a:p>
        </p:txBody>
      </p:sp>
      <p:sp>
        <p:nvSpPr>
          <p:cNvPr id="24" name="Shape 18"/>
          <p:cNvSpPr/>
          <p:nvPr/>
        </p:nvSpPr>
        <p:spPr>
          <a:xfrm>
            <a:off x="6080760" y="4114800"/>
            <a:ext cx="0" cy="128016"/>
          </a:xfrm>
          <a:prstGeom prst="line">
            <a:avLst/>
          </a:prstGeom>
          <a:noFill/>
          <a:ln w="12700">
            <a:solidFill>
              <a:srgbClr val="557079"/>
            </a:solidFill>
            <a:prstDash val="solid"/>
          </a:ln>
        </p:spPr>
        <p:txBody>
          <a:bodyPr/>
          <a:lstStyle/>
          <a:p>
            <a:endParaRPr lang="fr-FR"/>
          </a:p>
        </p:txBody>
      </p:sp>
      <p:sp>
        <p:nvSpPr>
          <p:cNvPr id="25" name="Shape 19"/>
          <p:cNvSpPr/>
          <p:nvPr/>
        </p:nvSpPr>
        <p:spPr>
          <a:xfrm>
            <a:off x="4206240" y="4992624"/>
            <a:ext cx="3749040" cy="621792"/>
          </a:xfrm>
          <a:prstGeom prst="roundRect">
            <a:avLst>
              <a:gd name="adj" fmla="val 7353"/>
            </a:avLst>
          </a:prstGeom>
          <a:solidFill>
            <a:srgbClr val="EAF6F6"/>
          </a:solidFill>
          <a:ln w="15875">
            <a:solidFill>
              <a:srgbClr val="0B3C49"/>
            </a:solidFill>
            <a:prstDash val="solid"/>
          </a:ln>
        </p:spPr>
        <p:txBody>
          <a:bodyPr/>
          <a:lstStyle/>
          <a:p>
            <a:endParaRPr lang="fr-FR"/>
          </a:p>
        </p:txBody>
      </p:sp>
      <p:sp>
        <p:nvSpPr>
          <p:cNvPr id="26" name="Text 20"/>
          <p:cNvSpPr/>
          <p:nvPr/>
        </p:nvSpPr>
        <p:spPr>
          <a:xfrm>
            <a:off x="4343400" y="4992624"/>
            <a:ext cx="3566160" cy="621792"/>
          </a:xfrm>
          <a:prstGeom prst="rect">
            <a:avLst/>
          </a:prstGeom>
          <a:noFill/>
          <a:ln/>
        </p:spPr>
        <p:txBody>
          <a:bodyPr wrap="square" lIns="0" tIns="0" rIns="0" bIns="0" rtlCol="0" anchor="ctr"/>
          <a:lstStyle/>
          <a:p>
            <a:pPr marL="0" indent="0">
              <a:buNone/>
            </a:pPr>
            <a:r>
              <a:rPr lang="en-US" sz="1150" b="1" dirty="0">
                <a:solidFill>
                  <a:srgbClr val="0B3C49"/>
                </a:solidFill>
                <a:latin typeface="Calibri" pitchFamily="34" charset="0"/>
                <a:ea typeface="Calibri" pitchFamily="34" charset="-122"/>
                <a:cs typeface="Calibri" pitchFamily="34" charset="-120"/>
              </a:rPr>
              <a:t>Repository layer
</a:t>
            </a:r>
            <a:r>
              <a:rPr lang="en-US" sz="950" dirty="0">
                <a:solidFill>
                  <a:srgbClr val="557079"/>
                </a:solidFill>
                <a:latin typeface="Calibri" pitchFamily="34" charset="0"/>
                <a:ea typeface="Calibri" pitchFamily="34" charset="-122"/>
                <a:cs typeface="Calibri" pitchFamily="34" charset="-120"/>
              </a:rPr>
              <a:t>Spring Data JPA (Hibernate)</a:t>
            </a:r>
            <a:endParaRPr lang="en-US" sz="1150" dirty="0"/>
          </a:p>
        </p:txBody>
      </p:sp>
      <p:sp>
        <p:nvSpPr>
          <p:cNvPr id="27" name="Shape 21"/>
          <p:cNvSpPr/>
          <p:nvPr/>
        </p:nvSpPr>
        <p:spPr>
          <a:xfrm>
            <a:off x="6080760" y="4864608"/>
            <a:ext cx="0" cy="128016"/>
          </a:xfrm>
          <a:prstGeom prst="line">
            <a:avLst/>
          </a:prstGeom>
          <a:noFill/>
          <a:ln w="12700">
            <a:solidFill>
              <a:srgbClr val="557079"/>
            </a:solidFill>
            <a:prstDash val="solid"/>
          </a:ln>
        </p:spPr>
        <p:txBody>
          <a:bodyPr/>
          <a:lstStyle/>
          <a:p>
            <a:endParaRPr lang="fr-FR"/>
          </a:p>
        </p:txBody>
      </p:sp>
      <p:sp>
        <p:nvSpPr>
          <p:cNvPr id="28" name="Shape 22"/>
          <p:cNvSpPr/>
          <p:nvPr/>
        </p:nvSpPr>
        <p:spPr>
          <a:xfrm>
            <a:off x="8732520" y="3063240"/>
            <a:ext cx="2606040" cy="2286000"/>
          </a:xfrm>
          <a:prstGeom prst="roundRect">
            <a:avLst>
              <a:gd name="adj" fmla="val 2000"/>
            </a:avLst>
          </a:prstGeom>
          <a:solidFill>
            <a:srgbClr val="FFFFFF"/>
          </a:solidFill>
          <a:ln w="15875">
            <a:solidFill>
              <a:srgbClr val="0B3C49"/>
            </a:solidFill>
            <a:prstDash val="solid"/>
          </a:ln>
          <a:effectLst>
            <a:outerShdw blurRad="88900" dist="38100" dir="5400000" algn="bl" rotWithShape="0">
              <a:srgbClr val="0A2E36">
                <a:alpha val="16000"/>
              </a:srgbClr>
            </a:outerShdw>
          </a:effectLst>
        </p:spPr>
        <p:txBody>
          <a:bodyPr/>
          <a:lstStyle/>
          <a:p>
            <a:endParaRPr lang="fr-FR"/>
          </a:p>
        </p:txBody>
      </p:sp>
      <p:sp>
        <p:nvSpPr>
          <p:cNvPr id="29" name="Text 23"/>
          <p:cNvSpPr/>
          <p:nvPr/>
        </p:nvSpPr>
        <p:spPr>
          <a:xfrm>
            <a:off x="8732520" y="3172968"/>
            <a:ext cx="2606040" cy="274320"/>
          </a:xfrm>
          <a:prstGeom prst="rect">
            <a:avLst/>
          </a:prstGeom>
          <a:noFill/>
          <a:ln/>
        </p:spPr>
        <p:txBody>
          <a:bodyPr wrap="square" lIns="0" tIns="0" rIns="0" bIns="0" rtlCol="0" anchor="ctr"/>
          <a:lstStyle/>
          <a:p>
            <a:pPr marL="0" indent="0" algn="ctr">
              <a:buNone/>
            </a:pPr>
            <a:r>
              <a:rPr lang="en-US" sz="1150" b="1" dirty="0">
                <a:solidFill>
                  <a:srgbClr val="0B3C49"/>
                </a:solidFill>
                <a:latin typeface="Calibri" pitchFamily="34" charset="0"/>
                <a:ea typeface="Calibri" pitchFamily="34" charset="-122"/>
                <a:cs typeface="Calibri" pitchFamily="34" charset="-120"/>
              </a:rPr>
              <a:t>Container: db</a:t>
            </a:r>
            <a:endParaRPr lang="en-US" sz="1150" dirty="0"/>
          </a:p>
        </p:txBody>
      </p:sp>
      <p:sp>
        <p:nvSpPr>
          <p:cNvPr id="30" name="Shape 24"/>
          <p:cNvSpPr/>
          <p:nvPr/>
        </p:nvSpPr>
        <p:spPr>
          <a:xfrm>
            <a:off x="9624060" y="3566160"/>
            <a:ext cx="822960" cy="822960"/>
          </a:xfrm>
          <a:prstGeom prst="ellipse">
            <a:avLst/>
          </a:prstGeom>
          <a:solidFill>
            <a:srgbClr val="02C39A"/>
          </a:solidFill>
          <a:ln/>
        </p:spPr>
        <p:txBody>
          <a:bodyPr/>
          <a:lstStyle/>
          <a:p>
            <a:endParaRPr lang="fr-FR"/>
          </a:p>
        </p:txBody>
      </p:sp>
      <p:pic>
        <p:nvPicPr>
          <p:cNvPr id="31" name="Image 4" descr="preencoded.png"/>
          <p:cNvPicPr>
            <a:picLocks noChangeAspect="1"/>
          </p:cNvPicPr>
          <p:nvPr/>
        </p:nvPicPr>
        <p:blipFill>
          <a:blip r:embed="rId7"/>
          <a:stretch>
            <a:fillRect/>
          </a:stretch>
        </p:blipFill>
        <p:spPr>
          <a:xfrm>
            <a:off x="9788652" y="3730752"/>
            <a:ext cx="493776" cy="493776"/>
          </a:xfrm>
          <a:prstGeom prst="rect">
            <a:avLst/>
          </a:prstGeom>
        </p:spPr>
      </p:pic>
      <p:sp>
        <p:nvSpPr>
          <p:cNvPr id="32" name="Text 25"/>
          <p:cNvSpPr/>
          <p:nvPr/>
        </p:nvSpPr>
        <p:spPr>
          <a:xfrm>
            <a:off x="8732520" y="4480560"/>
            <a:ext cx="2606040" cy="731520"/>
          </a:xfrm>
          <a:prstGeom prst="rect">
            <a:avLst/>
          </a:prstGeom>
          <a:noFill/>
          <a:ln/>
        </p:spPr>
        <p:txBody>
          <a:bodyPr wrap="square" lIns="0" tIns="0" rIns="0" bIns="0" rtlCol="0" anchor="ctr"/>
          <a:lstStyle/>
          <a:p>
            <a:pPr marL="0" indent="0" algn="ctr">
              <a:buNone/>
            </a:pPr>
            <a:r>
              <a:rPr lang="en-US" sz="1050" dirty="0">
                <a:solidFill>
                  <a:srgbClr val="557079"/>
                </a:solidFill>
                <a:latin typeface="Calibri" pitchFamily="34" charset="0"/>
                <a:ea typeface="Calibri" pitchFamily="34" charset="-122"/>
                <a:cs typeface="Calibri" pitchFamily="34" charset="-120"/>
              </a:rPr>
              <a:t>PostgreSQL</a:t>
            </a:r>
            <a:endParaRPr lang="en-US" sz="1050" dirty="0"/>
          </a:p>
          <a:p>
            <a:pPr marL="0" indent="0" algn="ctr">
              <a:buNone/>
            </a:pPr>
            <a:r>
              <a:rPr lang="en-US" sz="1050" dirty="0">
                <a:solidFill>
                  <a:srgbClr val="557079"/>
                </a:solidFill>
                <a:latin typeface="Calibri" pitchFamily="34" charset="0"/>
                <a:ea typeface="Calibri" pitchFamily="34" charset="-122"/>
                <a:cs typeface="Calibri" pitchFamily="34" charset="-120"/>
              </a:rPr>
              <a:t>Volume: pgdata (persistent)</a:t>
            </a:r>
            <a:endParaRPr lang="en-US" sz="1050" dirty="0"/>
          </a:p>
        </p:txBody>
      </p:sp>
      <p:sp>
        <p:nvSpPr>
          <p:cNvPr id="33" name="Shape 26"/>
          <p:cNvSpPr/>
          <p:nvPr/>
        </p:nvSpPr>
        <p:spPr>
          <a:xfrm>
            <a:off x="3017520" y="3291840"/>
            <a:ext cx="960120" cy="0"/>
          </a:xfrm>
          <a:prstGeom prst="line">
            <a:avLst/>
          </a:prstGeom>
          <a:noFill/>
          <a:ln w="25400">
            <a:solidFill>
              <a:srgbClr val="F2B705"/>
            </a:solidFill>
            <a:prstDash val="solid"/>
          </a:ln>
        </p:spPr>
        <p:txBody>
          <a:bodyPr/>
          <a:lstStyle/>
          <a:p>
            <a:endParaRPr lang="fr-FR"/>
          </a:p>
        </p:txBody>
      </p:sp>
      <p:sp>
        <p:nvSpPr>
          <p:cNvPr id="34" name="Text 27"/>
          <p:cNvSpPr/>
          <p:nvPr/>
        </p:nvSpPr>
        <p:spPr>
          <a:xfrm>
            <a:off x="2926080" y="2907792"/>
            <a:ext cx="1143000" cy="310896"/>
          </a:xfrm>
          <a:prstGeom prst="rect">
            <a:avLst/>
          </a:prstGeom>
          <a:noFill/>
          <a:ln/>
        </p:spPr>
        <p:txBody>
          <a:bodyPr wrap="square" lIns="0" tIns="0" rIns="0" bIns="0" rtlCol="0" anchor="ctr"/>
          <a:lstStyle/>
          <a:p>
            <a:pPr marL="0" indent="0" algn="ctr">
              <a:buNone/>
            </a:pPr>
            <a:r>
              <a:rPr lang="en-US" sz="950" b="1" dirty="0">
                <a:solidFill>
                  <a:srgbClr val="0B3C49"/>
                </a:solidFill>
                <a:latin typeface="Calibri" pitchFamily="34" charset="0"/>
                <a:ea typeface="Calibri" pitchFamily="34" charset="-122"/>
                <a:cs typeface="Calibri" pitchFamily="34" charset="-120"/>
              </a:rPr>
              <a:t>HTTP / JSON  (:8080)</a:t>
            </a:r>
            <a:endParaRPr lang="en-US" sz="950" dirty="0"/>
          </a:p>
        </p:txBody>
      </p:sp>
      <p:sp>
        <p:nvSpPr>
          <p:cNvPr id="35" name="Shape 28"/>
          <p:cNvSpPr/>
          <p:nvPr/>
        </p:nvSpPr>
        <p:spPr>
          <a:xfrm>
            <a:off x="8183880" y="4206240"/>
            <a:ext cx="548640" cy="0"/>
          </a:xfrm>
          <a:prstGeom prst="line">
            <a:avLst/>
          </a:prstGeom>
          <a:noFill/>
          <a:ln w="25400">
            <a:solidFill>
              <a:srgbClr val="0B3C49"/>
            </a:solidFill>
            <a:prstDash val="solid"/>
          </a:ln>
        </p:spPr>
        <p:txBody>
          <a:bodyPr/>
          <a:lstStyle/>
          <a:p>
            <a:endParaRPr lang="fr-FR"/>
          </a:p>
        </p:txBody>
      </p:sp>
      <p:sp>
        <p:nvSpPr>
          <p:cNvPr id="36" name="Text 29"/>
          <p:cNvSpPr/>
          <p:nvPr/>
        </p:nvSpPr>
        <p:spPr>
          <a:xfrm>
            <a:off x="8183880" y="3877056"/>
            <a:ext cx="548640" cy="274320"/>
          </a:xfrm>
          <a:prstGeom prst="rect">
            <a:avLst/>
          </a:prstGeom>
          <a:noFill/>
          <a:ln/>
        </p:spPr>
        <p:txBody>
          <a:bodyPr wrap="square" lIns="0" tIns="0" rIns="0" bIns="0" rtlCol="0" anchor="ctr"/>
          <a:lstStyle/>
          <a:p>
            <a:pPr marL="0" indent="0" algn="ctr">
              <a:buNone/>
            </a:pPr>
            <a:r>
              <a:rPr lang="en-US" sz="950" b="1" dirty="0">
                <a:solidFill>
                  <a:srgbClr val="0B3C49"/>
                </a:solidFill>
                <a:latin typeface="Calibri" pitchFamily="34" charset="0"/>
                <a:ea typeface="Calibri" pitchFamily="34" charset="-122"/>
                <a:cs typeface="Calibri" pitchFamily="34" charset="-120"/>
              </a:rPr>
              <a:t>JDBC</a:t>
            </a:r>
            <a:endParaRPr lang="en-US" sz="950" dirty="0"/>
          </a:p>
        </p:txBody>
      </p:sp>
      <p:sp>
        <p:nvSpPr>
          <p:cNvPr id="37" name="Text 30"/>
          <p:cNvSpPr/>
          <p:nvPr/>
        </p:nvSpPr>
        <p:spPr>
          <a:xfrm>
            <a:off x="11612880" y="6400800"/>
            <a:ext cx="457200" cy="274320"/>
          </a:xfrm>
          <a:prstGeom prst="rect">
            <a:avLst/>
          </a:prstGeom>
          <a:noFill/>
          <a:ln/>
        </p:spPr>
        <p:txBody>
          <a:bodyPr wrap="square" lIns="0" tIns="0" rIns="0" bIns="0" rtlCol="0" anchor="ctr"/>
          <a:lstStyle/>
          <a:p>
            <a:pPr marL="0" indent="0" algn="r">
              <a:buNone/>
            </a:pPr>
            <a:r>
              <a:rPr lang="en-US" sz="1100" dirty="0">
                <a:solidFill>
                  <a:srgbClr val="557079"/>
                </a:solidFill>
                <a:latin typeface="Calibri" pitchFamily="34" charset="0"/>
                <a:ea typeface="Calibri" pitchFamily="34" charset="-122"/>
                <a:cs typeface="Calibri" pitchFamily="34" charset="-120"/>
              </a:rPr>
              <a:t>7</a:t>
            </a:r>
            <a:endParaRPr lang="en-US" sz="1100" dirty="0"/>
          </a:p>
        </p:txBody>
      </p:sp>
      <p:pic>
        <p:nvPicPr>
          <p:cNvPr id="38" name="Image 5" descr="preencoded.png"/>
          <p:cNvPicPr>
            <a:picLocks noChangeAspect="1"/>
          </p:cNvPicPr>
          <p:nvPr/>
        </p:nvPicPr>
        <p:blipFill>
          <a:blip r:embed="rId8"/>
          <a:stretch>
            <a:fillRect/>
          </a:stretch>
        </p:blipFill>
        <p:spPr>
          <a:xfrm>
            <a:off x="548640" y="6419088"/>
            <a:ext cx="237744" cy="237744"/>
          </a:xfrm>
          <a:prstGeom prst="rect">
            <a:avLst/>
          </a:prstGeom>
        </p:spPr>
      </p:pic>
      <p:sp>
        <p:nvSpPr>
          <p:cNvPr id="39" name="Text 31"/>
          <p:cNvSpPr/>
          <p:nvPr/>
        </p:nvSpPr>
        <p:spPr>
          <a:xfrm>
            <a:off x="868680" y="6400800"/>
            <a:ext cx="3657600" cy="274320"/>
          </a:xfrm>
          <a:prstGeom prst="rect">
            <a:avLst/>
          </a:prstGeom>
          <a:noFill/>
          <a:ln/>
        </p:spPr>
        <p:txBody>
          <a:bodyPr wrap="square" lIns="0" tIns="0" rIns="0" bIns="0" rtlCol="0" anchor="ctr"/>
          <a:lstStyle/>
          <a:p>
            <a:pPr marL="0" indent="0">
              <a:buNone/>
            </a:pPr>
            <a:r>
              <a:rPr lang="en-US" sz="1000" dirty="0">
                <a:solidFill>
                  <a:srgbClr val="557079"/>
                </a:solidFill>
                <a:latin typeface="Calibri" pitchFamily="34" charset="0"/>
                <a:ea typeface="Calibri" pitchFamily="34" charset="-122"/>
                <a:cs typeface="Calibri" pitchFamily="34" charset="-120"/>
              </a:rPr>
              <a:t>Manage your little fish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02809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713232" y="621792"/>
            <a:ext cx="347472" cy="347472"/>
          </a:xfrm>
          <a:prstGeom prst="rect">
            <a:avLst/>
          </a:prstGeom>
        </p:spPr>
      </p:pic>
      <p:sp>
        <p:nvSpPr>
          <p:cNvPr id="4" name="Text 1"/>
          <p:cNvSpPr/>
          <p:nvPr/>
        </p:nvSpPr>
        <p:spPr>
          <a:xfrm>
            <a:off x="1417320" y="457200"/>
            <a:ext cx="8229600" cy="256032"/>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SOLUTION</a:t>
            </a:r>
            <a:endParaRPr lang="en-US" sz="1200" dirty="0"/>
          </a:p>
        </p:txBody>
      </p:sp>
      <p:sp>
        <p:nvSpPr>
          <p:cNvPr id="5" name="Text 2"/>
          <p:cNvSpPr/>
          <p:nvPr/>
        </p:nvSpPr>
        <p:spPr>
          <a:xfrm>
            <a:off x="1389888" y="676656"/>
            <a:ext cx="10241280" cy="566928"/>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Proposed data model</a:t>
            </a:r>
            <a:endParaRPr lang="en-US" sz="3000" dirty="0"/>
          </a:p>
        </p:txBody>
      </p:sp>
      <p:sp>
        <p:nvSpPr>
          <p:cNvPr id="6" name="Shape 3"/>
          <p:cNvSpPr/>
          <p:nvPr/>
        </p:nvSpPr>
        <p:spPr>
          <a:xfrm>
            <a:off x="6126480" y="2178558"/>
            <a:ext cx="0" cy="1666494"/>
          </a:xfrm>
          <a:prstGeom prst="line">
            <a:avLst/>
          </a:prstGeom>
          <a:noFill/>
          <a:ln w="15875">
            <a:solidFill>
              <a:srgbClr val="9DBBC0"/>
            </a:solidFill>
            <a:prstDash val="solid"/>
          </a:ln>
        </p:spPr>
        <p:txBody>
          <a:bodyPr/>
          <a:lstStyle/>
          <a:p>
            <a:endParaRPr lang="fr-FR"/>
          </a:p>
        </p:txBody>
      </p:sp>
      <p:sp>
        <p:nvSpPr>
          <p:cNvPr id="7" name="Shape 4"/>
          <p:cNvSpPr/>
          <p:nvPr/>
        </p:nvSpPr>
        <p:spPr>
          <a:xfrm flipV="1">
            <a:off x="6126480" y="3845052"/>
            <a:ext cx="0" cy="1716786"/>
          </a:xfrm>
          <a:prstGeom prst="line">
            <a:avLst/>
          </a:prstGeom>
          <a:noFill/>
          <a:ln w="15875">
            <a:solidFill>
              <a:srgbClr val="9DBBC0"/>
            </a:solidFill>
            <a:prstDash val="solid"/>
          </a:ln>
        </p:spPr>
        <p:txBody>
          <a:bodyPr/>
          <a:lstStyle/>
          <a:p>
            <a:endParaRPr lang="fr-FR"/>
          </a:p>
        </p:txBody>
      </p:sp>
      <p:sp>
        <p:nvSpPr>
          <p:cNvPr id="8" name="Shape 5"/>
          <p:cNvSpPr/>
          <p:nvPr/>
        </p:nvSpPr>
        <p:spPr>
          <a:xfrm flipV="1">
            <a:off x="2080260" y="2178558"/>
            <a:ext cx="4046220" cy="91440"/>
          </a:xfrm>
          <a:prstGeom prst="line">
            <a:avLst/>
          </a:prstGeom>
          <a:noFill/>
          <a:ln w="15875">
            <a:solidFill>
              <a:srgbClr val="9DBBC0"/>
            </a:solidFill>
            <a:prstDash val="solid"/>
          </a:ln>
        </p:spPr>
        <p:txBody>
          <a:bodyPr/>
          <a:lstStyle/>
          <a:p>
            <a:endParaRPr lang="fr-FR"/>
          </a:p>
        </p:txBody>
      </p:sp>
      <p:sp>
        <p:nvSpPr>
          <p:cNvPr id="9" name="Shape 6"/>
          <p:cNvSpPr/>
          <p:nvPr/>
        </p:nvSpPr>
        <p:spPr>
          <a:xfrm flipV="1">
            <a:off x="2080260" y="2178558"/>
            <a:ext cx="4046220" cy="2260854"/>
          </a:xfrm>
          <a:prstGeom prst="line">
            <a:avLst/>
          </a:prstGeom>
          <a:noFill/>
          <a:ln w="15875">
            <a:solidFill>
              <a:srgbClr val="9DBBC0"/>
            </a:solidFill>
            <a:prstDash val="solid"/>
          </a:ln>
        </p:spPr>
        <p:txBody>
          <a:bodyPr/>
          <a:lstStyle/>
          <a:p>
            <a:endParaRPr lang="fr-FR"/>
          </a:p>
        </p:txBody>
      </p:sp>
      <p:sp>
        <p:nvSpPr>
          <p:cNvPr id="10" name="Shape 7"/>
          <p:cNvSpPr/>
          <p:nvPr/>
        </p:nvSpPr>
        <p:spPr>
          <a:xfrm flipV="1">
            <a:off x="6126480" y="2153412"/>
            <a:ext cx="3794760" cy="25146"/>
          </a:xfrm>
          <a:prstGeom prst="line">
            <a:avLst/>
          </a:prstGeom>
          <a:noFill/>
          <a:ln w="15875">
            <a:solidFill>
              <a:srgbClr val="9DBBC0"/>
            </a:solidFill>
            <a:prstDash val="solid"/>
          </a:ln>
        </p:spPr>
        <p:txBody>
          <a:bodyPr/>
          <a:lstStyle/>
          <a:p>
            <a:endParaRPr lang="fr-FR"/>
          </a:p>
        </p:txBody>
      </p:sp>
      <p:sp>
        <p:nvSpPr>
          <p:cNvPr id="11" name="Shape 8"/>
          <p:cNvSpPr/>
          <p:nvPr/>
        </p:nvSpPr>
        <p:spPr>
          <a:xfrm>
            <a:off x="6126480" y="2178558"/>
            <a:ext cx="3794760" cy="1828800"/>
          </a:xfrm>
          <a:prstGeom prst="line">
            <a:avLst/>
          </a:prstGeom>
          <a:noFill/>
          <a:ln w="15875">
            <a:solidFill>
              <a:srgbClr val="9DBBC0"/>
            </a:solidFill>
            <a:prstDash val="solid"/>
          </a:ln>
        </p:spPr>
        <p:txBody>
          <a:bodyPr/>
          <a:lstStyle/>
          <a:p>
            <a:endParaRPr lang="fr-FR"/>
          </a:p>
        </p:txBody>
      </p:sp>
      <p:sp>
        <p:nvSpPr>
          <p:cNvPr id="12" name="Shape 9"/>
          <p:cNvSpPr/>
          <p:nvPr/>
        </p:nvSpPr>
        <p:spPr>
          <a:xfrm>
            <a:off x="6126480" y="2178558"/>
            <a:ext cx="3794760" cy="3358134"/>
          </a:xfrm>
          <a:prstGeom prst="line">
            <a:avLst/>
          </a:prstGeom>
          <a:noFill/>
          <a:ln w="15875">
            <a:solidFill>
              <a:srgbClr val="9DBBC0"/>
            </a:solidFill>
            <a:prstDash val="solid"/>
          </a:ln>
        </p:spPr>
        <p:txBody>
          <a:bodyPr/>
          <a:lstStyle/>
          <a:p>
            <a:endParaRPr lang="fr-FR"/>
          </a:p>
        </p:txBody>
      </p:sp>
      <p:sp>
        <p:nvSpPr>
          <p:cNvPr id="13" name="Shape 10"/>
          <p:cNvSpPr/>
          <p:nvPr/>
        </p:nvSpPr>
        <p:spPr>
          <a:xfrm flipV="1">
            <a:off x="6126480" y="2153412"/>
            <a:ext cx="3794760" cy="3408426"/>
          </a:xfrm>
          <a:prstGeom prst="line">
            <a:avLst/>
          </a:prstGeom>
          <a:noFill/>
          <a:ln w="15875">
            <a:solidFill>
              <a:srgbClr val="9DBBC0"/>
            </a:solidFill>
            <a:prstDash val="solid"/>
          </a:ln>
        </p:spPr>
        <p:txBody>
          <a:bodyPr/>
          <a:lstStyle/>
          <a:p>
            <a:endParaRPr lang="fr-FR"/>
          </a:p>
        </p:txBody>
      </p:sp>
      <p:sp>
        <p:nvSpPr>
          <p:cNvPr id="14" name="Shape 11"/>
          <p:cNvSpPr/>
          <p:nvPr/>
        </p:nvSpPr>
        <p:spPr>
          <a:xfrm>
            <a:off x="4800600" y="1600200"/>
            <a:ext cx="2651760" cy="1156716"/>
          </a:xfrm>
          <a:prstGeom prst="roundRect">
            <a:avLst>
              <a:gd name="adj" fmla="val 3953"/>
            </a:avLst>
          </a:prstGeom>
          <a:solidFill>
            <a:srgbClr val="FFFFFF"/>
          </a:solidFill>
          <a:ln w="19050">
            <a:solidFill>
              <a:srgbClr val="028090"/>
            </a:solidFill>
            <a:prstDash val="solid"/>
          </a:ln>
          <a:effectLst>
            <a:outerShdw blurRad="88900" dist="38100" dir="5400000" algn="bl" rotWithShape="0">
              <a:srgbClr val="0A2E36">
                <a:alpha val="16000"/>
              </a:srgbClr>
            </a:outerShdw>
          </a:effectLst>
        </p:spPr>
        <p:txBody>
          <a:bodyPr/>
          <a:lstStyle/>
          <a:p>
            <a:endParaRPr lang="fr-FR"/>
          </a:p>
        </p:txBody>
      </p:sp>
      <p:sp>
        <p:nvSpPr>
          <p:cNvPr id="15" name="Shape 12"/>
          <p:cNvSpPr/>
          <p:nvPr/>
        </p:nvSpPr>
        <p:spPr>
          <a:xfrm>
            <a:off x="4800600" y="1600200"/>
            <a:ext cx="2651760" cy="384048"/>
          </a:xfrm>
          <a:prstGeom prst="roundRect">
            <a:avLst>
              <a:gd name="adj" fmla="val 11905"/>
            </a:avLst>
          </a:prstGeom>
          <a:solidFill>
            <a:srgbClr val="028090"/>
          </a:solidFill>
          <a:ln/>
        </p:spPr>
        <p:txBody>
          <a:bodyPr/>
          <a:lstStyle/>
          <a:p>
            <a:endParaRPr lang="fr-FR"/>
          </a:p>
        </p:txBody>
      </p:sp>
      <p:sp>
        <p:nvSpPr>
          <p:cNvPr id="16" name="Shape 13"/>
          <p:cNvSpPr/>
          <p:nvPr/>
        </p:nvSpPr>
        <p:spPr>
          <a:xfrm>
            <a:off x="4800600" y="1819656"/>
            <a:ext cx="2651760" cy="164592"/>
          </a:xfrm>
          <a:prstGeom prst="rect">
            <a:avLst/>
          </a:prstGeom>
          <a:solidFill>
            <a:srgbClr val="028090"/>
          </a:solidFill>
          <a:ln/>
        </p:spPr>
        <p:txBody>
          <a:bodyPr/>
          <a:lstStyle/>
          <a:p>
            <a:endParaRPr lang="fr-FR"/>
          </a:p>
        </p:txBody>
      </p:sp>
      <p:sp>
        <p:nvSpPr>
          <p:cNvPr id="17" name="Text 14"/>
          <p:cNvSpPr/>
          <p:nvPr/>
        </p:nvSpPr>
        <p:spPr>
          <a:xfrm>
            <a:off x="4800600" y="1600200"/>
            <a:ext cx="265176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User</a:t>
            </a:r>
            <a:endParaRPr lang="en-US" sz="1250" dirty="0"/>
          </a:p>
        </p:txBody>
      </p:sp>
      <p:sp>
        <p:nvSpPr>
          <p:cNvPr id="18" name="Text 15"/>
          <p:cNvSpPr/>
          <p:nvPr/>
        </p:nvSpPr>
        <p:spPr>
          <a:xfrm>
            <a:off x="4910328" y="2020824"/>
            <a:ext cx="2468880" cy="699516"/>
          </a:xfrm>
          <a:prstGeom prst="rect">
            <a:avLst/>
          </a:prstGeom>
          <a:noFill/>
          <a:ln/>
        </p:spPr>
        <p:txBody>
          <a:bodyPr wrap="square" lIns="0" tIns="0" rIns="0" bIns="0" rtlCol="0" anchor="t"/>
          <a:lstStyle/>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id, pseudo, email</a:t>
            </a:r>
            <a:endParaRPr lang="en-US" sz="950" dirty="0"/>
          </a:p>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password, avatar</a:t>
            </a:r>
            <a:endParaRPr lang="en-US" sz="950" dirty="0"/>
          </a:p>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theme, role, coins</a:t>
            </a:r>
            <a:endParaRPr lang="en-US" sz="950" dirty="0"/>
          </a:p>
        </p:txBody>
      </p:sp>
      <p:sp>
        <p:nvSpPr>
          <p:cNvPr id="19" name="Shape 16"/>
          <p:cNvSpPr/>
          <p:nvPr/>
        </p:nvSpPr>
        <p:spPr>
          <a:xfrm>
            <a:off x="4937760" y="3383280"/>
            <a:ext cx="2377440" cy="923544"/>
          </a:xfrm>
          <a:prstGeom prst="roundRect">
            <a:avLst>
              <a:gd name="adj" fmla="val 4950"/>
            </a:avLst>
          </a:prstGeom>
          <a:solidFill>
            <a:srgbClr val="FFFFFF"/>
          </a:solidFill>
          <a:ln w="19050">
            <a:solidFill>
              <a:srgbClr val="00A896"/>
            </a:solidFill>
            <a:prstDash val="solid"/>
          </a:ln>
          <a:effectLst>
            <a:outerShdw blurRad="88900" dist="38100" dir="5400000" algn="bl" rotWithShape="0">
              <a:srgbClr val="0A2E36">
                <a:alpha val="16000"/>
              </a:srgbClr>
            </a:outerShdw>
          </a:effectLst>
        </p:spPr>
        <p:txBody>
          <a:bodyPr/>
          <a:lstStyle/>
          <a:p>
            <a:endParaRPr lang="fr-FR"/>
          </a:p>
        </p:txBody>
      </p:sp>
      <p:sp>
        <p:nvSpPr>
          <p:cNvPr id="20" name="Shape 17"/>
          <p:cNvSpPr/>
          <p:nvPr/>
        </p:nvSpPr>
        <p:spPr>
          <a:xfrm>
            <a:off x="4937760" y="3383280"/>
            <a:ext cx="2377440" cy="384048"/>
          </a:xfrm>
          <a:prstGeom prst="roundRect">
            <a:avLst>
              <a:gd name="adj" fmla="val 11905"/>
            </a:avLst>
          </a:prstGeom>
          <a:solidFill>
            <a:srgbClr val="00A896"/>
          </a:solidFill>
          <a:ln/>
        </p:spPr>
        <p:txBody>
          <a:bodyPr/>
          <a:lstStyle/>
          <a:p>
            <a:endParaRPr lang="fr-FR"/>
          </a:p>
        </p:txBody>
      </p:sp>
      <p:sp>
        <p:nvSpPr>
          <p:cNvPr id="21" name="Shape 18"/>
          <p:cNvSpPr/>
          <p:nvPr/>
        </p:nvSpPr>
        <p:spPr>
          <a:xfrm>
            <a:off x="4937760" y="3602736"/>
            <a:ext cx="2377440" cy="164592"/>
          </a:xfrm>
          <a:prstGeom prst="rect">
            <a:avLst/>
          </a:prstGeom>
          <a:solidFill>
            <a:srgbClr val="00A896"/>
          </a:solidFill>
          <a:ln/>
        </p:spPr>
        <p:txBody>
          <a:bodyPr/>
          <a:lstStyle/>
          <a:p>
            <a:endParaRPr lang="fr-FR"/>
          </a:p>
        </p:txBody>
      </p:sp>
      <p:sp>
        <p:nvSpPr>
          <p:cNvPr id="22" name="Text 19"/>
          <p:cNvSpPr/>
          <p:nvPr/>
        </p:nvSpPr>
        <p:spPr>
          <a:xfrm>
            <a:off x="4937760" y="3383280"/>
            <a:ext cx="237744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Aquarium</a:t>
            </a:r>
            <a:endParaRPr lang="en-US" sz="1250" dirty="0"/>
          </a:p>
        </p:txBody>
      </p:sp>
      <p:sp>
        <p:nvSpPr>
          <p:cNvPr id="23" name="Text 20"/>
          <p:cNvSpPr/>
          <p:nvPr/>
        </p:nvSpPr>
        <p:spPr>
          <a:xfrm>
            <a:off x="5047488" y="3803904"/>
            <a:ext cx="2194560" cy="466344"/>
          </a:xfrm>
          <a:prstGeom prst="rect">
            <a:avLst/>
          </a:prstGeom>
          <a:noFill/>
          <a:ln/>
        </p:spPr>
        <p:txBody>
          <a:bodyPr wrap="square" lIns="0" tIns="0" rIns="0" bIns="0" rtlCol="0" anchor="t"/>
          <a:lstStyle/>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id, level, capacity</a:t>
            </a:r>
            <a:endParaRPr lang="en-US" sz="950" dirty="0"/>
          </a:p>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isPublic</a:t>
            </a:r>
            <a:endParaRPr lang="en-US" sz="950" dirty="0"/>
          </a:p>
        </p:txBody>
      </p:sp>
      <p:sp>
        <p:nvSpPr>
          <p:cNvPr id="24" name="Shape 21"/>
          <p:cNvSpPr/>
          <p:nvPr/>
        </p:nvSpPr>
        <p:spPr>
          <a:xfrm>
            <a:off x="5074920" y="4983480"/>
            <a:ext cx="2103120" cy="1156716"/>
          </a:xfrm>
          <a:prstGeom prst="roundRect">
            <a:avLst>
              <a:gd name="adj" fmla="val 3953"/>
            </a:avLst>
          </a:prstGeom>
          <a:solidFill>
            <a:srgbClr val="FFFFFF"/>
          </a:solidFill>
          <a:ln w="19050">
            <a:solidFill>
              <a:srgbClr val="02C39A"/>
            </a:solidFill>
            <a:prstDash val="solid"/>
          </a:ln>
          <a:effectLst>
            <a:outerShdw blurRad="88900" dist="38100" dir="5400000" algn="bl" rotWithShape="0">
              <a:srgbClr val="0A2E36">
                <a:alpha val="16000"/>
              </a:srgbClr>
            </a:outerShdw>
          </a:effectLst>
        </p:spPr>
        <p:txBody>
          <a:bodyPr/>
          <a:lstStyle/>
          <a:p>
            <a:endParaRPr lang="fr-FR"/>
          </a:p>
        </p:txBody>
      </p:sp>
      <p:sp>
        <p:nvSpPr>
          <p:cNvPr id="25" name="Shape 22"/>
          <p:cNvSpPr/>
          <p:nvPr/>
        </p:nvSpPr>
        <p:spPr>
          <a:xfrm>
            <a:off x="5074920" y="4983480"/>
            <a:ext cx="2103120" cy="384048"/>
          </a:xfrm>
          <a:prstGeom prst="roundRect">
            <a:avLst>
              <a:gd name="adj" fmla="val 11905"/>
            </a:avLst>
          </a:prstGeom>
          <a:solidFill>
            <a:srgbClr val="02C39A"/>
          </a:solidFill>
          <a:ln/>
        </p:spPr>
        <p:txBody>
          <a:bodyPr/>
          <a:lstStyle/>
          <a:p>
            <a:endParaRPr lang="fr-FR"/>
          </a:p>
        </p:txBody>
      </p:sp>
      <p:sp>
        <p:nvSpPr>
          <p:cNvPr id="26" name="Shape 23"/>
          <p:cNvSpPr/>
          <p:nvPr/>
        </p:nvSpPr>
        <p:spPr>
          <a:xfrm>
            <a:off x="5074920" y="5202936"/>
            <a:ext cx="2103120" cy="164592"/>
          </a:xfrm>
          <a:prstGeom prst="rect">
            <a:avLst/>
          </a:prstGeom>
          <a:solidFill>
            <a:srgbClr val="02C39A"/>
          </a:solidFill>
          <a:ln/>
        </p:spPr>
        <p:txBody>
          <a:bodyPr/>
          <a:lstStyle/>
          <a:p>
            <a:endParaRPr lang="fr-FR"/>
          </a:p>
        </p:txBody>
      </p:sp>
      <p:sp>
        <p:nvSpPr>
          <p:cNvPr id="27" name="Text 24"/>
          <p:cNvSpPr/>
          <p:nvPr/>
        </p:nvSpPr>
        <p:spPr>
          <a:xfrm>
            <a:off x="5074920" y="4983480"/>
            <a:ext cx="210312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Fish</a:t>
            </a:r>
            <a:endParaRPr lang="en-US" sz="1250" dirty="0"/>
          </a:p>
        </p:txBody>
      </p:sp>
      <p:sp>
        <p:nvSpPr>
          <p:cNvPr id="28" name="Text 25"/>
          <p:cNvSpPr/>
          <p:nvPr/>
        </p:nvSpPr>
        <p:spPr>
          <a:xfrm>
            <a:off x="5184648" y="5404104"/>
            <a:ext cx="1920240" cy="699516"/>
          </a:xfrm>
          <a:prstGeom prst="rect">
            <a:avLst/>
          </a:prstGeom>
          <a:noFill/>
          <a:ln/>
        </p:spPr>
        <p:txBody>
          <a:bodyPr wrap="square" lIns="0" tIns="0" rIns="0" bIns="0" rtlCol="0" anchor="t"/>
          <a:lstStyle/>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id, name, species</a:t>
            </a:r>
            <a:endParaRPr lang="en-US" sz="950" dirty="0"/>
          </a:p>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color, size, age</a:t>
            </a:r>
            <a:endParaRPr lang="en-US" sz="950" dirty="0"/>
          </a:p>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lifePoints, lastFedAt</a:t>
            </a:r>
            <a:endParaRPr lang="en-US" sz="950" dirty="0"/>
          </a:p>
        </p:txBody>
      </p:sp>
      <p:sp>
        <p:nvSpPr>
          <p:cNvPr id="29" name="Shape 26"/>
          <p:cNvSpPr/>
          <p:nvPr/>
        </p:nvSpPr>
        <p:spPr>
          <a:xfrm>
            <a:off x="914400" y="1691640"/>
            <a:ext cx="2331720" cy="1156716"/>
          </a:xfrm>
          <a:prstGeom prst="roundRect">
            <a:avLst>
              <a:gd name="adj" fmla="val 3953"/>
            </a:avLst>
          </a:prstGeom>
          <a:solidFill>
            <a:srgbClr val="FFFFFF"/>
          </a:solidFill>
          <a:ln w="19050">
            <a:solidFill>
              <a:srgbClr val="557079"/>
            </a:solidFill>
            <a:prstDash val="solid"/>
          </a:ln>
          <a:effectLst>
            <a:outerShdw blurRad="88900" dist="38100" dir="5400000" algn="bl" rotWithShape="0">
              <a:srgbClr val="0A2E36">
                <a:alpha val="16000"/>
              </a:srgbClr>
            </a:outerShdw>
          </a:effectLst>
        </p:spPr>
        <p:txBody>
          <a:bodyPr/>
          <a:lstStyle/>
          <a:p>
            <a:endParaRPr lang="fr-FR"/>
          </a:p>
        </p:txBody>
      </p:sp>
      <p:sp>
        <p:nvSpPr>
          <p:cNvPr id="30" name="Shape 27"/>
          <p:cNvSpPr/>
          <p:nvPr/>
        </p:nvSpPr>
        <p:spPr>
          <a:xfrm>
            <a:off x="914400" y="1691640"/>
            <a:ext cx="2331720" cy="384048"/>
          </a:xfrm>
          <a:prstGeom prst="roundRect">
            <a:avLst>
              <a:gd name="adj" fmla="val 11905"/>
            </a:avLst>
          </a:prstGeom>
          <a:solidFill>
            <a:srgbClr val="557079"/>
          </a:solidFill>
          <a:ln/>
        </p:spPr>
        <p:txBody>
          <a:bodyPr/>
          <a:lstStyle/>
          <a:p>
            <a:endParaRPr lang="fr-FR"/>
          </a:p>
        </p:txBody>
      </p:sp>
      <p:sp>
        <p:nvSpPr>
          <p:cNvPr id="31" name="Shape 28"/>
          <p:cNvSpPr/>
          <p:nvPr/>
        </p:nvSpPr>
        <p:spPr>
          <a:xfrm>
            <a:off x="914400" y="1911096"/>
            <a:ext cx="2331720" cy="164592"/>
          </a:xfrm>
          <a:prstGeom prst="rect">
            <a:avLst/>
          </a:prstGeom>
          <a:solidFill>
            <a:srgbClr val="557079"/>
          </a:solidFill>
          <a:ln/>
        </p:spPr>
        <p:txBody>
          <a:bodyPr/>
          <a:lstStyle/>
          <a:p>
            <a:endParaRPr lang="fr-FR"/>
          </a:p>
        </p:txBody>
      </p:sp>
      <p:sp>
        <p:nvSpPr>
          <p:cNvPr id="32" name="Text 29"/>
          <p:cNvSpPr/>
          <p:nvPr/>
        </p:nvSpPr>
        <p:spPr>
          <a:xfrm>
            <a:off x="914400" y="1691640"/>
            <a:ext cx="233172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NotificationPref</a:t>
            </a:r>
            <a:endParaRPr lang="en-US" sz="1250" dirty="0"/>
          </a:p>
        </p:txBody>
      </p:sp>
      <p:sp>
        <p:nvSpPr>
          <p:cNvPr id="33" name="Text 30"/>
          <p:cNvSpPr/>
          <p:nvPr/>
        </p:nvSpPr>
        <p:spPr>
          <a:xfrm>
            <a:off x="1024128" y="2112264"/>
            <a:ext cx="2148840" cy="699516"/>
          </a:xfrm>
          <a:prstGeom prst="rect">
            <a:avLst/>
          </a:prstGeom>
          <a:noFill/>
          <a:ln/>
        </p:spPr>
        <p:txBody>
          <a:bodyPr wrap="square" lIns="0" tIns="0" rIns="0" bIns="0" rtlCol="0" anchor="t"/>
          <a:lstStyle/>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id</a:t>
            </a:r>
            <a:endParaRPr lang="en-US" sz="950" dirty="0"/>
          </a:p>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notifyOnDeath</a:t>
            </a:r>
            <a:endParaRPr lang="en-US" sz="950" dirty="0"/>
          </a:p>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notifyBeforeDeath</a:t>
            </a:r>
            <a:endParaRPr lang="en-US" sz="950" dirty="0"/>
          </a:p>
        </p:txBody>
      </p:sp>
      <p:sp>
        <p:nvSpPr>
          <p:cNvPr id="34" name="Shape 31"/>
          <p:cNvSpPr/>
          <p:nvPr/>
        </p:nvSpPr>
        <p:spPr>
          <a:xfrm>
            <a:off x="914400" y="3977640"/>
            <a:ext cx="2331720" cy="923544"/>
          </a:xfrm>
          <a:prstGeom prst="roundRect">
            <a:avLst>
              <a:gd name="adj" fmla="val 4950"/>
            </a:avLst>
          </a:prstGeom>
          <a:solidFill>
            <a:srgbClr val="FFFFFF"/>
          </a:solidFill>
          <a:ln w="19050">
            <a:solidFill>
              <a:srgbClr val="0B3C49"/>
            </a:solidFill>
            <a:prstDash val="solid"/>
          </a:ln>
          <a:effectLst>
            <a:outerShdw blurRad="88900" dist="38100" dir="5400000" algn="bl" rotWithShape="0">
              <a:srgbClr val="0A2E36">
                <a:alpha val="16000"/>
              </a:srgbClr>
            </a:outerShdw>
          </a:effectLst>
        </p:spPr>
        <p:txBody>
          <a:bodyPr/>
          <a:lstStyle/>
          <a:p>
            <a:endParaRPr lang="fr-FR"/>
          </a:p>
        </p:txBody>
      </p:sp>
      <p:sp>
        <p:nvSpPr>
          <p:cNvPr id="35" name="Shape 32"/>
          <p:cNvSpPr/>
          <p:nvPr/>
        </p:nvSpPr>
        <p:spPr>
          <a:xfrm>
            <a:off x="914400" y="3977640"/>
            <a:ext cx="2331720" cy="384048"/>
          </a:xfrm>
          <a:prstGeom prst="roundRect">
            <a:avLst>
              <a:gd name="adj" fmla="val 11905"/>
            </a:avLst>
          </a:prstGeom>
          <a:solidFill>
            <a:srgbClr val="0B3C49"/>
          </a:solidFill>
          <a:ln/>
        </p:spPr>
        <p:txBody>
          <a:bodyPr/>
          <a:lstStyle/>
          <a:p>
            <a:endParaRPr lang="fr-FR"/>
          </a:p>
        </p:txBody>
      </p:sp>
      <p:sp>
        <p:nvSpPr>
          <p:cNvPr id="36" name="Shape 33"/>
          <p:cNvSpPr/>
          <p:nvPr/>
        </p:nvSpPr>
        <p:spPr>
          <a:xfrm>
            <a:off x="914400" y="4197096"/>
            <a:ext cx="2331720" cy="164592"/>
          </a:xfrm>
          <a:prstGeom prst="rect">
            <a:avLst/>
          </a:prstGeom>
          <a:solidFill>
            <a:srgbClr val="0B3C49"/>
          </a:solidFill>
          <a:ln/>
        </p:spPr>
        <p:txBody>
          <a:bodyPr/>
          <a:lstStyle/>
          <a:p>
            <a:endParaRPr lang="fr-FR"/>
          </a:p>
        </p:txBody>
      </p:sp>
      <p:sp>
        <p:nvSpPr>
          <p:cNvPr id="37" name="Text 34"/>
          <p:cNvSpPr/>
          <p:nvPr/>
        </p:nvSpPr>
        <p:spPr>
          <a:xfrm>
            <a:off x="914400" y="3977640"/>
            <a:ext cx="233172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Friendship</a:t>
            </a:r>
            <a:endParaRPr lang="en-US" sz="1250" dirty="0"/>
          </a:p>
        </p:txBody>
      </p:sp>
      <p:sp>
        <p:nvSpPr>
          <p:cNvPr id="38" name="Text 35"/>
          <p:cNvSpPr/>
          <p:nvPr/>
        </p:nvSpPr>
        <p:spPr>
          <a:xfrm>
            <a:off x="1024128" y="4398264"/>
            <a:ext cx="2148840" cy="466344"/>
          </a:xfrm>
          <a:prstGeom prst="rect">
            <a:avLst/>
          </a:prstGeom>
          <a:noFill/>
          <a:ln/>
        </p:spPr>
        <p:txBody>
          <a:bodyPr wrap="square" lIns="0" tIns="0" rIns="0" bIns="0" rtlCol="0" anchor="t"/>
          <a:lstStyle/>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id, status</a:t>
            </a:r>
            <a:endParaRPr lang="en-US" sz="950" dirty="0"/>
          </a:p>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since</a:t>
            </a:r>
            <a:endParaRPr lang="en-US" sz="950" dirty="0"/>
          </a:p>
        </p:txBody>
      </p:sp>
      <p:sp>
        <p:nvSpPr>
          <p:cNvPr id="39" name="Shape 36"/>
          <p:cNvSpPr/>
          <p:nvPr/>
        </p:nvSpPr>
        <p:spPr>
          <a:xfrm>
            <a:off x="8686800" y="1691640"/>
            <a:ext cx="2468880" cy="923544"/>
          </a:xfrm>
          <a:prstGeom prst="roundRect">
            <a:avLst>
              <a:gd name="adj" fmla="val 4950"/>
            </a:avLst>
          </a:prstGeom>
          <a:solidFill>
            <a:srgbClr val="FFFFFF"/>
          </a:solidFill>
          <a:ln w="19050">
            <a:solidFill>
              <a:srgbClr val="0B3C49"/>
            </a:solidFill>
            <a:prstDash val="solid"/>
          </a:ln>
          <a:effectLst>
            <a:outerShdw blurRad="88900" dist="38100" dir="5400000" algn="bl" rotWithShape="0">
              <a:srgbClr val="0A2E36">
                <a:alpha val="16000"/>
              </a:srgbClr>
            </a:outerShdw>
          </a:effectLst>
        </p:spPr>
        <p:txBody>
          <a:bodyPr/>
          <a:lstStyle/>
          <a:p>
            <a:endParaRPr lang="fr-FR"/>
          </a:p>
        </p:txBody>
      </p:sp>
      <p:sp>
        <p:nvSpPr>
          <p:cNvPr id="40" name="Shape 37"/>
          <p:cNvSpPr/>
          <p:nvPr/>
        </p:nvSpPr>
        <p:spPr>
          <a:xfrm>
            <a:off x="8686800" y="1691640"/>
            <a:ext cx="2468880" cy="384048"/>
          </a:xfrm>
          <a:prstGeom prst="roundRect">
            <a:avLst>
              <a:gd name="adj" fmla="val 11905"/>
            </a:avLst>
          </a:prstGeom>
          <a:solidFill>
            <a:srgbClr val="0B3C49"/>
          </a:solidFill>
          <a:ln/>
        </p:spPr>
        <p:txBody>
          <a:bodyPr/>
          <a:lstStyle/>
          <a:p>
            <a:endParaRPr lang="fr-FR"/>
          </a:p>
        </p:txBody>
      </p:sp>
      <p:sp>
        <p:nvSpPr>
          <p:cNvPr id="41" name="Shape 38"/>
          <p:cNvSpPr/>
          <p:nvPr/>
        </p:nvSpPr>
        <p:spPr>
          <a:xfrm>
            <a:off x="8686800" y="1911096"/>
            <a:ext cx="2468880" cy="164592"/>
          </a:xfrm>
          <a:prstGeom prst="rect">
            <a:avLst/>
          </a:prstGeom>
          <a:solidFill>
            <a:srgbClr val="0B3C49"/>
          </a:solidFill>
          <a:ln/>
        </p:spPr>
        <p:txBody>
          <a:bodyPr/>
          <a:lstStyle/>
          <a:p>
            <a:endParaRPr lang="fr-FR"/>
          </a:p>
        </p:txBody>
      </p:sp>
      <p:sp>
        <p:nvSpPr>
          <p:cNvPr id="42" name="Text 39"/>
          <p:cNvSpPr/>
          <p:nvPr/>
        </p:nvSpPr>
        <p:spPr>
          <a:xfrm>
            <a:off x="8686800" y="1691640"/>
            <a:ext cx="246888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Trade</a:t>
            </a:r>
            <a:endParaRPr lang="en-US" sz="1250" dirty="0"/>
          </a:p>
        </p:txBody>
      </p:sp>
      <p:sp>
        <p:nvSpPr>
          <p:cNvPr id="43" name="Text 40"/>
          <p:cNvSpPr/>
          <p:nvPr/>
        </p:nvSpPr>
        <p:spPr>
          <a:xfrm>
            <a:off x="8796528" y="2112264"/>
            <a:ext cx="2286000" cy="466344"/>
          </a:xfrm>
          <a:prstGeom prst="rect">
            <a:avLst/>
          </a:prstGeom>
          <a:noFill/>
          <a:ln/>
        </p:spPr>
        <p:txBody>
          <a:bodyPr wrap="square" lIns="0" tIns="0" rIns="0" bIns="0" rtlCol="0" anchor="t"/>
          <a:lstStyle/>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id, status</a:t>
            </a:r>
            <a:endParaRPr lang="en-US" sz="950" dirty="0"/>
          </a:p>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createdAt</a:t>
            </a:r>
            <a:endParaRPr lang="en-US" sz="950" dirty="0"/>
          </a:p>
        </p:txBody>
      </p:sp>
      <p:sp>
        <p:nvSpPr>
          <p:cNvPr id="44" name="Shape 41"/>
          <p:cNvSpPr/>
          <p:nvPr/>
        </p:nvSpPr>
        <p:spPr>
          <a:xfrm>
            <a:off x="8686800" y="3429000"/>
            <a:ext cx="2468880" cy="1156716"/>
          </a:xfrm>
          <a:prstGeom prst="roundRect">
            <a:avLst>
              <a:gd name="adj" fmla="val 3953"/>
            </a:avLst>
          </a:prstGeom>
          <a:solidFill>
            <a:srgbClr val="FFFFFF"/>
          </a:solidFill>
          <a:ln w="19050">
            <a:solidFill>
              <a:srgbClr val="028090"/>
            </a:solidFill>
            <a:prstDash val="solid"/>
          </a:ln>
          <a:effectLst>
            <a:outerShdw blurRad="88900" dist="38100" dir="5400000" algn="bl" rotWithShape="0">
              <a:srgbClr val="0A2E36">
                <a:alpha val="16000"/>
              </a:srgbClr>
            </a:outerShdw>
          </a:effectLst>
        </p:spPr>
        <p:txBody>
          <a:bodyPr/>
          <a:lstStyle/>
          <a:p>
            <a:endParaRPr lang="fr-FR"/>
          </a:p>
        </p:txBody>
      </p:sp>
      <p:sp>
        <p:nvSpPr>
          <p:cNvPr id="45" name="Shape 42"/>
          <p:cNvSpPr/>
          <p:nvPr/>
        </p:nvSpPr>
        <p:spPr>
          <a:xfrm>
            <a:off x="8686800" y="3429000"/>
            <a:ext cx="2468880" cy="384048"/>
          </a:xfrm>
          <a:prstGeom prst="roundRect">
            <a:avLst>
              <a:gd name="adj" fmla="val 11905"/>
            </a:avLst>
          </a:prstGeom>
          <a:solidFill>
            <a:srgbClr val="028090"/>
          </a:solidFill>
          <a:ln/>
        </p:spPr>
        <p:txBody>
          <a:bodyPr/>
          <a:lstStyle/>
          <a:p>
            <a:endParaRPr lang="fr-FR"/>
          </a:p>
        </p:txBody>
      </p:sp>
      <p:sp>
        <p:nvSpPr>
          <p:cNvPr id="46" name="Shape 43"/>
          <p:cNvSpPr/>
          <p:nvPr/>
        </p:nvSpPr>
        <p:spPr>
          <a:xfrm>
            <a:off x="8686800" y="3648456"/>
            <a:ext cx="2468880" cy="164592"/>
          </a:xfrm>
          <a:prstGeom prst="rect">
            <a:avLst/>
          </a:prstGeom>
          <a:solidFill>
            <a:srgbClr val="028090"/>
          </a:solidFill>
          <a:ln/>
        </p:spPr>
        <p:txBody>
          <a:bodyPr/>
          <a:lstStyle/>
          <a:p>
            <a:endParaRPr lang="fr-FR"/>
          </a:p>
        </p:txBody>
      </p:sp>
      <p:sp>
        <p:nvSpPr>
          <p:cNvPr id="47" name="Text 44"/>
          <p:cNvSpPr/>
          <p:nvPr/>
        </p:nvSpPr>
        <p:spPr>
          <a:xfrm>
            <a:off x="8686800" y="3429000"/>
            <a:ext cx="246888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DailyChallenge</a:t>
            </a:r>
            <a:endParaRPr lang="en-US" sz="1250" dirty="0"/>
          </a:p>
        </p:txBody>
      </p:sp>
      <p:sp>
        <p:nvSpPr>
          <p:cNvPr id="48" name="Text 45"/>
          <p:cNvSpPr/>
          <p:nvPr/>
        </p:nvSpPr>
        <p:spPr>
          <a:xfrm>
            <a:off x="8796528" y="3849624"/>
            <a:ext cx="2286000" cy="699516"/>
          </a:xfrm>
          <a:prstGeom prst="rect">
            <a:avLst/>
          </a:prstGeom>
          <a:noFill/>
          <a:ln/>
        </p:spPr>
        <p:txBody>
          <a:bodyPr wrap="square" lIns="0" tIns="0" rIns="0" bIns="0" rtlCol="0" anchor="t"/>
          <a:lstStyle/>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id, name</a:t>
            </a:r>
            <a:endParaRPr lang="en-US" sz="950" dirty="0"/>
          </a:p>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reward, date</a:t>
            </a:r>
            <a:endParaRPr lang="en-US" sz="950" dirty="0"/>
          </a:p>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completed</a:t>
            </a:r>
            <a:endParaRPr lang="en-US" sz="950" dirty="0"/>
          </a:p>
        </p:txBody>
      </p:sp>
      <p:sp>
        <p:nvSpPr>
          <p:cNvPr id="49" name="Shape 46"/>
          <p:cNvSpPr/>
          <p:nvPr/>
        </p:nvSpPr>
        <p:spPr>
          <a:xfrm>
            <a:off x="8686800" y="5074920"/>
            <a:ext cx="2468880" cy="923544"/>
          </a:xfrm>
          <a:prstGeom prst="roundRect">
            <a:avLst>
              <a:gd name="adj" fmla="val 4950"/>
            </a:avLst>
          </a:prstGeom>
          <a:solidFill>
            <a:srgbClr val="FFFFFF"/>
          </a:solidFill>
          <a:ln w="19050">
            <a:solidFill>
              <a:srgbClr val="00A896"/>
            </a:solidFill>
            <a:prstDash val="solid"/>
          </a:ln>
          <a:effectLst>
            <a:outerShdw blurRad="88900" dist="38100" dir="5400000" algn="bl" rotWithShape="0">
              <a:srgbClr val="0A2E36">
                <a:alpha val="16000"/>
              </a:srgbClr>
            </a:outerShdw>
          </a:effectLst>
        </p:spPr>
        <p:txBody>
          <a:bodyPr/>
          <a:lstStyle/>
          <a:p>
            <a:endParaRPr lang="fr-FR"/>
          </a:p>
        </p:txBody>
      </p:sp>
      <p:sp>
        <p:nvSpPr>
          <p:cNvPr id="50" name="Shape 47"/>
          <p:cNvSpPr/>
          <p:nvPr/>
        </p:nvSpPr>
        <p:spPr>
          <a:xfrm>
            <a:off x="8686800" y="5074920"/>
            <a:ext cx="2468880" cy="384048"/>
          </a:xfrm>
          <a:prstGeom prst="roundRect">
            <a:avLst>
              <a:gd name="adj" fmla="val 11905"/>
            </a:avLst>
          </a:prstGeom>
          <a:solidFill>
            <a:srgbClr val="00A896"/>
          </a:solidFill>
          <a:ln/>
        </p:spPr>
        <p:txBody>
          <a:bodyPr/>
          <a:lstStyle/>
          <a:p>
            <a:endParaRPr lang="fr-FR"/>
          </a:p>
        </p:txBody>
      </p:sp>
      <p:sp>
        <p:nvSpPr>
          <p:cNvPr id="51" name="Shape 48"/>
          <p:cNvSpPr/>
          <p:nvPr/>
        </p:nvSpPr>
        <p:spPr>
          <a:xfrm>
            <a:off x="8686800" y="5294376"/>
            <a:ext cx="2468880" cy="164592"/>
          </a:xfrm>
          <a:prstGeom prst="rect">
            <a:avLst/>
          </a:prstGeom>
          <a:solidFill>
            <a:srgbClr val="00A896"/>
          </a:solidFill>
          <a:ln/>
        </p:spPr>
        <p:txBody>
          <a:bodyPr/>
          <a:lstStyle/>
          <a:p>
            <a:endParaRPr lang="fr-FR"/>
          </a:p>
        </p:txBody>
      </p:sp>
      <p:sp>
        <p:nvSpPr>
          <p:cNvPr id="52" name="Text 49"/>
          <p:cNvSpPr/>
          <p:nvPr/>
        </p:nvSpPr>
        <p:spPr>
          <a:xfrm>
            <a:off x="8686800" y="5074920"/>
            <a:ext cx="246888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ShopItem «abstract»</a:t>
            </a:r>
            <a:endParaRPr lang="en-US" sz="1250" dirty="0"/>
          </a:p>
        </p:txBody>
      </p:sp>
      <p:sp>
        <p:nvSpPr>
          <p:cNvPr id="53" name="Text 50"/>
          <p:cNvSpPr/>
          <p:nvPr/>
        </p:nvSpPr>
        <p:spPr>
          <a:xfrm>
            <a:off x="8796528" y="5495544"/>
            <a:ext cx="2286000" cy="466344"/>
          </a:xfrm>
          <a:prstGeom prst="rect">
            <a:avLst/>
          </a:prstGeom>
          <a:noFill/>
          <a:ln/>
        </p:spPr>
        <p:txBody>
          <a:bodyPr wrap="square" lIns="0" tIns="0" rIns="0" bIns="0" rtlCol="0" anchor="t"/>
          <a:lstStyle/>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id, name, price</a:t>
            </a:r>
            <a:endParaRPr lang="en-US" sz="950" dirty="0"/>
          </a:p>
          <a:p>
            <a:pPr marL="0" indent="0">
              <a:lnSpc>
                <a:spcPct val="95000"/>
              </a:lnSpc>
              <a:buNone/>
            </a:pPr>
            <a:r>
              <a:rPr lang="en-US" sz="950" dirty="0">
                <a:solidFill>
                  <a:srgbClr val="0B3C49"/>
                </a:solidFill>
                <a:latin typeface="Calibri" pitchFamily="34" charset="0"/>
                <a:ea typeface="Calibri" pitchFamily="34" charset="-122"/>
                <a:cs typeface="Calibri" pitchFamily="34" charset="-120"/>
              </a:rPr>
              <a:t>→ Food / Upgrade</a:t>
            </a:r>
            <a:endParaRPr lang="en-US" sz="950" dirty="0"/>
          </a:p>
        </p:txBody>
      </p:sp>
      <p:sp>
        <p:nvSpPr>
          <p:cNvPr id="54" name="Text 51"/>
          <p:cNvSpPr/>
          <p:nvPr/>
        </p:nvSpPr>
        <p:spPr>
          <a:xfrm>
            <a:off x="5669280" y="2980944"/>
            <a:ext cx="914400" cy="237744"/>
          </a:xfrm>
          <a:prstGeom prst="rect">
            <a:avLst/>
          </a:prstGeom>
          <a:solidFill>
            <a:srgbClr val="FFFFFF"/>
          </a:solidFill>
          <a:ln/>
        </p:spPr>
        <p:txBody>
          <a:bodyPr wrap="square" lIns="0" tIns="0" rIns="0" bIns="0" rtlCol="0" anchor="ctr"/>
          <a:lstStyle/>
          <a:p>
            <a:pPr marL="0" indent="0" algn="ctr">
              <a:buNone/>
            </a:pPr>
            <a:r>
              <a:rPr lang="en-US" sz="950" dirty="0">
                <a:solidFill>
                  <a:srgbClr val="557079"/>
                </a:solidFill>
                <a:latin typeface="Calibri" pitchFamily="34" charset="0"/>
                <a:ea typeface="Calibri" pitchFamily="34" charset="-122"/>
                <a:cs typeface="Calibri" pitchFamily="34" charset="-120"/>
              </a:rPr>
              <a:t>1 — 1</a:t>
            </a:r>
            <a:endParaRPr lang="en-US" sz="950" dirty="0"/>
          </a:p>
        </p:txBody>
      </p:sp>
      <p:sp>
        <p:nvSpPr>
          <p:cNvPr id="55" name="Text 52"/>
          <p:cNvSpPr/>
          <p:nvPr/>
        </p:nvSpPr>
        <p:spPr>
          <a:xfrm>
            <a:off x="5669280" y="4599432"/>
            <a:ext cx="914400" cy="237744"/>
          </a:xfrm>
          <a:prstGeom prst="rect">
            <a:avLst/>
          </a:prstGeom>
          <a:solidFill>
            <a:srgbClr val="FFFFFF"/>
          </a:solidFill>
          <a:ln/>
        </p:spPr>
        <p:txBody>
          <a:bodyPr wrap="square" lIns="0" tIns="0" rIns="0" bIns="0" rtlCol="0" anchor="ctr"/>
          <a:lstStyle/>
          <a:p>
            <a:pPr marL="0" indent="0" algn="ctr">
              <a:buNone/>
            </a:pPr>
            <a:r>
              <a:rPr lang="en-US" sz="950" dirty="0">
                <a:solidFill>
                  <a:srgbClr val="557079"/>
                </a:solidFill>
                <a:latin typeface="Calibri" pitchFamily="34" charset="0"/>
                <a:ea typeface="Calibri" pitchFamily="34" charset="-122"/>
                <a:cs typeface="Calibri" pitchFamily="34" charset="-120"/>
              </a:rPr>
              <a:t>1 — *</a:t>
            </a:r>
            <a:endParaRPr lang="en-US" sz="950" dirty="0"/>
          </a:p>
        </p:txBody>
      </p:sp>
      <p:sp>
        <p:nvSpPr>
          <p:cNvPr id="56" name="Text 53"/>
          <p:cNvSpPr/>
          <p:nvPr/>
        </p:nvSpPr>
        <p:spPr>
          <a:xfrm>
            <a:off x="11612880" y="6400800"/>
            <a:ext cx="457200" cy="274320"/>
          </a:xfrm>
          <a:prstGeom prst="rect">
            <a:avLst/>
          </a:prstGeom>
          <a:noFill/>
          <a:ln/>
        </p:spPr>
        <p:txBody>
          <a:bodyPr wrap="square" lIns="0" tIns="0" rIns="0" bIns="0" rtlCol="0" anchor="ctr"/>
          <a:lstStyle/>
          <a:p>
            <a:pPr marL="0" indent="0" algn="r">
              <a:buNone/>
            </a:pPr>
            <a:r>
              <a:rPr lang="en-US" sz="1100" dirty="0">
                <a:solidFill>
                  <a:srgbClr val="557079"/>
                </a:solidFill>
                <a:latin typeface="Calibri" pitchFamily="34" charset="0"/>
                <a:ea typeface="Calibri" pitchFamily="34" charset="-122"/>
                <a:cs typeface="Calibri" pitchFamily="34" charset="-120"/>
              </a:rPr>
              <a:t>8</a:t>
            </a:r>
            <a:endParaRPr lang="en-US" sz="1100" dirty="0"/>
          </a:p>
        </p:txBody>
      </p:sp>
      <p:pic>
        <p:nvPicPr>
          <p:cNvPr id="57" name="Image 1" descr="preencoded.png"/>
          <p:cNvPicPr>
            <a:picLocks noChangeAspect="1"/>
          </p:cNvPicPr>
          <p:nvPr/>
        </p:nvPicPr>
        <p:blipFill>
          <a:blip r:embed="rId4"/>
          <a:stretch>
            <a:fillRect/>
          </a:stretch>
        </p:blipFill>
        <p:spPr>
          <a:xfrm>
            <a:off x="548640" y="6419088"/>
            <a:ext cx="237744" cy="237744"/>
          </a:xfrm>
          <a:prstGeom prst="rect">
            <a:avLst/>
          </a:prstGeom>
        </p:spPr>
      </p:pic>
      <p:sp>
        <p:nvSpPr>
          <p:cNvPr id="58" name="Text 54"/>
          <p:cNvSpPr/>
          <p:nvPr/>
        </p:nvSpPr>
        <p:spPr>
          <a:xfrm>
            <a:off x="868680" y="6400800"/>
            <a:ext cx="3657600" cy="274320"/>
          </a:xfrm>
          <a:prstGeom prst="rect">
            <a:avLst/>
          </a:prstGeom>
          <a:noFill/>
          <a:ln/>
        </p:spPr>
        <p:txBody>
          <a:bodyPr wrap="square" lIns="0" tIns="0" rIns="0" bIns="0" rtlCol="0" anchor="ctr"/>
          <a:lstStyle/>
          <a:p>
            <a:pPr marL="0" indent="0">
              <a:buNone/>
            </a:pPr>
            <a:r>
              <a:rPr lang="en-US" sz="1000" dirty="0">
                <a:solidFill>
                  <a:srgbClr val="557079"/>
                </a:solidFill>
                <a:latin typeface="Calibri" pitchFamily="34" charset="0"/>
                <a:ea typeface="Calibri" pitchFamily="34" charset="-122"/>
                <a:cs typeface="Calibri" pitchFamily="34" charset="-120"/>
              </a:rPr>
              <a:t>Manage your little fish</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02809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713232" y="621792"/>
            <a:ext cx="347472" cy="347472"/>
          </a:xfrm>
          <a:prstGeom prst="rect">
            <a:avLst/>
          </a:prstGeom>
        </p:spPr>
      </p:pic>
      <p:sp>
        <p:nvSpPr>
          <p:cNvPr id="4" name="Text 1"/>
          <p:cNvSpPr/>
          <p:nvPr/>
        </p:nvSpPr>
        <p:spPr>
          <a:xfrm>
            <a:off x="1417320" y="457200"/>
            <a:ext cx="8229600" cy="256032"/>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SOLUTION</a:t>
            </a:r>
            <a:endParaRPr lang="en-US" sz="1200" dirty="0"/>
          </a:p>
        </p:txBody>
      </p:sp>
      <p:sp>
        <p:nvSpPr>
          <p:cNvPr id="5" name="Text 2"/>
          <p:cNvSpPr/>
          <p:nvPr/>
        </p:nvSpPr>
        <p:spPr>
          <a:xfrm>
            <a:off x="1389888" y="676656"/>
            <a:ext cx="10241280" cy="566928"/>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Wireframe — the aquarium screen</a:t>
            </a:r>
            <a:endParaRPr lang="en-US" sz="3000" dirty="0"/>
          </a:p>
        </p:txBody>
      </p:sp>
      <p:sp>
        <p:nvSpPr>
          <p:cNvPr id="6" name="Shape 3"/>
          <p:cNvSpPr/>
          <p:nvPr/>
        </p:nvSpPr>
        <p:spPr>
          <a:xfrm>
            <a:off x="484632" y="1627632"/>
            <a:ext cx="11091672" cy="4297680"/>
          </a:xfrm>
          <a:prstGeom prst="roundRect">
            <a:avLst>
              <a:gd name="adj" fmla="val 1569"/>
            </a:avLst>
          </a:prstGeom>
          <a:solidFill>
            <a:srgbClr val="F2F7F8"/>
          </a:solidFill>
          <a:ln w="15875">
            <a:solidFill>
              <a:srgbClr val="557079"/>
            </a:solidFill>
            <a:prstDash val="solid"/>
          </a:ln>
          <a:effectLst>
            <a:outerShdw blurRad="88900" dist="38100" dir="5400000" algn="bl" rotWithShape="0">
              <a:srgbClr val="0A2E36">
                <a:alpha val="16000"/>
              </a:srgbClr>
            </a:outerShdw>
          </a:effectLst>
        </p:spPr>
        <p:txBody>
          <a:bodyPr/>
          <a:lstStyle/>
          <a:p>
            <a:endParaRPr lang="fr-FR"/>
          </a:p>
        </p:txBody>
      </p:sp>
      <p:sp>
        <p:nvSpPr>
          <p:cNvPr id="12" name="Shape 9"/>
          <p:cNvSpPr/>
          <p:nvPr/>
        </p:nvSpPr>
        <p:spPr>
          <a:xfrm>
            <a:off x="484632" y="1627632"/>
            <a:ext cx="11091672" cy="566928"/>
          </a:xfrm>
          <a:prstGeom prst="rect">
            <a:avLst/>
          </a:prstGeom>
          <a:solidFill>
            <a:srgbClr val="028090"/>
          </a:solidFill>
          <a:ln/>
        </p:spPr>
        <p:txBody>
          <a:bodyPr/>
          <a:lstStyle/>
          <a:p>
            <a:endParaRPr lang="fr-FR"/>
          </a:p>
        </p:txBody>
      </p:sp>
      <p:pic>
        <p:nvPicPr>
          <p:cNvPr id="13" name="Image 1" descr="preencoded.png"/>
          <p:cNvPicPr>
            <a:picLocks noChangeAspect="1"/>
          </p:cNvPicPr>
          <p:nvPr/>
        </p:nvPicPr>
        <p:blipFill>
          <a:blip r:embed="rId4"/>
          <a:stretch>
            <a:fillRect/>
          </a:stretch>
        </p:blipFill>
        <p:spPr>
          <a:xfrm>
            <a:off x="685800" y="1773936"/>
            <a:ext cx="292608" cy="274320"/>
          </a:xfrm>
          <a:prstGeom prst="rect">
            <a:avLst/>
          </a:prstGeom>
        </p:spPr>
      </p:pic>
      <p:sp>
        <p:nvSpPr>
          <p:cNvPr id="14" name="Text 10"/>
          <p:cNvSpPr/>
          <p:nvPr/>
        </p:nvSpPr>
        <p:spPr>
          <a:xfrm>
            <a:off x="1051560" y="1627632"/>
            <a:ext cx="2194560" cy="56692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My Aquarium</a:t>
            </a:r>
            <a:endParaRPr lang="en-US" sz="1300" dirty="0"/>
          </a:p>
        </p:txBody>
      </p:sp>
      <p:sp>
        <p:nvSpPr>
          <p:cNvPr id="15" name="Text 11"/>
          <p:cNvSpPr/>
          <p:nvPr/>
        </p:nvSpPr>
        <p:spPr>
          <a:xfrm>
            <a:off x="3319272" y="1627632"/>
            <a:ext cx="1097280" cy="566928"/>
          </a:xfrm>
          <a:prstGeom prst="rect">
            <a:avLst/>
          </a:prstGeom>
          <a:noFill/>
          <a:ln/>
        </p:spPr>
        <p:txBody>
          <a:bodyPr wrap="square" lIns="0" tIns="0" rIns="0" bIns="0" rtlCol="0" anchor="ctr"/>
          <a:lstStyle/>
          <a:p>
            <a:pPr marL="0" indent="0" algn="ctr">
              <a:buNone/>
            </a:pPr>
            <a:r>
              <a:rPr lang="en-US" sz="1100" dirty="0">
                <a:solidFill>
                  <a:srgbClr val="CDEFF0"/>
                </a:solidFill>
                <a:latin typeface="Calibri" pitchFamily="34" charset="0"/>
                <a:ea typeface="Calibri" pitchFamily="34" charset="-122"/>
                <a:cs typeface="Calibri" pitchFamily="34" charset="-120"/>
              </a:rPr>
              <a:t>Aquarium</a:t>
            </a:r>
            <a:endParaRPr lang="en-US" sz="1100" dirty="0"/>
          </a:p>
        </p:txBody>
      </p:sp>
      <p:sp>
        <p:nvSpPr>
          <p:cNvPr id="16" name="Text 12"/>
          <p:cNvSpPr/>
          <p:nvPr/>
        </p:nvSpPr>
        <p:spPr>
          <a:xfrm>
            <a:off x="4462272" y="1627632"/>
            <a:ext cx="1097280" cy="566928"/>
          </a:xfrm>
          <a:prstGeom prst="rect">
            <a:avLst/>
          </a:prstGeom>
          <a:noFill/>
          <a:ln/>
        </p:spPr>
        <p:txBody>
          <a:bodyPr wrap="square" lIns="0" tIns="0" rIns="0" bIns="0" rtlCol="0" anchor="ctr"/>
          <a:lstStyle/>
          <a:p>
            <a:pPr marL="0" indent="0" algn="ctr">
              <a:buNone/>
            </a:pPr>
            <a:r>
              <a:rPr lang="en-US" sz="1100" dirty="0">
                <a:solidFill>
                  <a:srgbClr val="CDEFF0"/>
                </a:solidFill>
                <a:latin typeface="Calibri" pitchFamily="34" charset="0"/>
                <a:ea typeface="Calibri" pitchFamily="34" charset="-122"/>
                <a:cs typeface="Calibri" pitchFamily="34" charset="-120"/>
              </a:rPr>
              <a:t>My Fish</a:t>
            </a:r>
            <a:endParaRPr lang="en-US" sz="1100" dirty="0"/>
          </a:p>
        </p:txBody>
      </p:sp>
      <p:sp>
        <p:nvSpPr>
          <p:cNvPr id="17" name="Text 13"/>
          <p:cNvSpPr/>
          <p:nvPr/>
        </p:nvSpPr>
        <p:spPr>
          <a:xfrm>
            <a:off x="5605272" y="1627632"/>
            <a:ext cx="1097280" cy="566928"/>
          </a:xfrm>
          <a:prstGeom prst="rect">
            <a:avLst/>
          </a:prstGeom>
          <a:noFill/>
          <a:ln/>
        </p:spPr>
        <p:txBody>
          <a:bodyPr wrap="square" lIns="0" tIns="0" rIns="0" bIns="0" rtlCol="0" anchor="ctr"/>
          <a:lstStyle/>
          <a:p>
            <a:pPr marL="0" indent="0" algn="ctr">
              <a:buNone/>
            </a:pPr>
            <a:r>
              <a:rPr lang="en-US" sz="1100" dirty="0">
                <a:solidFill>
                  <a:srgbClr val="CDEFF0"/>
                </a:solidFill>
                <a:latin typeface="Calibri" pitchFamily="34" charset="0"/>
                <a:ea typeface="Calibri" pitchFamily="34" charset="-122"/>
                <a:cs typeface="Calibri" pitchFamily="34" charset="-120"/>
              </a:rPr>
              <a:t>Friends</a:t>
            </a:r>
            <a:endParaRPr lang="en-US" sz="1100" dirty="0"/>
          </a:p>
        </p:txBody>
      </p:sp>
      <p:sp>
        <p:nvSpPr>
          <p:cNvPr id="18" name="Text 14"/>
          <p:cNvSpPr/>
          <p:nvPr/>
        </p:nvSpPr>
        <p:spPr>
          <a:xfrm>
            <a:off x="6748272" y="1627632"/>
            <a:ext cx="1097280" cy="566928"/>
          </a:xfrm>
          <a:prstGeom prst="rect">
            <a:avLst/>
          </a:prstGeom>
          <a:noFill/>
          <a:ln/>
        </p:spPr>
        <p:txBody>
          <a:bodyPr wrap="square" lIns="0" tIns="0" rIns="0" bIns="0" rtlCol="0" anchor="ctr"/>
          <a:lstStyle/>
          <a:p>
            <a:pPr marL="0" indent="0" algn="ctr">
              <a:buNone/>
            </a:pPr>
            <a:r>
              <a:rPr lang="en-US" sz="1100" dirty="0">
                <a:solidFill>
                  <a:srgbClr val="CDEFF0"/>
                </a:solidFill>
                <a:latin typeface="Calibri" pitchFamily="34" charset="0"/>
                <a:ea typeface="Calibri" pitchFamily="34" charset="-122"/>
                <a:cs typeface="Calibri" pitchFamily="34" charset="-120"/>
              </a:rPr>
              <a:t>Shop</a:t>
            </a:r>
            <a:endParaRPr lang="en-US" sz="1100" dirty="0"/>
          </a:p>
        </p:txBody>
      </p:sp>
      <p:sp>
        <p:nvSpPr>
          <p:cNvPr id="19" name="Shape 15"/>
          <p:cNvSpPr/>
          <p:nvPr/>
        </p:nvSpPr>
        <p:spPr>
          <a:xfrm>
            <a:off x="8787384" y="1755648"/>
            <a:ext cx="1234440" cy="310896"/>
          </a:xfrm>
          <a:prstGeom prst="roundRect">
            <a:avLst>
              <a:gd name="adj" fmla="val 50000"/>
            </a:avLst>
          </a:prstGeom>
          <a:solidFill>
            <a:srgbClr val="F2B705"/>
          </a:solidFill>
          <a:ln/>
        </p:spPr>
        <p:txBody>
          <a:bodyPr/>
          <a:lstStyle/>
          <a:p>
            <a:endParaRPr lang="fr-FR"/>
          </a:p>
        </p:txBody>
      </p:sp>
      <p:pic>
        <p:nvPicPr>
          <p:cNvPr id="20" name="Image 2" descr="preencoded.png"/>
          <p:cNvPicPr>
            <a:picLocks noChangeAspect="1"/>
          </p:cNvPicPr>
          <p:nvPr/>
        </p:nvPicPr>
        <p:blipFill>
          <a:blip r:embed="rId5"/>
          <a:stretch>
            <a:fillRect/>
          </a:stretch>
        </p:blipFill>
        <p:spPr>
          <a:xfrm>
            <a:off x="8906256" y="1810512"/>
            <a:ext cx="201168" cy="201168"/>
          </a:xfrm>
          <a:prstGeom prst="rect">
            <a:avLst/>
          </a:prstGeom>
        </p:spPr>
      </p:pic>
      <p:sp>
        <p:nvSpPr>
          <p:cNvPr id="21" name="Text 16"/>
          <p:cNvSpPr/>
          <p:nvPr/>
        </p:nvSpPr>
        <p:spPr>
          <a:xfrm>
            <a:off x="9180576" y="1755648"/>
            <a:ext cx="822960" cy="310896"/>
          </a:xfrm>
          <a:prstGeom prst="rect">
            <a:avLst/>
          </a:prstGeom>
          <a:noFill/>
          <a:ln/>
        </p:spPr>
        <p:txBody>
          <a:bodyPr wrap="square" lIns="0" tIns="0" rIns="0" bIns="0" rtlCol="0" anchor="ctr"/>
          <a:lstStyle/>
          <a:p>
            <a:pPr marL="0" indent="0">
              <a:buNone/>
            </a:pPr>
            <a:r>
              <a:rPr lang="en-US" sz="1200" b="1" dirty="0">
                <a:solidFill>
                  <a:srgbClr val="0B3C49"/>
                </a:solidFill>
                <a:latin typeface="Calibri" pitchFamily="34" charset="0"/>
                <a:ea typeface="Calibri" pitchFamily="34" charset="-122"/>
                <a:cs typeface="Calibri" pitchFamily="34" charset="-120"/>
              </a:rPr>
              <a:t>1,240</a:t>
            </a:r>
            <a:endParaRPr lang="en-US" sz="1200" dirty="0"/>
          </a:p>
        </p:txBody>
      </p:sp>
      <p:sp>
        <p:nvSpPr>
          <p:cNvPr id="22" name="Shape 17"/>
          <p:cNvSpPr/>
          <p:nvPr/>
        </p:nvSpPr>
        <p:spPr>
          <a:xfrm>
            <a:off x="10204704" y="1728216"/>
            <a:ext cx="365760" cy="365760"/>
          </a:xfrm>
          <a:prstGeom prst="ellipse">
            <a:avLst/>
          </a:prstGeom>
          <a:solidFill>
            <a:srgbClr val="0B3C49"/>
          </a:solidFill>
          <a:ln/>
        </p:spPr>
        <p:txBody>
          <a:bodyPr/>
          <a:lstStyle/>
          <a:p>
            <a:endParaRPr lang="fr-FR"/>
          </a:p>
        </p:txBody>
      </p:sp>
      <p:pic>
        <p:nvPicPr>
          <p:cNvPr id="23" name="Image 3" descr="preencoded.png"/>
          <p:cNvPicPr>
            <a:picLocks noChangeAspect="1"/>
          </p:cNvPicPr>
          <p:nvPr/>
        </p:nvPicPr>
        <p:blipFill>
          <a:blip r:embed="rId6"/>
          <a:stretch>
            <a:fillRect/>
          </a:stretch>
        </p:blipFill>
        <p:spPr>
          <a:xfrm>
            <a:off x="10305288" y="1819656"/>
            <a:ext cx="164592" cy="164592"/>
          </a:xfrm>
          <a:prstGeom prst="rect">
            <a:avLst/>
          </a:prstGeom>
        </p:spPr>
      </p:pic>
      <p:sp>
        <p:nvSpPr>
          <p:cNvPr id="24" name="Shape 18"/>
          <p:cNvSpPr/>
          <p:nvPr/>
        </p:nvSpPr>
        <p:spPr>
          <a:xfrm>
            <a:off x="713232" y="2359152"/>
            <a:ext cx="7315200" cy="3455742"/>
          </a:xfrm>
          <a:prstGeom prst="roundRect">
            <a:avLst>
              <a:gd name="adj" fmla="val 2817"/>
            </a:avLst>
          </a:prstGeom>
          <a:solidFill>
            <a:srgbClr val="CDEFF0"/>
          </a:solidFill>
          <a:ln w="25400">
            <a:solidFill>
              <a:srgbClr val="028090"/>
            </a:solidFill>
            <a:prstDash val="solid"/>
          </a:ln>
        </p:spPr>
        <p:txBody>
          <a:bodyPr/>
          <a:lstStyle/>
          <a:p>
            <a:endParaRPr lang="fr-FR"/>
          </a:p>
        </p:txBody>
      </p:sp>
      <p:sp>
        <p:nvSpPr>
          <p:cNvPr id="25" name="Shape 19"/>
          <p:cNvSpPr/>
          <p:nvPr/>
        </p:nvSpPr>
        <p:spPr>
          <a:xfrm>
            <a:off x="804672" y="5361899"/>
            <a:ext cx="7132320" cy="292608"/>
          </a:xfrm>
          <a:prstGeom prst="rect">
            <a:avLst/>
          </a:prstGeom>
          <a:solidFill>
            <a:srgbClr val="F2B705">
              <a:alpha val="60000"/>
            </a:srgbClr>
          </a:solidFill>
          <a:ln/>
        </p:spPr>
        <p:txBody>
          <a:bodyPr/>
          <a:lstStyle/>
          <a:p>
            <a:endParaRPr lang="fr-FR"/>
          </a:p>
        </p:txBody>
      </p:sp>
      <p:pic>
        <p:nvPicPr>
          <p:cNvPr id="26" name="Image 4" descr="preencoded.png"/>
          <p:cNvPicPr>
            <a:picLocks noChangeAspect="1"/>
          </p:cNvPicPr>
          <p:nvPr/>
        </p:nvPicPr>
        <p:blipFill>
          <a:blip r:embed="rId7"/>
          <a:stretch>
            <a:fillRect/>
          </a:stretch>
        </p:blipFill>
        <p:spPr>
          <a:xfrm>
            <a:off x="1627632" y="2907792"/>
            <a:ext cx="1280160" cy="1088136"/>
          </a:xfrm>
          <a:prstGeom prst="rect">
            <a:avLst/>
          </a:prstGeom>
        </p:spPr>
      </p:pic>
      <p:sp>
        <p:nvSpPr>
          <p:cNvPr id="27" name="Shape 20"/>
          <p:cNvSpPr/>
          <p:nvPr/>
        </p:nvSpPr>
        <p:spPr>
          <a:xfrm>
            <a:off x="1719072" y="2798064"/>
            <a:ext cx="1097280" cy="73152"/>
          </a:xfrm>
          <a:prstGeom prst="rect">
            <a:avLst/>
          </a:prstGeom>
          <a:solidFill>
            <a:srgbClr val="FFFFFF"/>
          </a:solidFill>
          <a:ln/>
        </p:spPr>
        <p:txBody>
          <a:bodyPr/>
          <a:lstStyle/>
          <a:p>
            <a:endParaRPr lang="fr-FR"/>
          </a:p>
        </p:txBody>
      </p:sp>
      <p:sp>
        <p:nvSpPr>
          <p:cNvPr id="28" name="Shape 21"/>
          <p:cNvSpPr/>
          <p:nvPr/>
        </p:nvSpPr>
        <p:spPr>
          <a:xfrm>
            <a:off x="1719072" y="2798064"/>
            <a:ext cx="438912" cy="73152"/>
          </a:xfrm>
          <a:prstGeom prst="rect">
            <a:avLst/>
          </a:prstGeom>
          <a:solidFill>
            <a:srgbClr val="F2B705"/>
          </a:solidFill>
          <a:ln/>
        </p:spPr>
        <p:txBody>
          <a:bodyPr/>
          <a:lstStyle/>
          <a:p>
            <a:endParaRPr lang="fr-FR"/>
          </a:p>
        </p:txBody>
      </p:sp>
      <p:pic>
        <p:nvPicPr>
          <p:cNvPr id="29" name="Image 5" descr="preencoded.png"/>
          <p:cNvPicPr>
            <a:picLocks noChangeAspect="1"/>
          </p:cNvPicPr>
          <p:nvPr/>
        </p:nvPicPr>
        <p:blipFill>
          <a:blip r:embed="rId8"/>
          <a:stretch>
            <a:fillRect/>
          </a:stretch>
        </p:blipFill>
        <p:spPr>
          <a:xfrm>
            <a:off x="3822192" y="3639312"/>
            <a:ext cx="1005840" cy="854964"/>
          </a:xfrm>
          <a:prstGeom prst="rect">
            <a:avLst/>
          </a:prstGeom>
        </p:spPr>
      </p:pic>
      <p:sp>
        <p:nvSpPr>
          <p:cNvPr id="30" name="Shape 22"/>
          <p:cNvSpPr/>
          <p:nvPr/>
        </p:nvSpPr>
        <p:spPr>
          <a:xfrm>
            <a:off x="3913632" y="3529584"/>
            <a:ext cx="822960" cy="73152"/>
          </a:xfrm>
          <a:prstGeom prst="rect">
            <a:avLst/>
          </a:prstGeom>
          <a:solidFill>
            <a:srgbClr val="FFFFFF"/>
          </a:solidFill>
          <a:ln/>
        </p:spPr>
        <p:txBody>
          <a:bodyPr/>
          <a:lstStyle/>
          <a:p>
            <a:endParaRPr lang="fr-FR"/>
          </a:p>
        </p:txBody>
      </p:sp>
      <p:sp>
        <p:nvSpPr>
          <p:cNvPr id="31" name="Shape 23"/>
          <p:cNvSpPr/>
          <p:nvPr/>
        </p:nvSpPr>
        <p:spPr>
          <a:xfrm>
            <a:off x="3913632" y="3529584"/>
            <a:ext cx="555498" cy="73152"/>
          </a:xfrm>
          <a:prstGeom prst="rect">
            <a:avLst/>
          </a:prstGeom>
          <a:solidFill>
            <a:srgbClr val="02C39A"/>
          </a:solidFill>
          <a:ln/>
        </p:spPr>
        <p:txBody>
          <a:bodyPr/>
          <a:lstStyle/>
          <a:p>
            <a:endParaRPr lang="fr-FR"/>
          </a:p>
        </p:txBody>
      </p:sp>
      <p:pic>
        <p:nvPicPr>
          <p:cNvPr id="32" name="Image 6" descr="preencoded.png"/>
          <p:cNvPicPr>
            <a:picLocks noChangeAspect="1"/>
          </p:cNvPicPr>
          <p:nvPr/>
        </p:nvPicPr>
        <p:blipFill>
          <a:blip r:embed="rId7"/>
          <a:stretch>
            <a:fillRect/>
          </a:stretch>
        </p:blipFill>
        <p:spPr>
          <a:xfrm>
            <a:off x="5925312" y="3090672"/>
            <a:ext cx="1143000" cy="971550"/>
          </a:xfrm>
          <a:prstGeom prst="rect">
            <a:avLst/>
          </a:prstGeom>
        </p:spPr>
      </p:pic>
      <p:sp>
        <p:nvSpPr>
          <p:cNvPr id="33" name="Shape 24"/>
          <p:cNvSpPr/>
          <p:nvPr/>
        </p:nvSpPr>
        <p:spPr>
          <a:xfrm>
            <a:off x="6016752" y="2980944"/>
            <a:ext cx="960120" cy="73152"/>
          </a:xfrm>
          <a:prstGeom prst="rect">
            <a:avLst/>
          </a:prstGeom>
          <a:solidFill>
            <a:srgbClr val="FFFFFF"/>
          </a:solidFill>
          <a:ln/>
        </p:spPr>
        <p:txBody>
          <a:bodyPr/>
          <a:lstStyle/>
          <a:p>
            <a:endParaRPr lang="fr-FR"/>
          </a:p>
        </p:txBody>
      </p:sp>
      <p:sp>
        <p:nvSpPr>
          <p:cNvPr id="34" name="Shape 25"/>
          <p:cNvSpPr/>
          <p:nvPr/>
        </p:nvSpPr>
        <p:spPr>
          <a:xfrm>
            <a:off x="6016752" y="2980944"/>
            <a:ext cx="912114" cy="73152"/>
          </a:xfrm>
          <a:prstGeom prst="rect">
            <a:avLst/>
          </a:prstGeom>
          <a:solidFill>
            <a:srgbClr val="02C39A"/>
          </a:solidFill>
          <a:ln/>
        </p:spPr>
        <p:txBody>
          <a:bodyPr/>
          <a:lstStyle/>
          <a:p>
            <a:endParaRPr lang="fr-FR"/>
          </a:p>
        </p:txBody>
      </p:sp>
      <p:pic>
        <p:nvPicPr>
          <p:cNvPr id="35" name="Image 7" descr="preencoded.png"/>
          <p:cNvPicPr>
            <a:picLocks noChangeAspect="1"/>
          </p:cNvPicPr>
          <p:nvPr/>
        </p:nvPicPr>
        <p:blipFill>
          <a:blip r:embed="rId8"/>
          <a:stretch>
            <a:fillRect/>
          </a:stretch>
        </p:blipFill>
        <p:spPr>
          <a:xfrm>
            <a:off x="2724912" y="4370832"/>
            <a:ext cx="914400" cy="777240"/>
          </a:xfrm>
          <a:prstGeom prst="rect">
            <a:avLst/>
          </a:prstGeom>
        </p:spPr>
      </p:pic>
      <p:sp>
        <p:nvSpPr>
          <p:cNvPr id="36" name="Shape 26"/>
          <p:cNvSpPr/>
          <p:nvPr/>
        </p:nvSpPr>
        <p:spPr>
          <a:xfrm>
            <a:off x="2816352" y="4261104"/>
            <a:ext cx="731520" cy="73152"/>
          </a:xfrm>
          <a:prstGeom prst="rect">
            <a:avLst/>
          </a:prstGeom>
          <a:solidFill>
            <a:srgbClr val="FFFFFF"/>
          </a:solidFill>
          <a:ln/>
        </p:spPr>
        <p:txBody>
          <a:bodyPr/>
          <a:lstStyle/>
          <a:p>
            <a:endParaRPr lang="fr-FR"/>
          </a:p>
        </p:txBody>
      </p:sp>
      <p:sp>
        <p:nvSpPr>
          <p:cNvPr id="37" name="Shape 27"/>
          <p:cNvSpPr/>
          <p:nvPr/>
        </p:nvSpPr>
        <p:spPr>
          <a:xfrm>
            <a:off x="2816352" y="4261104"/>
            <a:ext cx="292608" cy="73152"/>
          </a:xfrm>
          <a:prstGeom prst="rect">
            <a:avLst/>
          </a:prstGeom>
          <a:solidFill>
            <a:srgbClr val="F2B705"/>
          </a:solidFill>
          <a:ln/>
        </p:spPr>
        <p:txBody>
          <a:bodyPr/>
          <a:lstStyle/>
          <a:p>
            <a:endParaRPr lang="fr-FR"/>
          </a:p>
        </p:txBody>
      </p:sp>
      <p:pic>
        <p:nvPicPr>
          <p:cNvPr id="38" name="Image 8" descr="preencoded.png"/>
          <p:cNvPicPr>
            <a:picLocks noChangeAspect="1"/>
          </p:cNvPicPr>
          <p:nvPr/>
        </p:nvPicPr>
        <p:blipFill>
          <a:blip r:embed="rId7"/>
          <a:stretch>
            <a:fillRect/>
          </a:stretch>
        </p:blipFill>
        <p:spPr>
          <a:xfrm>
            <a:off x="4919472" y="4645152"/>
            <a:ext cx="1234440" cy="1049274"/>
          </a:xfrm>
          <a:prstGeom prst="rect">
            <a:avLst/>
          </a:prstGeom>
        </p:spPr>
      </p:pic>
      <p:sp>
        <p:nvSpPr>
          <p:cNvPr id="39" name="Shape 28"/>
          <p:cNvSpPr/>
          <p:nvPr/>
        </p:nvSpPr>
        <p:spPr>
          <a:xfrm>
            <a:off x="5010912" y="4535424"/>
            <a:ext cx="1051560" cy="73152"/>
          </a:xfrm>
          <a:prstGeom prst="rect">
            <a:avLst/>
          </a:prstGeom>
          <a:solidFill>
            <a:srgbClr val="FFFFFF"/>
          </a:solidFill>
          <a:ln/>
        </p:spPr>
        <p:txBody>
          <a:bodyPr/>
          <a:lstStyle/>
          <a:p>
            <a:endParaRPr lang="fr-FR"/>
          </a:p>
        </p:txBody>
      </p:sp>
      <p:sp>
        <p:nvSpPr>
          <p:cNvPr id="40" name="Shape 29"/>
          <p:cNvSpPr/>
          <p:nvPr/>
        </p:nvSpPr>
        <p:spPr>
          <a:xfrm>
            <a:off x="5010912" y="4535424"/>
            <a:ext cx="709803" cy="73152"/>
          </a:xfrm>
          <a:prstGeom prst="rect">
            <a:avLst/>
          </a:prstGeom>
          <a:solidFill>
            <a:srgbClr val="02C39A"/>
          </a:solidFill>
          <a:ln/>
        </p:spPr>
        <p:txBody>
          <a:bodyPr/>
          <a:lstStyle/>
          <a:p>
            <a:endParaRPr lang="fr-FR"/>
          </a:p>
        </p:txBody>
      </p:sp>
      <p:pic>
        <p:nvPicPr>
          <p:cNvPr id="41" name="Image 9" descr="preencoded.png"/>
          <p:cNvPicPr>
            <a:picLocks noChangeAspect="1"/>
          </p:cNvPicPr>
          <p:nvPr/>
        </p:nvPicPr>
        <p:blipFill>
          <a:blip r:embed="rId8"/>
          <a:stretch>
            <a:fillRect/>
          </a:stretch>
        </p:blipFill>
        <p:spPr>
          <a:xfrm>
            <a:off x="6382512" y="4187952"/>
            <a:ext cx="868680" cy="738378"/>
          </a:xfrm>
          <a:prstGeom prst="rect">
            <a:avLst/>
          </a:prstGeom>
        </p:spPr>
      </p:pic>
      <p:sp>
        <p:nvSpPr>
          <p:cNvPr id="42" name="Shape 30"/>
          <p:cNvSpPr/>
          <p:nvPr/>
        </p:nvSpPr>
        <p:spPr>
          <a:xfrm>
            <a:off x="6473952" y="4078224"/>
            <a:ext cx="685800" cy="73152"/>
          </a:xfrm>
          <a:prstGeom prst="rect">
            <a:avLst/>
          </a:prstGeom>
          <a:solidFill>
            <a:srgbClr val="FFFFFF"/>
          </a:solidFill>
          <a:ln/>
        </p:spPr>
        <p:txBody>
          <a:bodyPr/>
          <a:lstStyle/>
          <a:p>
            <a:endParaRPr lang="fr-FR"/>
          </a:p>
        </p:txBody>
      </p:sp>
      <p:sp>
        <p:nvSpPr>
          <p:cNvPr id="43" name="Shape 31"/>
          <p:cNvSpPr/>
          <p:nvPr/>
        </p:nvSpPr>
        <p:spPr>
          <a:xfrm>
            <a:off x="6473952" y="4078224"/>
            <a:ext cx="651510" cy="73152"/>
          </a:xfrm>
          <a:prstGeom prst="rect">
            <a:avLst/>
          </a:prstGeom>
          <a:solidFill>
            <a:srgbClr val="02C39A"/>
          </a:solidFill>
          <a:ln/>
        </p:spPr>
        <p:txBody>
          <a:bodyPr/>
          <a:lstStyle/>
          <a:p>
            <a:endParaRPr lang="fr-FR"/>
          </a:p>
        </p:txBody>
      </p:sp>
      <p:sp>
        <p:nvSpPr>
          <p:cNvPr id="44" name="Text 32"/>
          <p:cNvSpPr/>
          <p:nvPr/>
        </p:nvSpPr>
        <p:spPr>
          <a:xfrm>
            <a:off x="758952" y="5385816"/>
            <a:ext cx="7315200" cy="274320"/>
          </a:xfrm>
          <a:prstGeom prst="rect">
            <a:avLst/>
          </a:prstGeom>
          <a:noFill/>
          <a:ln/>
        </p:spPr>
        <p:txBody>
          <a:bodyPr wrap="square" lIns="0" tIns="0" rIns="0" bIns="0" rtlCol="0" anchor="ctr"/>
          <a:lstStyle/>
          <a:p>
            <a:pPr marL="0" indent="0" algn="ctr">
              <a:buNone/>
            </a:pPr>
            <a:r>
              <a:rPr lang="en-US" sz="1000" i="1" dirty="0">
                <a:solidFill>
                  <a:srgbClr val="0B3C49"/>
                </a:solidFill>
                <a:latin typeface="Calibri" pitchFamily="34" charset="0"/>
                <a:ea typeface="Calibri" pitchFamily="34" charset="-122"/>
                <a:cs typeface="Calibri" pitchFamily="34" charset="-120"/>
              </a:rPr>
              <a:t>Click a fish to earn coins</a:t>
            </a:r>
            <a:endParaRPr lang="en-US" sz="1000" dirty="0"/>
          </a:p>
        </p:txBody>
      </p:sp>
      <p:sp>
        <p:nvSpPr>
          <p:cNvPr id="45" name="Shape 33"/>
          <p:cNvSpPr/>
          <p:nvPr/>
        </p:nvSpPr>
        <p:spPr>
          <a:xfrm>
            <a:off x="8302752" y="2359152"/>
            <a:ext cx="3044952" cy="777240"/>
          </a:xfrm>
          <a:prstGeom prst="roundRect">
            <a:avLst>
              <a:gd name="adj" fmla="val 8235"/>
            </a:avLst>
          </a:prstGeom>
          <a:solidFill>
            <a:srgbClr val="FFFFFF"/>
          </a:solidFill>
          <a:ln w="12700">
            <a:solidFill>
              <a:srgbClr val="DCEFEF"/>
            </a:solidFill>
            <a:prstDash val="solid"/>
          </a:ln>
        </p:spPr>
        <p:txBody>
          <a:bodyPr/>
          <a:lstStyle/>
          <a:p>
            <a:endParaRPr lang="fr-FR"/>
          </a:p>
        </p:txBody>
      </p:sp>
      <p:sp>
        <p:nvSpPr>
          <p:cNvPr id="46" name="Shape 34"/>
          <p:cNvSpPr/>
          <p:nvPr/>
        </p:nvSpPr>
        <p:spPr>
          <a:xfrm>
            <a:off x="8449056" y="2505456"/>
            <a:ext cx="457200" cy="457200"/>
          </a:xfrm>
          <a:prstGeom prst="ellipse">
            <a:avLst/>
          </a:prstGeom>
          <a:solidFill>
            <a:srgbClr val="00A896"/>
          </a:solidFill>
          <a:ln/>
        </p:spPr>
        <p:txBody>
          <a:bodyPr/>
          <a:lstStyle/>
          <a:p>
            <a:endParaRPr lang="fr-FR"/>
          </a:p>
        </p:txBody>
      </p:sp>
      <p:pic>
        <p:nvPicPr>
          <p:cNvPr id="47" name="Image 10" descr="preencoded.png"/>
          <p:cNvPicPr>
            <a:picLocks noChangeAspect="1"/>
          </p:cNvPicPr>
          <p:nvPr/>
        </p:nvPicPr>
        <p:blipFill>
          <a:blip r:embed="rId9"/>
          <a:stretch>
            <a:fillRect/>
          </a:stretch>
        </p:blipFill>
        <p:spPr>
          <a:xfrm>
            <a:off x="8572500" y="2628900"/>
            <a:ext cx="210312" cy="210312"/>
          </a:xfrm>
          <a:prstGeom prst="rect">
            <a:avLst/>
          </a:prstGeom>
        </p:spPr>
      </p:pic>
      <p:sp>
        <p:nvSpPr>
          <p:cNvPr id="48" name="Text 35"/>
          <p:cNvSpPr/>
          <p:nvPr/>
        </p:nvSpPr>
        <p:spPr>
          <a:xfrm>
            <a:off x="9015984" y="2359152"/>
            <a:ext cx="2221992" cy="777240"/>
          </a:xfrm>
          <a:prstGeom prst="rect">
            <a:avLst/>
          </a:prstGeom>
          <a:noFill/>
          <a:ln/>
        </p:spPr>
        <p:txBody>
          <a:bodyPr wrap="square" lIns="0" tIns="0" rIns="0" bIns="0" rtlCol="0" anchor="ctr"/>
          <a:lstStyle/>
          <a:p>
            <a:pPr marL="0" indent="0">
              <a:buNone/>
            </a:pPr>
            <a:r>
              <a:rPr lang="en-US" sz="1150" b="1" dirty="0">
                <a:solidFill>
                  <a:srgbClr val="0B3C49"/>
                </a:solidFill>
                <a:latin typeface="Calibri" pitchFamily="34" charset="0"/>
                <a:ea typeface="Calibri" pitchFamily="34" charset="-122"/>
                <a:cs typeface="Calibri" pitchFamily="34" charset="-120"/>
              </a:rPr>
              <a:t>Daily challenges
</a:t>
            </a:r>
            <a:r>
              <a:rPr lang="en-US" sz="900" dirty="0">
                <a:solidFill>
                  <a:srgbClr val="557079"/>
                </a:solidFill>
                <a:latin typeface="Calibri" pitchFamily="34" charset="0"/>
                <a:ea typeface="Calibri" pitchFamily="34" charset="-122"/>
                <a:cs typeface="Calibri" pitchFamily="34" charset="-120"/>
              </a:rPr>
              <a:t>3 of 4 done · +150 coins</a:t>
            </a:r>
            <a:endParaRPr lang="en-US" sz="1150" dirty="0"/>
          </a:p>
        </p:txBody>
      </p:sp>
      <p:sp>
        <p:nvSpPr>
          <p:cNvPr id="49" name="Shape 36"/>
          <p:cNvSpPr/>
          <p:nvPr/>
        </p:nvSpPr>
        <p:spPr>
          <a:xfrm>
            <a:off x="8302752" y="3273552"/>
            <a:ext cx="3044952" cy="777240"/>
          </a:xfrm>
          <a:prstGeom prst="roundRect">
            <a:avLst>
              <a:gd name="adj" fmla="val 8235"/>
            </a:avLst>
          </a:prstGeom>
          <a:solidFill>
            <a:srgbClr val="FFFFFF"/>
          </a:solidFill>
          <a:ln w="12700">
            <a:solidFill>
              <a:srgbClr val="DCEFEF"/>
            </a:solidFill>
            <a:prstDash val="solid"/>
          </a:ln>
        </p:spPr>
        <p:txBody>
          <a:bodyPr/>
          <a:lstStyle/>
          <a:p>
            <a:endParaRPr lang="fr-FR"/>
          </a:p>
        </p:txBody>
      </p:sp>
      <p:sp>
        <p:nvSpPr>
          <p:cNvPr id="50" name="Shape 37"/>
          <p:cNvSpPr/>
          <p:nvPr/>
        </p:nvSpPr>
        <p:spPr>
          <a:xfrm>
            <a:off x="8449056" y="3419856"/>
            <a:ext cx="457200" cy="457200"/>
          </a:xfrm>
          <a:prstGeom prst="ellipse">
            <a:avLst/>
          </a:prstGeom>
          <a:solidFill>
            <a:srgbClr val="028090"/>
          </a:solidFill>
          <a:ln/>
        </p:spPr>
        <p:txBody>
          <a:bodyPr/>
          <a:lstStyle/>
          <a:p>
            <a:endParaRPr lang="fr-FR"/>
          </a:p>
        </p:txBody>
      </p:sp>
      <p:pic>
        <p:nvPicPr>
          <p:cNvPr id="51" name="Image 11" descr="preencoded.png"/>
          <p:cNvPicPr>
            <a:picLocks noChangeAspect="1"/>
          </p:cNvPicPr>
          <p:nvPr/>
        </p:nvPicPr>
        <p:blipFill>
          <a:blip r:embed="rId10"/>
          <a:stretch>
            <a:fillRect/>
          </a:stretch>
        </p:blipFill>
        <p:spPr>
          <a:xfrm>
            <a:off x="8572500" y="3543300"/>
            <a:ext cx="210312" cy="210312"/>
          </a:xfrm>
          <a:prstGeom prst="rect">
            <a:avLst/>
          </a:prstGeom>
        </p:spPr>
      </p:pic>
      <p:sp>
        <p:nvSpPr>
          <p:cNvPr id="52" name="Text 38"/>
          <p:cNvSpPr/>
          <p:nvPr/>
        </p:nvSpPr>
        <p:spPr>
          <a:xfrm>
            <a:off x="9015984" y="3273552"/>
            <a:ext cx="2221992" cy="777240"/>
          </a:xfrm>
          <a:prstGeom prst="rect">
            <a:avLst/>
          </a:prstGeom>
          <a:noFill/>
          <a:ln/>
        </p:spPr>
        <p:txBody>
          <a:bodyPr wrap="square" lIns="0" tIns="0" rIns="0" bIns="0" rtlCol="0" anchor="ctr"/>
          <a:lstStyle/>
          <a:p>
            <a:pPr marL="0" indent="0">
              <a:buNone/>
            </a:pPr>
            <a:r>
              <a:rPr lang="en-US" sz="1150" b="1" dirty="0">
                <a:solidFill>
                  <a:srgbClr val="0B3C49"/>
                </a:solidFill>
                <a:latin typeface="Calibri" pitchFamily="34" charset="0"/>
                <a:ea typeface="Calibri" pitchFamily="34" charset="-122"/>
                <a:cs typeface="Calibri" pitchFamily="34" charset="-120"/>
              </a:rPr>
              <a:t>Shop
</a:t>
            </a:r>
            <a:r>
              <a:rPr lang="en-US" sz="900" dirty="0">
                <a:solidFill>
                  <a:srgbClr val="557079"/>
                </a:solidFill>
                <a:latin typeface="Calibri" pitchFamily="34" charset="0"/>
                <a:ea typeface="Calibri" pitchFamily="34" charset="-122"/>
                <a:cs typeface="Calibri" pitchFamily="34" charset="-120"/>
              </a:rPr>
              <a:t>Food · upgrades</a:t>
            </a:r>
            <a:endParaRPr lang="en-US" sz="1150" dirty="0"/>
          </a:p>
        </p:txBody>
      </p:sp>
      <p:sp>
        <p:nvSpPr>
          <p:cNvPr id="53" name="Shape 39"/>
          <p:cNvSpPr/>
          <p:nvPr/>
        </p:nvSpPr>
        <p:spPr>
          <a:xfrm>
            <a:off x="8302752" y="4187952"/>
            <a:ext cx="3044952" cy="777240"/>
          </a:xfrm>
          <a:prstGeom prst="roundRect">
            <a:avLst>
              <a:gd name="adj" fmla="val 8235"/>
            </a:avLst>
          </a:prstGeom>
          <a:solidFill>
            <a:srgbClr val="FFFFFF"/>
          </a:solidFill>
          <a:ln w="12700">
            <a:solidFill>
              <a:srgbClr val="DCEFEF"/>
            </a:solidFill>
            <a:prstDash val="solid"/>
          </a:ln>
        </p:spPr>
        <p:txBody>
          <a:bodyPr/>
          <a:lstStyle/>
          <a:p>
            <a:endParaRPr lang="fr-FR"/>
          </a:p>
        </p:txBody>
      </p:sp>
      <p:sp>
        <p:nvSpPr>
          <p:cNvPr id="54" name="Shape 40"/>
          <p:cNvSpPr/>
          <p:nvPr/>
        </p:nvSpPr>
        <p:spPr>
          <a:xfrm>
            <a:off x="8449056" y="4334256"/>
            <a:ext cx="457200" cy="457200"/>
          </a:xfrm>
          <a:prstGeom prst="ellipse">
            <a:avLst/>
          </a:prstGeom>
          <a:solidFill>
            <a:srgbClr val="F2B705"/>
          </a:solidFill>
          <a:ln/>
        </p:spPr>
        <p:txBody>
          <a:bodyPr/>
          <a:lstStyle/>
          <a:p>
            <a:endParaRPr lang="fr-FR"/>
          </a:p>
        </p:txBody>
      </p:sp>
      <p:pic>
        <p:nvPicPr>
          <p:cNvPr id="55" name="Image 12" descr="preencoded.png"/>
          <p:cNvPicPr>
            <a:picLocks noChangeAspect="1"/>
          </p:cNvPicPr>
          <p:nvPr/>
        </p:nvPicPr>
        <p:blipFill>
          <a:blip r:embed="rId11"/>
          <a:stretch>
            <a:fillRect/>
          </a:stretch>
        </p:blipFill>
        <p:spPr>
          <a:xfrm>
            <a:off x="8572500" y="4457700"/>
            <a:ext cx="210312" cy="210312"/>
          </a:xfrm>
          <a:prstGeom prst="rect">
            <a:avLst/>
          </a:prstGeom>
        </p:spPr>
      </p:pic>
      <p:sp>
        <p:nvSpPr>
          <p:cNvPr id="56" name="Text 41"/>
          <p:cNvSpPr/>
          <p:nvPr/>
        </p:nvSpPr>
        <p:spPr>
          <a:xfrm>
            <a:off x="9015984" y="4187952"/>
            <a:ext cx="2221992" cy="777240"/>
          </a:xfrm>
          <a:prstGeom prst="rect">
            <a:avLst/>
          </a:prstGeom>
          <a:noFill/>
          <a:ln/>
        </p:spPr>
        <p:txBody>
          <a:bodyPr wrap="square" lIns="0" tIns="0" rIns="0" bIns="0" rtlCol="0" anchor="ctr"/>
          <a:lstStyle/>
          <a:p>
            <a:pPr marL="0" indent="0">
              <a:buNone/>
            </a:pPr>
            <a:r>
              <a:rPr lang="en-US" sz="1150" b="1" dirty="0">
                <a:solidFill>
                  <a:srgbClr val="0B3C49"/>
                </a:solidFill>
                <a:latin typeface="Calibri" pitchFamily="34" charset="0"/>
                <a:ea typeface="Calibri" pitchFamily="34" charset="-122"/>
                <a:cs typeface="Calibri" pitchFamily="34" charset="-120"/>
              </a:rPr>
              <a:t>Friends
</a:t>
            </a:r>
            <a:r>
              <a:rPr lang="en-US" sz="900" dirty="0">
                <a:solidFill>
                  <a:srgbClr val="557079"/>
                </a:solidFill>
                <a:latin typeface="Calibri" pitchFamily="34" charset="0"/>
                <a:ea typeface="Calibri" pitchFamily="34" charset="-122"/>
                <a:cs typeface="Calibri" pitchFamily="34" charset="-120"/>
              </a:rPr>
              <a:t>2 trade requests</a:t>
            </a:r>
            <a:endParaRPr lang="en-US" sz="1150" dirty="0"/>
          </a:p>
        </p:txBody>
      </p:sp>
      <p:sp>
        <p:nvSpPr>
          <p:cNvPr id="57" name="Shape 42"/>
          <p:cNvSpPr/>
          <p:nvPr/>
        </p:nvSpPr>
        <p:spPr>
          <a:xfrm>
            <a:off x="8302752" y="5102352"/>
            <a:ext cx="3044952" cy="712542"/>
          </a:xfrm>
          <a:prstGeom prst="roundRect">
            <a:avLst>
              <a:gd name="adj" fmla="val 12727"/>
            </a:avLst>
          </a:prstGeom>
          <a:solidFill>
            <a:srgbClr val="FFFFFF"/>
          </a:solidFill>
          <a:ln w="12700">
            <a:solidFill>
              <a:srgbClr val="DCEFEF"/>
            </a:solidFill>
            <a:prstDash val="solid"/>
          </a:ln>
        </p:spPr>
        <p:txBody>
          <a:bodyPr/>
          <a:lstStyle/>
          <a:p>
            <a:endParaRPr lang="fr-FR"/>
          </a:p>
        </p:txBody>
      </p:sp>
      <p:sp>
        <p:nvSpPr>
          <p:cNvPr id="58" name="Shape 43"/>
          <p:cNvSpPr/>
          <p:nvPr/>
        </p:nvSpPr>
        <p:spPr>
          <a:xfrm>
            <a:off x="8449056" y="5248656"/>
            <a:ext cx="457200" cy="457200"/>
          </a:xfrm>
          <a:prstGeom prst="ellipse">
            <a:avLst/>
          </a:prstGeom>
          <a:solidFill>
            <a:srgbClr val="0B3C49"/>
          </a:solidFill>
          <a:ln/>
        </p:spPr>
        <p:txBody>
          <a:bodyPr/>
          <a:lstStyle/>
          <a:p>
            <a:endParaRPr lang="fr-FR"/>
          </a:p>
        </p:txBody>
      </p:sp>
      <p:pic>
        <p:nvPicPr>
          <p:cNvPr id="59" name="Image 13" descr="preencoded.png"/>
          <p:cNvPicPr>
            <a:picLocks noChangeAspect="1"/>
          </p:cNvPicPr>
          <p:nvPr/>
        </p:nvPicPr>
        <p:blipFill>
          <a:blip r:embed="rId12"/>
          <a:stretch>
            <a:fillRect/>
          </a:stretch>
        </p:blipFill>
        <p:spPr>
          <a:xfrm>
            <a:off x="8572500" y="5372100"/>
            <a:ext cx="210312" cy="210312"/>
          </a:xfrm>
          <a:prstGeom prst="rect">
            <a:avLst/>
          </a:prstGeom>
        </p:spPr>
      </p:pic>
      <p:sp>
        <p:nvSpPr>
          <p:cNvPr id="60" name="Text 44"/>
          <p:cNvSpPr/>
          <p:nvPr/>
        </p:nvSpPr>
        <p:spPr>
          <a:xfrm>
            <a:off x="9015984" y="5102352"/>
            <a:ext cx="2221992" cy="502920"/>
          </a:xfrm>
          <a:prstGeom prst="rect">
            <a:avLst/>
          </a:prstGeom>
          <a:noFill/>
          <a:ln/>
        </p:spPr>
        <p:txBody>
          <a:bodyPr wrap="square" lIns="0" tIns="0" rIns="0" bIns="0" rtlCol="0" anchor="ctr"/>
          <a:lstStyle/>
          <a:p>
            <a:pPr marL="0" indent="0">
              <a:buNone/>
            </a:pPr>
            <a:r>
              <a:rPr lang="en-US" sz="1150" b="1" dirty="0">
                <a:solidFill>
                  <a:srgbClr val="0B3C49"/>
                </a:solidFill>
                <a:latin typeface="Calibri" pitchFamily="34" charset="0"/>
                <a:ea typeface="Calibri" pitchFamily="34" charset="-122"/>
                <a:cs typeface="Calibri" pitchFamily="34" charset="-120"/>
              </a:rPr>
              <a:t>Profile &amp; theme
</a:t>
            </a:r>
            <a:r>
              <a:rPr lang="en-US" sz="900" dirty="0">
                <a:solidFill>
                  <a:srgbClr val="557079"/>
                </a:solidFill>
                <a:latin typeface="Calibri" pitchFamily="34" charset="0"/>
                <a:ea typeface="Calibri" pitchFamily="34" charset="-122"/>
                <a:cs typeface="Calibri" pitchFamily="34" charset="-120"/>
              </a:rPr>
              <a:t>Light / Dark</a:t>
            </a:r>
            <a:endParaRPr lang="en-US" sz="1150" dirty="0"/>
          </a:p>
        </p:txBody>
      </p:sp>
      <p:sp>
        <p:nvSpPr>
          <p:cNvPr id="61" name="Text 45"/>
          <p:cNvSpPr/>
          <p:nvPr/>
        </p:nvSpPr>
        <p:spPr>
          <a:xfrm>
            <a:off x="11612880" y="6400800"/>
            <a:ext cx="457200" cy="274320"/>
          </a:xfrm>
          <a:prstGeom prst="rect">
            <a:avLst/>
          </a:prstGeom>
          <a:noFill/>
          <a:ln/>
        </p:spPr>
        <p:txBody>
          <a:bodyPr wrap="square" lIns="0" tIns="0" rIns="0" bIns="0" rtlCol="0" anchor="ctr"/>
          <a:lstStyle/>
          <a:p>
            <a:pPr marL="0" indent="0" algn="r">
              <a:buNone/>
            </a:pPr>
            <a:r>
              <a:rPr lang="en-US" sz="1100" dirty="0">
                <a:solidFill>
                  <a:srgbClr val="557079"/>
                </a:solidFill>
                <a:latin typeface="Calibri" pitchFamily="34" charset="0"/>
                <a:ea typeface="Calibri" pitchFamily="34" charset="-122"/>
                <a:cs typeface="Calibri" pitchFamily="34" charset="-120"/>
              </a:rPr>
              <a:t>9</a:t>
            </a:r>
            <a:endParaRPr lang="en-US" sz="1100" dirty="0"/>
          </a:p>
        </p:txBody>
      </p:sp>
      <p:pic>
        <p:nvPicPr>
          <p:cNvPr id="62" name="Image 14" descr="preencoded.png"/>
          <p:cNvPicPr>
            <a:picLocks noChangeAspect="1"/>
          </p:cNvPicPr>
          <p:nvPr/>
        </p:nvPicPr>
        <p:blipFill>
          <a:blip r:embed="rId8"/>
          <a:stretch>
            <a:fillRect/>
          </a:stretch>
        </p:blipFill>
        <p:spPr>
          <a:xfrm>
            <a:off x="548640" y="6419088"/>
            <a:ext cx="237744" cy="237744"/>
          </a:xfrm>
          <a:prstGeom prst="rect">
            <a:avLst/>
          </a:prstGeom>
        </p:spPr>
      </p:pic>
      <p:sp>
        <p:nvSpPr>
          <p:cNvPr id="63" name="Text 46"/>
          <p:cNvSpPr/>
          <p:nvPr/>
        </p:nvSpPr>
        <p:spPr>
          <a:xfrm>
            <a:off x="868680" y="6400800"/>
            <a:ext cx="3657600" cy="274320"/>
          </a:xfrm>
          <a:prstGeom prst="rect">
            <a:avLst/>
          </a:prstGeom>
          <a:noFill/>
          <a:ln/>
        </p:spPr>
        <p:txBody>
          <a:bodyPr wrap="square" lIns="0" tIns="0" rIns="0" bIns="0" rtlCol="0" anchor="ctr"/>
          <a:lstStyle/>
          <a:p>
            <a:pPr marL="0" indent="0">
              <a:buNone/>
            </a:pPr>
            <a:r>
              <a:rPr lang="en-US" sz="1000" dirty="0">
                <a:solidFill>
                  <a:srgbClr val="557079"/>
                </a:solidFill>
                <a:latin typeface="Calibri" pitchFamily="34" charset="0"/>
                <a:ea typeface="Calibri" pitchFamily="34" charset="-122"/>
                <a:cs typeface="Calibri" pitchFamily="34" charset="-120"/>
              </a:rPr>
              <a:t>Manage your little fish</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028090"/>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713232" y="621792"/>
            <a:ext cx="347472" cy="347472"/>
          </a:xfrm>
          <a:prstGeom prst="rect">
            <a:avLst/>
          </a:prstGeom>
        </p:spPr>
      </p:pic>
      <p:sp>
        <p:nvSpPr>
          <p:cNvPr id="4" name="Text 1"/>
          <p:cNvSpPr/>
          <p:nvPr/>
        </p:nvSpPr>
        <p:spPr>
          <a:xfrm>
            <a:off x="1417320" y="457200"/>
            <a:ext cx="8229600" cy="256032"/>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TECHNOLOGY STACK</a:t>
            </a:r>
            <a:endParaRPr lang="en-US" sz="1200" dirty="0"/>
          </a:p>
        </p:txBody>
      </p:sp>
      <p:sp>
        <p:nvSpPr>
          <p:cNvPr id="5" name="Text 2"/>
          <p:cNvSpPr/>
          <p:nvPr/>
        </p:nvSpPr>
        <p:spPr>
          <a:xfrm>
            <a:off x="1389888" y="676656"/>
            <a:ext cx="10241280" cy="566928"/>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Technologies we plan to use</a:t>
            </a:r>
            <a:endParaRPr lang="en-US" sz="3000" dirty="0"/>
          </a:p>
        </p:txBody>
      </p:sp>
      <p:sp>
        <p:nvSpPr>
          <p:cNvPr id="6" name="Shape 3"/>
          <p:cNvSpPr/>
          <p:nvPr/>
        </p:nvSpPr>
        <p:spPr>
          <a:xfrm>
            <a:off x="548640" y="1600200"/>
            <a:ext cx="5440680" cy="2011680"/>
          </a:xfrm>
          <a:prstGeom prst="roundRect">
            <a:avLst>
              <a:gd name="adj" fmla="val 3636"/>
            </a:avLst>
          </a:prstGeom>
          <a:solidFill>
            <a:srgbClr val="FFFFFF"/>
          </a:solidFill>
          <a:ln w="12700">
            <a:solidFill>
              <a:srgbClr val="DCEFEF"/>
            </a:solidFill>
            <a:prstDash val="solid"/>
          </a:ln>
          <a:effectLst>
            <a:outerShdw blurRad="88900" dist="38100" dir="5400000" algn="bl" rotWithShape="0">
              <a:srgbClr val="0A2E36">
                <a:alpha val="16000"/>
              </a:srgbClr>
            </a:outerShdw>
          </a:effectLst>
        </p:spPr>
        <p:txBody>
          <a:bodyPr/>
          <a:lstStyle/>
          <a:p>
            <a:endParaRPr lang="fr-FR"/>
          </a:p>
        </p:txBody>
      </p:sp>
      <p:sp>
        <p:nvSpPr>
          <p:cNvPr id="7" name="Shape 4"/>
          <p:cNvSpPr/>
          <p:nvPr/>
        </p:nvSpPr>
        <p:spPr>
          <a:xfrm>
            <a:off x="868680" y="1984248"/>
            <a:ext cx="1188720" cy="1188720"/>
          </a:xfrm>
          <a:prstGeom prst="ellipse">
            <a:avLst/>
          </a:prstGeom>
          <a:solidFill>
            <a:srgbClr val="028090"/>
          </a:solidFill>
          <a:ln/>
        </p:spPr>
        <p:txBody>
          <a:bodyPr/>
          <a:lstStyle/>
          <a:p>
            <a:endParaRPr lang="fr-FR"/>
          </a:p>
        </p:txBody>
      </p:sp>
      <p:pic>
        <p:nvPicPr>
          <p:cNvPr id="8" name="Image 1" descr="preencoded.png"/>
          <p:cNvPicPr>
            <a:picLocks noChangeAspect="1"/>
          </p:cNvPicPr>
          <p:nvPr/>
        </p:nvPicPr>
        <p:blipFill>
          <a:blip r:embed="rId4"/>
          <a:stretch>
            <a:fillRect/>
          </a:stretch>
        </p:blipFill>
        <p:spPr>
          <a:xfrm>
            <a:off x="1115568" y="2231136"/>
            <a:ext cx="694944" cy="694944"/>
          </a:xfrm>
          <a:prstGeom prst="rect">
            <a:avLst/>
          </a:prstGeom>
        </p:spPr>
      </p:pic>
      <p:sp>
        <p:nvSpPr>
          <p:cNvPr id="9" name="Text 5"/>
          <p:cNvSpPr/>
          <p:nvPr/>
        </p:nvSpPr>
        <p:spPr>
          <a:xfrm>
            <a:off x="2286000" y="1984248"/>
            <a:ext cx="3520440" cy="457200"/>
          </a:xfrm>
          <a:prstGeom prst="rect">
            <a:avLst/>
          </a:prstGeom>
          <a:noFill/>
          <a:ln/>
        </p:spPr>
        <p:txBody>
          <a:bodyPr wrap="square" lIns="0" tIns="0" rIns="0" bIns="0" rtlCol="0" anchor="ctr"/>
          <a:lstStyle/>
          <a:p>
            <a:pPr marL="0" indent="0">
              <a:buNone/>
            </a:pPr>
            <a:r>
              <a:rPr lang="en-US" sz="2000" b="1" dirty="0">
                <a:solidFill>
                  <a:srgbClr val="0B3C49"/>
                </a:solidFill>
                <a:latin typeface="Cambria" pitchFamily="34" charset="0"/>
                <a:ea typeface="Cambria" pitchFamily="34" charset="-122"/>
                <a:cs typeface="Cambria" pitchFamily="34" charset="-120"/>
              </a:rPr>
              <a:t>Spring Boot</a:t>
            </a:r>
            <a:endParaRPr lang="en-US" sz="2000" dirty="0"/>
          </a:p>
        </p:txBody>
      </p:sp>
      <p:sp>
        <p:nvSpPr>
          <p:cNvPr id="10" name="Text 6"/>
          <p:cNvSpPr/>
          <p:nvPr/>
        </p:nvSpPr>
        <p:spPr>
          <a:xfrm>
            <a:off x="2286000" y="2496312"/>
            <a:ext cx="3474720" cy="1005840"/>
          </a:xfrm>
          <a:prstGeom prst="rect">
            <a:avLst/>
          </a:prstGeom>
          <a:noFill/>
          <a:ln/>
        </p:spPr>
        <p:txBody>
          <a:bodyPr wrap="square" lIns="0" tIns="0" rIns="0" bIns="0" rtlCol="0" anchor="t"/>
          <a:lstStyle/>
          <a:p>
            <a:pPr marL="0" indent="0">
              <a:lnSpc>
                <a:spcPct val="105000"/>
              </a:lnSpc>
              <a:buNone/>
            </a:pPr>
            <a:r>
              <a:rPr lang="en-US" sz="1250" dirty="0">
                <a:solidFill>
                  <a:srgbClr val="557079"/>
                </a:solidFill>
                <a:latin typeface="Calibri" pitchFamily="34" charset="0"/>
                <a:ea typeface="Calibri" pitchFamily="34" charset="-122"/>
                <a:cs typeface="Calibri" pitchFamily="34" charset="-120"/>
              </a:rPr>
              <a:t>Backend in Java 17/21, built with Maven. REST API + scheduled tasks.</a:t>
            </a:r>
            <a:endParaRPr lang="en-US" sz="1250" dirty="0"/>
          </a:p>
        </p:txBody>
      </p:sp>
      <p:sp>
        <p:nvSpPr>
          <p:cNvPr id="11" name="Shape 7"/>
          <p:cNvSpPr/>
          <p:nvPr/>
        </p:nvSpPr>
        <p:spPr>
          <a:xfrm>
            <a:off x="6217920" y="1600200"/>
            <a:ext cx="5440680" cy="2011680"/>
          </a:xfrm>
          <a:prstGeom prst="roundRect">
            <a:avLst>
              <a:gd name="adj" fmla="val 3636"/>
            </a:avLst>
          </a:prstGeom>
          <a:solidFill>
            <a:srgbClr val="FFFFFF"/>
          </a:solidFill>
          <a:ln w="12700">
            <a:solidFill>
              <a:srgbClr val="DCEFEF"/>
            </a:solidFill>
            <a:prstDash val="solid"/>
          </a:ln>
          <a:effectLst>
            <a:outerShdw blurRad="88900" dist="38100" dir="5400000" algn="bl" rotWithShape="0">
              <a:srgbClr val="0A2E36">
                <a:alpha val="16000"/>
              </a:srgbClr>
            </a:outerShdw>
          </a:effectLst>
        </p:spPr>
        <p:txBody>
          <a:bodyPr/>
          <a:lstStyle/>
          <a:p>
            <a:endParaRPr lang="fr-FR"/>
          </a:p>
        </p:txBody>
      </p:sp>
      <p:sp>
        <p:nvSpPr>
          <p:cNvPr id="12" name="Shape 8"/>
          <p:cNvSpPr/>
          <p:nvPr/>
        </p:nvSpPr>
        <p:spPr>
          <a:xfrm>
            <a:off x="6537960" y="1984248"/>
            <a:ext cx="1188720" cy="1188720"/>
          </a:xfrm>
          <a:prstGeom prst="ellipse">
            <a:avLst/>
          </a:prstGeom>
          <a:solidFill>
            <a:srgbClr val="00A896"/>
          </a:solidFill>
          <a:ln/>
        </p:spPr>
        <p:txBody>
          <a:bodyPr/>
          <a:lstStyle/>
          <a:p>
            <a:endParaRPr lang="fr-FR"/>
          </a:p>
        </p:txBody>
      </p:sp>
      <p:pic>
        <p:nvPicPr>
          <p:cNvPr id="13" name="Image 2" descr="preencoded.png"/>
          <p:cNvPicPr>
            <a:picLocks noChangeAspect="1"/>
          </p:cNvPicPr>
          <p:nvPr/>
        </p:nvPicPr>
        <p:blipFill>
          <a:blip r:embed="rId5"/>
          <a:stretch>
            <a:fillRect/>
          </a:stretch>
        </p:blipFill>
        <p:spPr>
          <a:xfrm>
            <a:off x="6784848" y="2231136"/>
            <a:ext cx="694944" cy="694944"/>
          </a:xfrm>
          <a:prstGeom prst="rect">
            <a:avLst/>
          </a:prstGeom>
        </p:spPr>
      </p:pic>
      <p:sp>
        <p:nvSpPr>
          <p:cNvPr id="14" name="Text 9"/>
          <p:cNvSpPr/>
          <p:nvPr/>
        </p:nvSpPr>
        <p:spPr>
          <a:xfrm>
            <a:off x="7955280" y="1984248"/>
            <a:ext cx="3520440" cy="457200"/>
          </a:xfrm>
          <a:prstGeom prst="rect">
            <a:avLst/>
          </a:prstGeom>
          <a:noFill/>
          <a:ln/>
        </p:spPr>
        <p:txBody>
          <a:bodyPr wrap="square" lIns="0" tIns="0" rIns="0" bIns="0" rtlCol="0" anchor="ctr"/>
          <a:lstStyle/>
          <a:p>
            <a:pPr marL="0" indent="0">
              <a:buNone/>
            </a:pPr>
            <a:r>
              <a:rPr lang="en-US" sz="2000" b="1" dirty="0">
                <a:solidFill>
                  <a:srgbClr val="0B3C49"/>
                </a:solidFill>
                <a:latin typeface="Cambria" pitchFamily="34" charset="0"/>
                <a:ea typeface="Cambria" pitchFamily="34" charset="-122"/>
                <a:cs typeface="Cambria" pitchFamily="34" charset="-120"/>
              </a:rPr>
              <a:t>PostgreSQL</a:t>
            </a:r>
            <a:endParaRPr lang="en-US" sz="2000" dirty="0"/>
          </a:p>
        </p:txBody>
      </p:sp>
      <p:sp>
        <p:nvSpPr>
          <p:cNvPr id="15" name="Text 10"/>
          <p:cNvSpPr/>
          <p:nvPr/>
        </p:nvSpPr>
        <p:spPr>
          <a:xfrm>
            <a:off x="7955280" y="2496312"/>
            <a:ext cx="3474720" cy="1005840"/>
          </a:xfrm>
          <a:prstGeom prst="rect">
            <a:avLst/>
          </a:prstGeom>
          <a:noFill/>
          <a:ln/>
        </p:spPr>
        <p:txBody>
          <a:bodyPr wrap="square" lIns="0" tIns="0" rIns="0" bIns="0" rtlCol="0" anchor="t"/>
          <a:lstStyle/>
          <a:p>
            <a:pPr marL="0" indent="0">
              <a:lnSpc>
                <a:spcPct val="105000"/>
              </a:lnSpc>
              <a:buNone/>
            </a:pPr>
            <a:r>
              <a:rPr lang="en-US" sz="1250" dirty="0">
                <a:solidFill>
                  <a:srgbClr val="557079"/>
                </a:solidFill>
                <a:latin typeface="Calibri" pitchFamily="34" charset="0"/>
                <a:ea typeface="Calibri" pitchFamily="34" charset="-122"/>
                <a:cs typeface="Calibri" pitchFamily="34" charset="-120"/>
              </a:rPr>
              <a:t>Relational database (SGBD) storing users, fish, aquariums and trades.</a:t>
            </a:r>
            <a:endParaRPr lang="en-US" sz="1250" dirty="0"/>
          </a:p>
        </p:txBody>
      </p:sp>
      <p:sp>
        <p:nvSpPr>
          <p:cNvPr id="16" name="Shape 11"/>
          <p:cNvSpPr/>
          <p:nvPr/>
        </p:nvSpPr>
        <p:spPr>
          <a:xfrm>
            <a:off x="548640" y="3840480"/>
            <a:ext cx="5440680" cy="2011680"/>
          </a:xfrm>
          <a:prstGeom prst="roundRect">
            <a:avLst>
              <a:gd name="adj" fmla="val 3636"/>
            </a:avLst>
          </a:prstGeom>
          <a:solidFill>
            <a:srgbClr val="FFFFFF"/>
          </a:solidFill>
          <a:ln w="12700">
            <a:solidFill>
              <a:srgbClr val="DCEFEF"/>
            </a:solidFill>
            <a:prstDash val="solid"/>
          </a:ln>
          <a:effectLst>
            <a:outerShdw blurRad="88900" dist="38100" dir="5400000" algn="bl" rotWithShape="0">
              <a:srgbClr val="0A2E36">
                <a:alpha val="16000"/>
              </a:srgbClr>
            </a:outerShdw>
          </a:effectLst>
        </p:spPr>
        <p:txBody>
          <a:bodyPr/>
          <a:lstStyle/>
          <a:p>
            <a:endParaRPr lang="fr-FR"/>
          </a:p>
        </p:txBody>
      </p:sp>
      <p:sp>
        <p:nvSpPr>
          <p:cNvPr id="17" name="Shape 12"/>
          <p:cNvSpPr/>
          <p:nvPr/>
        </p:nvSpPr>
        <p:spPr>
          <a:xfrm>
            <a:off x="868680" y="4224528"/>
            <a:ext cx="1188720" cy="1188720"/>
          </a:xfrm>
          <a:prstGeom prst="ellipse">
            <a:avLst/>
          </a:prstGeom>
          <a:solidFill>
            <a:srgbClr val="02C39A"/>
          </a:solidFill>
          <a:ln/>
        </p:spPr>
        <p:txBody>
          <a:bodyPr/>
          <a:lstStyle/>
          <a:p>
            <a:endParaRPr lang="fr-FR"/>
          </a:p>
        </p:txBody>
      </p:sp>
      <p:pic>
        <p:nvPicPr>
          <p:cNvPr id="18" name="Image 3" descr="preencoded.png"/>
          <p:cNvPicPr>
            <a:picLocks noChangeAspect="1"/>
          </p:cNvPicPr>
          <p:nvPr/>
        </p:nvPicPr>
        <p:blipFill>
          <a:blip r:embed="rId6"/>
          <a:stretch>
            <a:fillRect/>
          </a:stretch>
        </p:blipFill>
        <p:spPr>
          <a:xfrm>
            <a:off x="1115568" y="4471416"/>
            <a:ext cx="694944" cy="694944"/>
          </a:xfrm>
          <a:prstGeom prst="rect">
            <a:avLst/>
          </a:prstGeom>
        </p:spPr>
      </p:pic>
      <p:sp>
        <p:nvSpPr>
          <p:cNvPr id="19" name="Text 13"/>
          <p:cNvSpPr/>
          <p:nvPr/>
        </p:nvSpPr>
        <p:spPr>
          <a:xfrm>
            <a:off x="2286000" y="4224528"/>
            <a:ext cx="3520440" cy="457200"/>
          </a:xfrm>
          <a:prstGeom prst="rect">
            <a:avLst/>
          </a:prstGeom>
          <a:noFill/>
          <a:ln/>
        </p:spPr>
        <p:txBody>
          <a:bodyPr wrap="square" lIns="0" tIns="0" rIns="0" bIns="0" rtlCol="0" anchor="ctr"/>
          <a:lstStyle/>
          <a:p>
            <a:pPr marL="0" indent="0">
              <a:buNone/>
            </a:pPr>
            <a:r>
              <a:rPr lang="en-US" sz="2000" b="1" dirty="0">
                <a:solidFill>
                  <a:srgbClr val="0B3C49"/>
                </a:solidFill>
                <a:latin typeface="Cambria" pitchFamily="34" charset="0"/>
                <a:ea typeface="Cambria" pitchFamily="34" charset="-122"/>
                <a:cs typeface="Cambria" pitchFamily="34" charset="-120"/>
              </a:rPr>
              <a:t>Docker + Compose</a:t>
            </a:r>
            <a:endParaRPr lang="en-US" sz="2000" dirty="0"/>
          </a:p>
        </p:txBody>
      </p:sp>
      <p:sp>
        <p:nvSpPr>
          <p:cNvPr id="20" name="Text 14"/>
          <p:cNvSpPr/>
          <p:nvPr/>
        </p:nvSpPr>
        <p:spPr>
          <a:xfrm>
            <a:off x="2286000" y="4736592"/>
            <a:ext cx="3474720" cy="1005840"/>
          </a:xfrm>
          <a:prstGeom prst="rect">
            <a:avLst/>
          </a:prstGeom>
          <a:noFill/>
          <a:ln/>
        </p:spPr>
        <p:txBody>
          <a:bodyPr wrap="square" lIns="0" tIns="0" rIns="0" bIns="0" rtlCol="0" anchor="t"/>
          <a:lstStyle/>
          <a:p>
            <a:pPr marL="0" indent="0">
              <a:lnSpc>
                <a:spcPct val="105000"/>
              </a:lnSpc>
              <a:buNone/>
            </a:pPr>
            <a:r>
              <a:rPr lang="en-US" sz="1250" dirty="0">
                <a:solidFill>
                  <a:srgbClr val="557079"/>
                </a:solidFill>
                <a:latin typeface="Calibri" pitchFamily="34" charset="0"/>
                <a:ea typeface="Calibri" pitchFamily="34" charset="-122"/>
                <a:cs typeface="Calibri" pitchFamily="34" charset="-120"/>
              </a:rPr>
              <a:t>Containerised app &amp; database, orchestrated for one-command deployment.</a:t>
            </a:r>
            <a:endParaRPr lang="en-US" sz="1250" dirty="0"/>
          </a:p>
        </p:txBody>
      </p:sp>
      <p:sp>
        <p:nvSpPr>
          <p:cNvPr id="21" name="Shape 15"/>
          <p:cNvSpPr/>
          <p:nvPr/>
        </p:nvSpPr>
        <p:spPr>
          <a:xfrm>
            <a:off x="6217920" y="3840480"/>
            <a:ext cx="5440680" cy="2011680"/>
          </a:xfrm>
          <a:prstGeom prst="roundRect">
            <a:avLst>
              <a:gd name="adj" fmla="val 3636"/>
            </a:avLst>
          </a:prstGeom>
          <a:solidFill>
            <a:srgbClr val="FFFFFF"/>
          </a:solidFill>
          <a:ln w="12700">
            <a:solidFill>
              <a:srgbClr val="DCEFEF"/>
            </a:solidFill>
            <a:prstDash val="solid"/>
          </a:ln>
          <a:effectLst>
            <a:outerShdw blurRad="88900" dist="38100" dir="5400000" algn="bl" rotWithShape="0">
              <a:srgbClr val="0A2E36">
                <a:alpha val="16000"/>
              </a:srgbClr>
            </a:outerShdw>
          </a:effectLst>
        </p:spPr>
        <p:txBody>
          <a:bodyPr/>
          <a:lstStyle/>
          <a:p>
            <a:endParaRPr lang="fr-FR"/>
          </a:p>
        </p:txBody>
      </p:sp>
      <p:sp>
        <p:nvSpPr>
          <p:cNvPr id="22" name="Shape 16"/>
          <p:cNvSpPr/>
          <p:nvPr/>
        </p:nvSpPr>
        <p:spPr>
          <a:xfrm>
            <a:off x="6537960" y="4224528"/>
            <a:ext cx="1188720" cy="1188720"/>
          </a:xfrm>
          <a:prstGeom prst="ellipse">
            <a:avLst/>
          </a:prstGeom>
          <a:solidFill>
            <a:srgbClr val="F2B705"/>
          </a:solidFill>
          <a:ln/>
        </p:spPr>
        <p:txBody>
          <a:bodyPr/>
          <a:lstStyle/>
          <a:p>
            <a:endParaRPr lang="fr-FR"/>
          </a:p>
        </p:txBody>
      </p:sp>
      <p:pic>
        <p:nvPicPr>
          <p:cNvPr id="23" name="Image 4" descr="preencoded.png"/>
          <p:cNvPicPr>
            <a:picLocks noChangeAspect="1"/>
          </p:cNvPicPr>
          <p:nvPr/>
        </p:nvPicPr>
        <p:blipFill>
          <a:blip r:embed="rId7"/>
          <a:stretch>
            <a:fillRect/>
          </a:stretch>
        </p:blipFill>
        <p:spPr>
          <a:xfrm>
            <a:off x="6784848" y="4471416"/>
            <a:ext cx="694944" cy="694944"/>
          </a:xfrm>
          <a:prstGeom prst="rect">
            <a:avLst/>
          </a:prstGeom>
        </p:spPr>
      </p:pic>
      <p:sp>
        <p:nvSpPr>
          <p:cNvPr id="24" name="Text 17"/>
          <p:cNvSpPr/>
          <p:nvPr/>
        </p:nvSpPr>
        <p:spPr>
          <a:xfrm>
            <a:off x="7955280" y="4224528"/>
            <a:ext cx="3520440" cy="457200"/>
          </a:xfrm>
          <a:prstGeom prst="rect">
            <a:avLst/>
          </a:prstGeom>
          <a:noFill/>
          <a:ln/>
        </p:spPr>
        <p:txBody>
          <a:bodyPr wrap="square" lIns="0" tIns="0" rIns="0" bIns="0" rtlCol="0" anchor="ctr"/>
          <a:lstStyle/>
          <a:p>
            <a:pPr marL="0" indent="0">
              <a:buNone/>
            </a:pPr>
            <a:r>
              <a:rPr lang="en-US" sz="2000" b="1" dirty="0">
                <a:solidFill>
                  <a:srgbClr val="0B3C49"/>
                </a:solidFill>
                <a:latin typeface="Cambria" pitchFamily="34" charset="0"/>
                <a:ea typeface="Cambria" pitchFamily="34" charset="-122"/>
                <a:cs typeface="Cambria" pitchFamily="34" charset="-120"/>
              </a:rPr>
              <a:t>Bootstrap</a:t>
            </a:r>
            <a:endParaRPr lang="en-US" sz="2000" dirty="0"/>
          </a:p>
        </p:txBody>
      </p:sp>
      <p:sp>
        <p:nvSpPr>
          <p:cNvPr id="25" name="Text 18"/>
          <p:cNvSpPr/>
          <p:nvPr/>
        </p:nvSpPr>
        <p:spPr>
          <a:xfrm>
            <a:off x="7955280" y="4736592"/>
            <a:ext cx="3474720" cy="1005840"/>
          </a:xfrm>
          <a:prstGeom prst="rect">
            <a:avLst/>
          </a:prstGeom>
          <a:noFill/>
          <a:ln/>
        </p:spPr>
        <p:txBody>
          <a:bodyPr wrap="square" lIns="0" tIns="0" rIns="0" bIns="0" rtlCol="0" anchor="t"/>
          <a:lstStyle/>
          <a:p>
            <a:pPr marL="0" indent="0">
              <a:lnSpc>
                <a:spcPct val="105000"/>
              </a:lnSpc>
              <a:buNone/>
            </a:pPr>
            <a:r>
              <a:rPr lang="en-US" sz="1250" dirty="0">
                <a:solidFill>
                  <a:srgbClr val="557079"/>
                </a:solidFill>
                <a:latin typeface="Calibri" pitchFamily="34" charset="0"/>
                <a:ea typeface="Calibri" pitchFamily="34" charset="-122"/>
                <a:cs typeface="Calibri" pitchFamily="34" charset="-120"/>
              </a:rPr>
              <a:t>Responsive front-end styling on top of HTML, CSS &amp; JavaScript.</a:t>
            </a:r>
            <a:endParaRPr lang="en-US" sz="1250" dirty="0"/>
          </a:p>
        </p:txBody>
      </p:sp>
      <p:sp>
        <p:nvSpPr>
          <p:cNvPr id="26" name="Text 19"/>
          <p:cNvSpPr/>
          <p:nvPr/>
        </p:nvSpPr>
        <p:spPr>
          <a:xfrm>
            <a:off x="548640" y="5989320"/>
            <a:ext cx="10972800" cy="320040"/>
          </a:xfrm>
          <a:prstGeom prst="rect">
            <a:avLst/>
          </a:prstGeom>
          <a:noFill/>
          <a:ln/>
        </p:spPr>
        <p:txBody>
          <a:bodyPr wrap="square" lIns="0" tIns="0" rIns="0" bIns="0" rtlCol="0" anchor="ctr"/>
          <a:lstStyle/>
          <a:p>
            <a:pPr marL="0" indent="0">
              <a:buNone/>
            </a:pPr>
            <a:r>
              <a:rPr lang="en-US" sz="1200" b="1" dirty="0">
                <a:solidFill>
                  <a:srgbClr val="0B3C49"/>
                </a:solidFill>
                <a:latin typeface="Calibri" pitchFamily="34" charset="0"/>
                <a:ea typeface="Calibri" pitchFamily="34" charset="-122"/>
                <a:cs typeface="Calibri" pitchFamily="34" charset="-120"/>
              </a:rPr>
              <a:t>Front-end languages:  </a:t>
            </a:r>
            <a:r>
              <a:rPr lang="en-US" sz="1200" dirty="0">
                <a:solidFill>
                  <a:srgbClr val="557079"/>
                </a:solidFill>
                <a:latin typeface="Calibri" pitchFamily="34" charset="0"/>
                <a:ea typeface="Calibri" pitchFamily="34" charset="-122"/>
                <a:cs typeface="Calibri" pitchFamily="34" charset="-120"/>
              </a:rPr>
              <a:t>HTML5   ·   CSS3   ·   JavaScript</a:t>
            </a:r>
            <a:endParaRPr lang="en-US" sz="1200" dirty="0"/>
          </a:p>
        </p:txBody>
      </p:sp>
      <p:sp>
        <p:nvSpPr>
          <p:cNvPr id="27" name="Text 20"/>
          <p:cNvSpPr/>
          <p:nvPr/>
        </p:nvSpPr>
        <p:spPr>
          <a:xfrm>
            <a:off x="11612880" y="6400800"/>
            <a:ext cx="457200" cy="274320"/>
          </a:xfrm>
          <a:prstGeom prst="rect">
            <a:avLst/>
          </a:prstGeom>
          <a:noFill/>
          <a:ln/>
        </p:spPr>
        <p:txBody>
          <a:bodyPr wrap="square" lIns="0" tIns="0" rIns="0" bIns="0" rtlCol="0" anchor="ctr"/>
          <a:lstStyle/>
          <a:p>
            <a:pPr marL="0" indent="0" algn="r">
              <a:buNone/>
            </a:pPr>
            <a:r>
              <a:rPr lang="en-US" sz="1100" dirty="0">
                <a:solidFill>
                  <a:srgbClr val="557079"/>
                </a:solidFill>
                <a:latin typeface="Calibri" pitchFamily="34" charset="0"/>
                <a:ea typeface="Calibri" pitchFamily="34" charset="-122"/>
                <a:cs typeface="Calibri" pitchFamily="34" charset="-120"/>
              </a:rPr>
              <a:t>10</a:t>
            </a:r>
            <a:endParaRPr lang="en-US" sz="1100" dirty="0"/>
          </a:p>
        </p:txBody>
      </p:sp>
      <p:pic>
        <p:nvPicPr>
          <p:cNvPr id="28" name="Image 5" descr="preencoded.png"/>
          <p:cNvPicPr>
            <a:picLocks noChangeAspect="1"/>
          </p:cNvPicPr>
          <p:nvPr/>
        </p:nvPicPr>
        <p:blipFill>
          <a:blip r:embed="rId8"/>
          <a:stretch>
            <a:fillRect/>
          </a:stretch>
        </p:blipFill>
        <p:spPr>
          <a:xfrm>
            <a:off x="548640" y="6419088"/>
            <a:ext cx="237744" cy="237744"/>
          </a:xfrm>
          <a:prstGeom prst="rect">
            <a:avLst/>
          </a:prstGeom>
        </p:spPr>
      </p:pic>
      <p:sp>
        <p:nvSpPr>
          <p:cNvPr id="29" name="Text 21"/>
          <p:cNvSpPr/>
          <p:nvPr/>
        </p:nvSpPr>
        <p:spPr>
          <a:xfrm>
            <a:off x="868680" y="6400800"/>
            <a:ext cx="3657600" cy="274320"/>
          </a:xfrm>
          <a:prstGeom prst="rect">
            <a:avLst/>
          </a:prstGeom>
          <a:noFill/>
          <a:ln/>
        </p:spPr>
        <p:txBody>
          <a:bodyPr wrap="square" lIns="0" tIns="0" rIns="0" bIns="0" rtlCol="0" anchor="ctr"/>
          <a:lstStyle/>
          <a:p>
            <a:pPr marL="0" indent="0">
              <a:buNone/>
            </a:pPr>
            <a:r>
              <a:rPr lang="en-US" sz="1000" dirty="0">
                <a:solidFill>
                  <a:srgbClr val="557079"/>
                </a:solidFill>
                <a:latin typeface="Calibri" pitchFamily="34" charset="0"/>
                <a:ea typeface="Calibri" pitchFamily="34" charset="-122"/>
                <a:cs typeface="Calibri" pitchFamily="34" charset="-120"/>
              </a:rPr>
              <a:t>Manage your little fish</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A2E36"/>
        </a:solidFill>
        <a:effectLst/>
      </p:bgPr>
    </p:bg>
    <p:spTree>
      <p:nvGrpSpPr>
        <p:cNvPr id="1" name=""/>
        <p:cNvGrpSpPr/>
        <p:nvPr/>
      </p:nvGrpSpPr>
      <p:grpSpPr>
        <a:xfrm>
          <a:off x="0" y="0"/>
          <a:ext cx="0" cy="0"/>
          <a:chOff x="0" y="0"/>
          <a:chExt cx="0" cy="0"/>
        </a:xfrm>
      </p:grpSpPr>
      <p:sp>
        <p:nvSpPr>
          <p:cNvPr id="2" name="Shape 0"/>
          <p:cNvSpPr/>
          <p:nvPr/>
        </p:nvSpPr>
        <p:spPr>
          <a:xfrm>
            <a:off x="914400" y="5852160"/>
            <a:ext cx="457200" cy="457200"/>
          </a:xfrm>
          <a:prstGeom prst="ellipse">
            <a:avLst/>
          </a:prstGeom>
          <a:solidFill>
            <a:srgbClr val="FFFFFF">
              <a:alpha val="12000"/>
            </a:srgbClr>
          </a:solidFill>
          <a:ln/>
        </p:spPr>
        <p:txBody>
          <a:bodyPr/>
          <a:lstStyle/>
          <a:p>
            <a:endParaRPr lang="fr-FR"/>
          </a:p>
        </p:txBody>
      </p:sp>
      <p:sp>
        <p:nvSpPr>
          <p:cNvPr id="3" name="Shape 1"/>
          <p:cNvSpPr/>
          <p:nvPr/>
        </p:nvSpPr>
        <p:spPr>
          <a:xfrm>
            <a:off x="1828800" y="4937760"/>
            <a:ext cx="256032" cy="256032"/>
          </a:xfrm>
          <a:prstGeom prst="ellipse">
            <a:avLst/>
          </a:prstGeom>
          <a:solidFill>
            <a:srgbClr val="FFFFFF">
              <a:alpha val="12000"/>
            </a:srgbClr>
          </a:solidFill>
          <a:ln/>
        </p:spPr>
        <p:txBody>
          <a:bodyPr/>
          <a:lstStyle/>
          <a:p>
            <a:endParaRPr lang="fr-FR"/>
          </a:p>
        </p:txBody>
      </p:sp>
      <p:sp>
        <p:nvSpPr>
          <p:cNvPr id="4" name="Shape 2"/>
          <p:cNvSpPr/>
          <p:nvPr/>
        </p:nvSpPr>
        <p:spPr>
          <a:xfrm>
            <a:off x="10789920" y="1097280"/>
            <a:ext cx="548640" cy="548640"/>
          </a:xfrm>
          <a:prstGeom prst="ellipse">
            <a:avLst/>
          </a:prstGeom>
          <a:solidFill>
            <a:srgbClr val="FFFFFF">
              <a:alpha val="12000"/>
            </a:srgbClr>
          </a:solidFill>
          <a:ln/>
        </p:spPr>
        <p:txBody>
          <a:bodyPr/>
          <a:lstStyle/>
          <a:p>
            <a:endParaRPr lang="fr-FR"/>
          </a:p>
        </p:txBody>
      </p:sp>
      <p:sp>
        <p:nvSpPr>
          <p:cNvPr id="5" name="Shape 3"/>
          <p:cNvSpPr/>
          <p:nvPr/>
        </p:nvSpPr>
        <p:spPr>
          <a:xfrm>
            <a:off x="11338560" y="2194560"/>
            <a:ext cx="292608" cy="292608"/>
          </a:xfrm>
          <a:prstGeom prst="ellipse">
            <a:avLst/>
          </a:prstGeom>
          <a:solidFill>
            <a:srgbClr val="FFFFFF">
              <a:alpha val="12000"/>
            </a:srgbClr>
          </a:solidFill>
          <a:ln/>
        </p:spPr>
        <p:txBody>
          <a:bodyPr/>
          <a:lstStyle/>
          <a:p>
            <a:endParaRPr lang="fr-FR"/>
          </a:p>
        </p:txBody>
      </p:sp>
      <p:sp>
        <p:nvSpPr>
          <p:cNvPr id="6" name="Shape 4"/>
          <p:cNvSpPr/>
          <p:nvPr/>
        </p:nvSpPr>
        <p:spPr>
          <a:xfrm>
            <a:off x="548640" y="1828800"/>
            <a:ext cx="310896" cy="310896"/>
          </a:xfrm>
          <a:prstGeom prst="ellipse">
            <a:avLst/>
          </a:prstGeom>
          <a:solidFill>
            <a:srgbClr val="FFFFFF">
              <a:alpha val="12000"/>
            </a:srgbClr>
          </a:solidFill>
          <a:ln/>
        </p:spPr>
        <p:txBody>
          <a:bodyPr/>
          <a:lstStyle/>
          <a:p>
            <a:endParaRPr lang="fr-FR"/>
          </a:p>
        </p:txBody>
      </p:sp>
      <p:sp>
        <p:nvSpPr>
          <p:cNvPr id="7" name="Shape 5"/>
          <p:cNvSpPr/>
          <p:nvPr/>
        </p:nvSpPr>
        <p:spPr>
          <a:xfrm>
            <a:off x="11521440" y="5669280"/>
            <a:ext cx="411480" cy="411480"/>
          </a:xfrm>
          <a:prstGeom prst="ellipse">
            <a:avLst/>
          </a:prstGeom>
          <a:solidFill>
            <a:srgbClr val="FFFFFF">
              <a:alpha val="12000"/>
            </a:srgbClr>
          </a:solidFill>
          <a:ln/>
        </p:spPr>
        <p:txBody>
          <a:bodyPr/>
          <a:lstStyle/>
          <a:p>
            <a:endParaRPr lang="fr-FR"/>
          </a:p>
        </p:txBody>
      </p:sp>
      <p:sp>
        <p:nvSpPr>
          <p:cNvPr id="8" name="Shape 6"/>
          <p:cNvSpPr/>
          <p:nvPr/>
        </p:nvSpPr>
        <p:spPr>
          <a:xfrm>
            <a:off x="6309360" y="6309360"/>
            <a:ext cx="201168" cy="201168"/>
          </a:xfrm>
          <a:prstGeom prst="ellipse">
            <a:avLst/>
          </a:prstGeom>
          <a:solidFill>
            <a:srgbClr val="FFFFFF">
              <a:alpha val="12000"/>
            </a:srgbClr>
          </a:solidFill>
          <a:ln/>
        </p:spPr>
        <p:txBody>
          <a:bodyPr/>
          <a:lstStyle/>
          <a:p>
            <a:endParaRPr lang="fr-FR"/>
          </a:p>
        </p:txBody>
      </p:sp>
      <p:sp>
        <p:nvSpPr>
          <p:cNvPr id="9" name="Shape 7"/>
          <p:cNvSpPr/>
          <p:nvPr/>
        </p:nvSpPr>
        <p:spPr>
          <a:xfrm>
            <a:off x="0" y="5806440"/>
            <a:ext cx="12191695" cy="1051560"/>
          </a:xfrm>
          <a:prstGeom prst="rect">
            <a:avLst/>
          </a:prstGeom>
          <a:solidFill>
            <a:srgbClr val="028090">
              <a:alpha val="45000"/>
            </a:srgbClr>
          </a:solidFill>
          <a:ln/>
        </p:spPr>
        <p:txBody>
          <a:bodyPr/>
          <a:lstStyle/>
          <a:p>
            <a:endParaRPr lang="fr-FR"/>
          </a:p>
        </p:txBody>
      </p:sp>
      <p:sp>
        <p:nvSpPr>
          <p:cNvPr id="10" name="Shape 8"/>
          <p:cNvSpPr/>
          <p:nvPr/>
        </p:nvSpPr>
        <p:spPr>
          <a:xfrm>
            <a:off x="5349240" y="1234440"/>
            <a:ext cx="1508760" cy="1508760"/>
          </a:xfrm>
          <a:prstGeom prst="ellipse">
            <a:avLst/>
          </a:prstGeom>
          <a:solidFill>
            <a:srgbClr val="02C39A"/>
          </a:solidFill>
          <a:ln/>
        </p:spPr>
        <p:txBody>
          <a:bodyPr/>
          <a:lstStyle/>
          <a:p>
            <a:endParaRPr lang="fr-FR"/>
          </a:p>
        </p:txBody>
      </p:sp>
      <p:pic>
        <p:nvPicPr>
          <p:cNvPr id="11" name="Image 0" descr="preencoded.png"/>
          <p:cNvPicPr>
            <a:picLocks noChangeAspect="1"/>
          </p:cNvPicPr>
          <p:nvPr/>
        </p:nvPicPr>
        <p:blipFill>
          <a:blip r:embed="rId3"/>
          <a:stretch>
            <a:fillRect/>
          </a:stretch>
        </p:blipFill>
        <p:spPr>
          <a:xfrm>
            <a:off x="5669280" y="1618488"/>
            <a:ext cx="868680" cy="749808"/>
          </a:xfrm>
          <a:prstGeom prst="rect">
            <a:avLst/>
          </a:prstGeom>
        </p:spPr>
      </p:pic>
      <p:sp>
        <p:nvSpPr>
          <p:cNvPr id="12" name="Text 9"/>
          <p:cNvSpPr/>
          <p:nvPr/>
        </p:nvSpPr>
        <p:spPr>
          <a:xfrm>
            <a:off x="457200" y="2926080"/>
            <a:ext cx="11247120" cy="82296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13" name="Text 10"/>
          <p:cNvSpPr/>
          <p:nvPr/>
        </p:nvSpPr>
        <p:spPr>
          <a:xfrm>
            <a:off x="457200" y="3794760"/>
            <a:ext cx="11247120" cy="457200"/>
          </a:xfrm>
          <a:prstGeom prst="rect">
            <a:avLst/>
          </a:prstGeom>
          <a:noFill/>
          <a:ln/>
        </p:spPr>
        <p:txBody>
          <a:bodyPr wrap="square" rtlCol="0" anchor="ctr"/>
          <a:lstStyle/>
          <a:p>
            <a:pPr marL="0" indent="0" algn="ctr">
              <a:buNone/>
            </a:pPr>
            <a:r>
              <a:rPr lang="en-US" sz="1800" i="1" dirty="0">
                <a:solidFill>
                  <a:srgbClr val="CDEFF0"/>
                </a:solidFill>
                <a:latin typeface="Calibri" pitchFamily="34" charset="0"/>
                <a:ea typeface="Calibri" pitchFamily="34" charset="-122"/>
                <a:cs typeface="Calibri" pitchFamily="34" charset="-120"/>
              </a:rPr>
              <a:t>Questions about Manage your little fish?</a:t>
            </a:r>
            <a:endParaRPr lang="en-US" sz="1800" dirty="0"/>
          </a:p>
        </p:txBody>
      </p:sp>
      <p:sp>
        <p:nvSpPr>
          <p:cNvPr id="14" name="Text 11"/>
          <p:cNvSpPr/>
          <p:nvPr/>
        </p:nvSpPr>
        <p:spPr>
          <a:xfrm>
            <a:off x="457200" y="6035040"/>
            <a:ext cx="1124712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Steven MARMION   ·   Mael PAQUIER   ·   Jules MIAUD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1828</Words>
  <Application>Microsoft Office PowerPoint</Application>
  <PresentationFormat>Grand écran</PresentationFormat>
  <Paragraphs>196</Paragraphs>
  <Slides>11</Slides>
  <Notes>11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 your little fish</dc:title>
  <dc:subject>PptxGenJS Presentation</dc:subject>
  <dc:creator>MARMION Steven, PAQUIER Mael, MIAUD Jules</dc:creator>
  <cp:lastModifiedBy>MARMION Steven</cp:lastModifiedBy>
  <cp:revision>3</cp:revision>
  <dcterms:created xsi:type="dcterms:W3CDTF">2026-06-14T10:22:26Z</dcterms:created>
  <dcterms:modified xsi:type="dcterms:W3CDTF">2026-06-14T10:37:18Z</dcterms:modified>
</cp:coreProperties>
</file>